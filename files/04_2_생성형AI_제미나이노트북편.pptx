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3479bdeb864b53" /><Relationship Type="http://schemas.openxmlformats.org/officeDocument/2006/relationships/extended-properties" Target="/docProps/app.xml" Id="R2997a61ef72142db" /><Relationship Type="http://schemas.openxmlformats.org/officeDocument/2006/relationships/officeDocument" Target="/ppt/presentation.xml" Id="R0d1eaedeb2884f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67caaf7da942ec"/>
  </p:sldMasterIdLst>
  <p:notesMasterIdLst>
    <p:notesMasterId xmlns:r="http://schemas.openxmlformats.org/officeDocument/2006/relationships" r:id="Rf6c93a0cbb114ffa"/>
  </p:notesMasterIdLst>
  <p:sldIdLst>
    <p:sldId xmlns:r="http://schemas.openxmlformats.org/officeDocument/2006/relationships" id="256" r:id="R4aeff23e8b3043f9"/>
    <p:sldId xmlns:r="http://schemas.openxmlformats.org/officeDocument/2006/relationships" id="257" r:id="R6c2700945867462f"/>
    <p:sldId xmlns:r="http://schemas.openxmlformats.org/officeDocument/2006/relationships" id="258" r:id="R47b8e01ce1714b0f"/>
    <p:sldId xmlns:r="http://schemas.openxmlformats.org/officeDocument/2006/relationships" id="259" r:id="R92822419591d49a4"/>
    <p:sldId xmlns:r="http://schemas.openxmlformats.org/officeDocument/2006/relationships" id="260" r:id="Rad4b381ae1bd458b"/>
    <p:sldId xmlns:r="http://schemas.openxmlformats.org/officeDocument/2006/relationships" id="261" r:id="R3ec177a0232045da"/>
    <p:sldId xmlns:r="http://schemas.openxmlformats.org/officeDocument/2006/relationships" id="262" r:id="Rc33c9e59225f42bf"/>
    <p:sldId xmlns:r="http://schemas.openxmlformats.org/officeDocument/2006/relationships" id="263" r:id="R266f9b0ea7654fce"/>
    <p:sldId xmlns:r="http://schemas.openxmlformats.org/officeDocument/2006/relationships" id="264" r:id="Rb4ba5dbafa0e4a45"/>
    <p:sldId xmlns:r="http://schemas.openxmlformats.org/officeDocument/2006/relationships" id="265" r:id="Rc6d0ecc2137245bb"/>
    <p:sldId xmlns:r="http://schemas.openxmlformats.org/officeDocument/2006/relationships" id="266" r:id="Rf9bd824472a04d29"/>
    <p:sldId xmlns:r="http://schemas.openxmlformats.org/officeDocument/2006/relationships" id="267" r:id="R18a2d92579f34ef2"/>
    <p:sldId xmlns:r="http://schemas.openxmlformats.org/officeDocument/2006/relationships" id="268" r:id="R2e19c8c05f4c4fc3"/>
    <p:sldId xmlns:r="http://schemas.openxmlformats.org/officeDocument/2006/relationships" id="269" r:id="R00eaaac9626c4791"/>
    <p:sldId xmlns:r="http://schemas.openxmlformats.org/officeDocument/2006/relationships" id="270" r:id="Rc9d05a3743e74fde"/>
    <p:sldId xmlns:r="http://schemas.openxmlformats.org/officeDocument/2006/relationships" id="271" r:id="R5d47dcecec4a4b4b"/>
    <p:sldId xmlns:r="http://schemas.openxmlformats.org/officeDocument/2006/relationships" id="272" r:id="R820622f753f54067"/>
    <p:sldId xmlns:r="http://schemas.openxmlformats.org/officeDocument/2006/relationships" id="273" r:id="R66d1901a505e4d06"/>
    <p:sldId xmlns:r="http://schemas.openxmlformats.org/officeDocument/2006/relationships" id="274" r:id="Rf7308ea8ff854518"/>
    <p:sldId xmlns:r="http://schemas.openxmlformats.org/officeDocument/2006/relationships" id="275" r:id="R5cc3f49ee353453e"/>
    <p:sldId xmlns:r="http://schemas.openxmlformats.org/officeDocument/2006/relationships" id="276" r:id="Ra0a7d2086bd64dac"/>
    <p:sldId xmlns:r="http://schemas.openxmlformats.org/officeDocument/2006/relationships" id="277" r:id="R451d37a502de40a2"/>
    <p:sldId xmlns:r="http://schemas.openxmlformats.org/officeDocument/2006/relationships" id="278" r:id="R42b9a98a4c284c1e"/>
    <p:sldId xmlns:r="http://schemas.openxmlformats.org/officeDocument/2006/relationships" id="279" r:id="Rf3bc6d530c344061"/>
    <p:sldId xmlns:r="http://schemas.openxmlformats.org/officeDocument/2006/relationships" id="280" r:id="Rbd65674ddda84c60"/>
    <p:sldId xmlns:r="http://schemas.openxmlformats.org/officeDocument/2006/relationships" id="281" r:id="R4e26e31d85cb4b39"/>
    <p:sldId xmlns:r="http://schemas.openxmlformats.org/officeDocument/2006/relationships" id="282" r:id="R999fd6ab4da2403b"/>
    <p:sldId xmlns:r="http://schemas.openxmlformats.org/officeDocument/2006/relationships" id="283" r:id="R0906e5bf850a4de9"/>
    <p:sldId xmlns:r="http://schemas.openxmlformats.org/officeDocument/2006/relationships" id="284" r:id="Rfb976dd1d2534e12"/>
    <p:sldId xmlns:r="http://schemas.openxmlformats.org/officeDocument/2006/relationships" id="285" r:id="R25ff7c2c9a5e461d"/>
    <p:sldId xmlns:r="http://schemas.openxmlformats.org/officeDocument/2006/relationships" id="286" r:id="R241327196dbf44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f6042d9e1c464a" /><Relationship Type="http://schemas.openxmlformats.org/officeDocument/2006/relationships/slideMaster" Target="/ppt/slideMasters/slideMaster1.xml" Id="R3667caaf7da942ec" /><Relationship Type="http://schemas.openxmlformats.org/officeDocument/2006/relationships/notesMaster" Target="/ppt/notesMasters/notesMaster1.xml" Id="Rf6c93a0cbb114ffa" /><Relationship Type="http://schemas.openxmlformats.org/officeDocument/2006/relationships/presProps" Target="/ppt/presProps.xml" Id="Rd9d3fe03be5143ec" /><Relationship Type="http://schemas.openxmlformats.org/officeDocument/2006/relationships/tableStyles" Target="/ppt/tableStyles.xml" Id="Re8d8b72435ab4e70" /><Relationship Type="http://schemas.openxmlformats.org/officeDocument/2006/relationships/slide" Target="/ppt/slides/slide1.xml" Id="R4aeff23e8b3043f9" /><Relationship Type="http://schemas.openxmlformats.org/officeDocument/2006/relationships/slide" Target="/ppt/slides/slide2.xml" Id="R6c2700945867462f" /><Relationship Type="http://schemas.openxmlformats.org/officeDocument/2006/relationships/slide" Target="/ppt/slides/slide3.xml" Id="R47b8e01ce1714b0f" /><Relationship Type="http://schemas.openxmlformats.org/officeDocument/2006/relationships/slide" Target="/ppt/slides/slide4.xml" Id="R92822419591d49a4" /><Relationship Type="http://schemas.openxmlformats.org/officeDocument/2006/relationships/slide" Target="/ppt/slides/slide5.xml" Id="Rad4b381ae1bd458b" /><Relationship Type="http://schemas.openxmlformats.org/officeDocument/2006/relationships/slide" Target="/ppt/slides/slide6.xml" Id="R3ec177a0232045da" /><Relationship Type="http://schemas.openxmlformats.org/officeDocument/2006/relationships/slide" Target="/ppt/slides/slide7.xml" Id="Rc33c9e59225f42bf" /><Relationship Type="http://schemas.openxmlformats.org/officeDocument/2006/relationships/slide" Target="/ppt/slides/slide8.xml" Id="R266f9b0ea7654fce" /><Relationship Type="http://schemas.openxmlformats.org/officeDocument/2006/relationships/slide" Target="/ppt/slides/slide9.xml" Id="Rb4ba5dbafa0e4a45" /><Relationship Type="http://schemas.openxmlformats.org/officeDocument/2006/relationships/slide" Target="/ppt/slides/slide10.xml" Id="Rc6d0ecc2137245bb" /><Relationship Type="http://schemas.openxmlformats.org/officeDocument/2006/relationships/slide" Target="/ppt/slides/slide11.xml" Id="Rf9bd824472a04d29" /><Relationship Type="http://schemas.openxmlformats.org/officeDocument/2006/relationships/slide" Target="/ppt/slides/slide12.xml" Id="R18a2d92579f34ef2" /><Relationship Type="http://schemas.openxmlformats.org/officeDocument/2006/relationships/slide" Target="/ppt/slides/slide13.xml" Id="R2e19c8c05f4c4fc3" /><Relationship Type="http://schemas.openxmlformats.org/officeDocument/2006/relationships/slide" Target="/ppt/slides/slide14.xml" Id="R00eaaac9626c4791" /><Relationship Type="http://schemas.openxmlformats.org/officeDocument/2006/relationships/slide" Target="/ppt/slides/slide15.xml" Id="Rc9d05a3743e74fde" /><Relationship Type="http://schemas.openxmlformats.org/officeDocument/2006/relationships/slide" Target="/ppt/slides/slide16.xml" Id="R5d47dcecec4a4b4b" /><Relationship Type="http://schemas.openxmlformats.org/officeDocument/2006/relationships/slide" Target="/ppt/slides/slide17.xml" Id="R820622f753f54067" /><Relationship Type="http://schemas.openxmlformats.org/officeDocument/2006/relationships/slide" Target="/ppt/slides/slide18.xml" Id="R66d1901a505e4d06" /><Relationship Type="http://schemas.openxmlformats.org/officeDocument/2006/relationships/slide" Target="/ppt/slides/slide19.xml" Id="Rf7308ea8ff854518" /><Relationship Type="http://schemas.openxmlformats.org/officeDocument/2006/relationships/slide" Target="/ppt/slides/slide20.xml" Id="R5cc3f49ee353453e" /><Relationship Type="http://schemas.openxmlformats.org/officeDocument/2006/relationships/slide" Target="/ppt/slides/slide21.xml" Id="Ra0a7d2086bd64dac" /><Relationship Type="http://schemas.openxmlformats.org/officeDocument/2006/relationships/slide" Target="/ppt/slides/slide22.xml" Id="R451d37a502de40a2" /><Relationship Type="http://schemas.openxmlformats.org/officeDocument/2006/relationships/slide" Target="/ppt/slides/slide23.xml" Id="R42b9a98a4c284c1e" /><Relationship Type="http://schemas.openxmlformats.org/officeDocument/2006/relationships/slide" Target="/ppt/slides/slide24.xml" Id="Rf3bc6d530c344061" /><Relationship Type="http://schemas.openxmlformats.org/officeDocument/2006/relationships/slide" Target="/ppt/slides/slide25.xml" Id="Rbd65674ddda84c60" /><Relationship Type="http://schemas.openxmlformats.org/officeDocument/2006/relationships/slide" Target="/ppt/slides/slide26.xml" Id="R4e26e31d85cb4b39" /><Relationship Type="http://schemas.openxmlformats.org/officeDocument/2006/relationships/slide" Target="/ppt/slides/slide27.xml" Id="R999fd6ab4da2403b" /><Relationship Type="http://schemas.openxmlformats.org/officeDocument/2006/relationships/slide" Target="/ppt/slides/slide28.xml" Id="R0906e5bf850a4de9" /><Relationship Type="http://schemas.openxmlformats.org/officeDocument/2006/relationships/slide" Target="/ppt/slides/slide29.xml" Id="Rfb976dd1d2534e12" /><Relationship Type="http://schemas.openxmlformats.org/officeDocument/2006/relationships/slide" Target="/ppt/slides/slide30.xml" Id="R25ff7c2c9a5e461d" /><Relationship Type="http://schemas.openxmlformats.org/officeDocument/2006/relationships/slide" Target="/ppt/slides/slide31.xml" Id="R241327196dbf44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1fc565b5b34d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1be58eecb34597" /><Relationship Type="http://schemas.openxmlformats.org/officeDocument/2006/relationships/notesMaster" Target="/ppt/notesMasters/notesMaster1.xml" Id="Ra24e9c9d5bf048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18f11a4ee0460c" /><Relationship Type="http://schemas.openxmlformats.org/officeDocument/2006/relationships/notesMaster" Target="/ppt/notesMasters/notesMaster1.xml" Id="R70901335f74243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cd7550adb5429b" /><Relationship Type="http://schemas.openxmlformats.org/officeDocument/2006/relationships/notesMaster" Target="/ppt/notesMasters/notesMaster1.xml" Id="Ra76a836d2a4944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08bea7a3104ac4" /><Relationship Type="http://schemas.openxmlformats.org/officeDocument/2006/relationships/notesMaster" Target="/ppt/notesMasters/notesMaster1.xml" Id="Rb540dd6982634c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c109b904d642fd" /><Relationship Type="http://schemas.openxmlformats.org/officeDocument/2006/relationships/notesMaster" Target="/ppt/notesMasters/notesMaster1.xml" Id="Ra0eef3687a2f4f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2872e3124042c7" /><Relationship Type="http://schemas.openxmlformats.org/officeDocument/2006/relationships/notesMaster" Target="/ppt/notesMasters/notesMaster1.xml" Id="Rdc3a5db4540743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ad5a1cb0604518" /><Relationship Type="http://schemas.openxmlformats.org/officeDocument/2006/relationships/notesMaster" Target="/ppt/notesMasters/notesMaster1.xml" Id="Rbacd801f21bb49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40ce258fcf4c9e" /><Relationship Type="http://schemas.openxmlformats.org/officeDocument/2006/relationships/notesMaster" Target="/ppt/notesMasters/notesMaster1.xml" Id="R48fae47ee9a44b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114a25cdd0491c" /><Relationship Type="http://schemas.openxmlformats.org/officeDocument/2006/relationships/notesMaster" Target="/ppt/notesMasters/notesMaster1.xml" Id="Rded13974e7d44b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88749797284423" /><Relationship Type="http://schemas.openxmlformats.org/officeDocument/2006/relationships/notesMaster" Target="/ppt/notesMasters/notesMaster1.xml" Id="R8d7e672fc2024e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eecfea874446ed" /><Relationship Type="http://schemas.openxmlformats.org/officeDocument/2006/relationships/notesMaster" Target="/ppt/notesMasters/notesMaster1.xml" Id="R4986b6d5071f4f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13f8d75a144532" /><Relationship Type="http://schemas.openxmlformats.org/officeDocument/2006/relationships/notesMaster" Target="/ppt/notesMasters/notesMaster1.xml" Id="R3a1be6cec62c4f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2dafdb18504b5c" /><Relationship Type="http://schemas.openxmlformats.org/officeDocument/2006/relationships/notesMaster" Target="/ppt/notesMasters/notesMaster1.xml" Id="Rb3574036294743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a224d95fa0b4f5d" /><Relationship Type="http://schemas.openxmlformats.org/officeDocument/2006/relationships/notesMaster" Target="/ppt/notesMasters/notesMaster1.xml" Id="R3ad4753b086e40d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f71407282547cf" /><Relationship Type="http://schemas.openxmlformats.org/officeDocument/2006/relationships/notesMaster" Target="/ppt/notesMasters/notesMaster1.xml" Id="R94bf30fadacf48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58c49af6e274b91" /><Relationship Type="http://schemas.openxmlformats.org/officeDocument/2006/relationships/notesMaster" Target="/ppt/notesMasters/notesMaster1.xml" Id="R2e5ce5de636444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c62a6605c240a1" /><Relationship Type="http://schemas.openxmlformats.org/officeDocument/2006/relationships/notesMaster" Target="/ppt/notesMasters/notesMaster1.xml" Id="R54983ec1e03d48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e9ac3c244f24b86" /><Relationship Type="http://schemas.openxmlformats.org/officeDocument/2006/relationships/notesMaster" Target="/ppt/notesMasters/notesMaster1.xml" Id="Ra84c3e1f3217411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67cce28af754d63" /><Relationship Type="http://schemas.openxmlformats.org/officeDocument/2006/relationships/notesMaster" Target="/ppt/notesMasters/notesMaster1.xml" Id="Ra0a5a9aee85745a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605613727d9408d" /><Relationship Type="http://schemas.openxmlformats.org/officeDocument/2006/relationships/notesMaster" Target="/ppt/notesMasters/notesMaster1.xml" Id="R554624907f034b4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2448cb71d4448fe" /><Relationship Type="http://schemas.openxmlformats.org/officeDocument/2006/relationships/notesMaster" Target="/ppt/notesMasters/notesMaster1.xml" Id="R27ee418746a04d1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6399f0fabd54fa5" /><Relationship Type="http://schemas.openxmlformats.org/officeDocument/2006/relationships/notesMaster" Target="/ppt/notesMasters/notesMaster1.xml" Id="R011d4f93782f46c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3384ec84c88447d" /><Relationship Type="http://schemas.openxmlformats.org/officeDocument/2006/relationships/notesMaster" Target="/ppt/notesMasters/notesMaster1.xml" Id="R94bc738f453840d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10c104630d94d0f" /><Relationship Type="http://schemas.openxmlformats.org/officeDocument/2006/relationships/notesMaster" Target="/ppt/notesMasters/notesMaster1.xml" Id="R9539ec75933a404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b687c1b144c4e71" /><Relationship Type="http://schemas.openxmlformats.org/officeDocument/2006/relationships/notesMaster" Target="/ppt/notesMasters/notesMaster1.xml" Id="Rf37cd274bcc24c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971ce80277b4989" /><Relationship Type="http://schemas.openxmlformats.org/officeDocument/2006/relationships/notesMaster" Target="/ppt/notesMasters/notesMaster1.xml" Id="Rc622259f6c23486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bbafc2b5381402e" /><Relationship Type="http://schemas.openxmlformats.org/officeDocument/2006/relationships/notesMaster" Target="/ppt/notesMasters/notesMaster1.xml" Id="R48735acc2fa2490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1a0a81eafdb48c3" /><Relationship Type="http://schemas.openxmlformats.org/officeDocument/2006/relationships/notesMaster" Target="/ppt/notesMasters/notesMaster1.xml" Id="R659594aab59f472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8a1bb0613544c54" /><Relationship Type="http://schemas.openxmlformats.org/officeDocument/2006/relationships/notesMaster" Target="/ppt/notesMasters/notesMaster1.xml" Id="R55fb8bb027d14c0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81c0f720dc245f9" /><Relationship Type="http://schemas.openxmlformats.org/officeDocument/2006/relationships/notesMaster" Target="/ppt/notesMasters/notesMaster1.xml" Id="R44678368809241f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5e7ac73f7bf4397" /><Relationship Type="http://schemas.openxmlformats.org/officeDocument/2006/relationships/notesMaster" Target="/ppt/notesMasters/notesMaster1.xml" Id="R9408006d6b074b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오후를 시작하겠습니다. 오전이 '일하게 만들기'였다면 오후는 '자료 만들기'입니다.</a:t>
            </a:r>
          </a:p>
          <a:p xmlns:a="http://schemas.openxmlformats.org/drawingml/2006/main">
            <a:r>
              <a:t>수요조사에서 "각종 지침·규정을 탑재한 후 Q&amp;A가 가능한 인공지능"을 요청하신 분이 계셨습니다. 정확히 그것을 만듭니다.</a:t>
            </a:r>
          </a:p>
          <a:p xmlns:a="http://schemas.openxmlformats.org/drawingml/2006/main">
            <a:r>
              <a:t>그리고 한 가지 미리 말씀드립니다. 이 도구의 값어치는 "답을 준다"가 아니라 "근거를 빨리 찾아 준다"입니다. 오늘 계속 강조할 문장입니다.</a:t>
            </a:r>
          </a:p>
          <a:p xmlns:a="http://schemas.openxmlformats.org/drawingml/2006/main">
            <a:r>
              <a:t>[▶ 웹가이드] 연수생은 실습 가이드 웹페이지의 「Notebook」 섹션을 열어 둔 채 따라옵니다. 규정 비서 지침·질문 형식 프롬프트가 복사 버튼과 함께 그 페이지에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먼저 왜 이 도구를 쓰는지부터 짚겠습니다.</a:t>
            </a:r>
          </a:p>
          <a:p xmlns:a="http://schemas.openxmlformats.org/drawingml/2006/main">
            <a:r>
              <a:t>규정 업무에서 가장 위험한 것은 "그럴듯한 답"입니다. 일반 AI는 종종 영롱한 거짓말, 환각을 합니다. 조항 번호까지 그럴듯하게 지어내면 검증이 안 됩니다.</a:t>
            </a:r>
          </a:p>
          <a:p xmlns:a="http://schemas.openxmlformats.org/drawingml/2006/main">
            <a:r>
              <a:t>제미나이 노트북은 구조가 다릅니다. 내가 올린 자료 안에서만 답하고, 답변마다 원문 위치를 숫자로 붙입니다.</a:t>
            </a:r>
          </a:p>
          <a:p xmlns:a="http://schemas.openxmlformats.org/drawingml/2006/main">
            <a:r>
              <a:t>이름 이야기도 하나 — 2026년 7월 16일에 NotebookLM 이 Gemini Notebook(제미나이 노트북)으로 이름이 바뀌었습니다. 같은 제품이고, 기존 노트북과 공유 링크는 그대로 작동합니다. 자료마다 두 이름이 섞여 나오니 헷갈리지 마십시오.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 문장으로 — "제미나이는 세상 모든 지식을 아는 재주꾼, 노트북은 내 서류만 파고드는 분석가입니다."</a:t>
            </a:r>
          </a:p>
          <a:p xmlns:a="http://schemas.openxmlformats.org/drawingml/2006/main">
            <a:r>
              <a:t>제미나이는 0에서 1을 만들고, 노트북은 1을 검증합니다. 근거가 필요한 일에 창조형을 쓰면 사고가 납니다. 자리를 나누는 것이 요령입니다.</a:t>
            </a:r>
          </a:p>
          <a:p xmlns:a="http://schemas.openxmlformats.org/drawingml/2006/main">
            <a:r>
              <a:t>※ 자주 나오는 질문 — "그럼 하나만 쓰면 안 되나요?" 답: 됩니다. 다만 어떤 일이냐에 따라 자리를 바꿔 앉히는 것뿐입니다. 다음 장에서 둘을 섞는 순서를 보여 드립니다.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실전에서는 이렇게 섞습니다. 재주꾼이 만들고, 분석가가 다듬는 구조입니다.</a:t>
            </a:r>
          </a:p>
          <a:p xmlns:a="http://schemas.openxmlformats.org/drawingml/2006/main">
            <a:r>
              <a:t>① 제미나이로 바깥 정보를 넓게 모으고 ② 노트북에 우리 규정·내부 자료를 올린 뒤 ③ 두 결과를 결합합니다.</a:t>
            </a:r>
          </a:p>
          <a:p xmlns:a="http://schemas.openxmlformats.org/drawingml/2006/main">
            <a:r>
              <a:t>장학사님 업무로 예를 들면 — 타 시도 운영 사례는 제미나이가 조사하고, 우리 교육청 지침에 맞는지는 노트북이 검증합니다.</a:t>
            </a:r>
          </a:p>
          <a:p xmlns:a="http://schemas.openxmlformats.org/drawingml/2006/main">
            <a:r>
              <a:t>오늘 오후는 ②번, 노트북을 깊게 팝니다. ①과 ③은 마지막 모듈에서 잇는 방법을 보여 드립니다.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 구조부터 익히겠습니다. 세 칸만 알면 끝입니다.</a:t>
            </a:r>
          </a:p>
          <a:p xmlns:a="http://schemas.openxmlformats.org/drawingml/2006/main">
            <a:r>
              <a:t>그리고 오늘 가장 중요한 준비는 '무엇을 소스로 넣을 것인가'입니다. 여기서 결과의 절반이 결정됩니다.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왼쪽 소스, 가운데 채팅, 오른쪽 스튜디오.</a:t>
            </a:r>
          </a:p>
          <a:p xmlns:a="http://schemas.openxmlformats.org/drawingml/2006/main">
            <a:r>
              <a:t>왼쪽에 내가 올린 자료가 쌓입니다. 가운데에서 그 자료에 대해 묻습니다. 오른쪽에서 그 자료로 배포물을 만듭니다.</a:t>
            </a:r>
          </a:p>
          <a:p xmlns:a="http://schemas.openxmlformats.org/drawingml/2006/main">
            <a:r>
              <a:t>오늘 오후 내내 이 세 칸을 오갑니다.</a:t>
            </a:r>
          </a:p>
          <a:p xmlns:a="http://schemas.openxmlformats.org/drawingml/2006/main">
            <a:r>
              <a:t>[▶ 실제 시연] 여기서 notebooklm.google.com 을 직접 열어 세 칸을 실물로 보여 주십시오. 연수생도 같이 접속해 눈으로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assets/infographics/07_GeminiNotebook_3영역_Claude.png</a:t>
            </a:r>
          </a:p>
          <a:p xmlns:a="http://schemas.openxmlformats.org/drawingml/2006/main">
            <a:r>
              <a:t>- https://support.google.com/gemininotebook/answer/16164461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⚠ [이미지 교체 필요] — 강사 계정으로 새 노트북을 만드는 실제 화면 2장을 캡처해 넣어 주십시오.</a:t>
            </a:r>
          </a:p>
          <a:p xmlns:a="http://schemas.openxmlformats.org/drawingml/2006/main">
            <a:r>
              <a:t>[▶ 실제 시연] 이 장면은 슬라이드보다 실제 화면 시연이 낫습니다. 새로 만들기 → 이름 짓기 → 소스 업로드까지 그 자리에서 해 보이십시오.</a:t>
            </a:r>
          </a:p>
          <a:p xmlns:a="http://schemas.openxmlformats.org/drawingml/2006/main">
            <a:r>
              <a:t>멘트 — 노트북 이름은 담당 업무로 지으십시오. "학교생활기록부", "학교회계" 같은 식입니다. 나중에 노트북이 늘어나면 이름이 곧 분류가 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소스로 넣을 수 있는 것이 생각보다 많습니다. 다섯 갈래입니다. (2026년 8월 구글 공식 문서 기준입니다.)</a:t>
            </a:r>
          </a:p>
          <a:p xmlns:a="http://schemas.openxmlformats.org/drawingml/2006/main">
            <a:r>
              <a:t>가장 많이 쓰실 것은 첫 줄과 셋째 줄입니다. 규정 PDF와 교육청 공지 웹페이지.</a:t>
            </a:r>
          </a:p>
          <a:p xmlns:a="http://schemas.openxmlformats.org/drawingml/2006/main">
            <a:r>
              <a:t>넷째 줄을 눈여겨보십시오. 유튜브 링크를 넣으면 자막을 텍스트로 바꿔 읽습니다. 한 시간짜리 정책 설명회 영상을 5분에 파악할 수 있습니다. 단, 공개 영상이고 자막이 있어야 합니다.</a:t>
            </a:r>
          </a:p>
          <a:p xmlns:a="http://schemas.openxmlformats.org/drawingml/2006/main">
            <a:r>
              <a:t>둘째 줄에는 함정이 하나 있습니다. 드라이브 파일을 수정했으면 반드시 동기화 버튼을 눌러야 소스가 최신화됩니다. 안 누르면 옛날 내용으로 답합니다.</a:t>
            </a:r>
          </a:p>
          <a:p xmlns:a="http://schemas.openxmlformats.org/drawingml/2006/main">
            <a:r>
              <a:t>※ 용량 — 무료 계정 기준 노트북 하나에 소스 50개, 소스 하나에 50만 단어 또는 200MB까지입니다. 규정 문서로는 넉넉합니다.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https://support.google.com/gemininotebook/answer/16164461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소스 준비 원칙 다섯 가지입니다. 여기가 오후 실습의 성패를 가릅니다.</a:t>
            </a:r>
          </a:p>
          <a:p xmlns:a="http://schemas.openxmlformats.org/drawingml/2006/main">
            <a:r>
              <a:t>첫 줄이 오전에 한글 준비를 먼저 배운 이유입니다. 한글 파일은 그대로 못 올립니다.</a:t>
            </a:r>
          </a:p>
          <a:p xmlns:a="http://schemas.openxmlformats.org/drawingml/2006/main">
            <a:r>
              <a:t>셋째 줄을 특히 강조하겠습니다. 담당별로 노트북을 나누십시오. 학교생활기록부 질문에 학교회계 지침이 섞여 나오면 답이 흐려집니다.</a:t>
            </a:r>
          </a:p>
          <a:p xmlns:a="http://schemas.openxmlformats.org/drawingml/2006/main">
            <a:r>
              <a:t>넷째 줄 GIGO는 "쓰레기를 넣으면 쓰레기가 나온다"는 뜻입니다. 개정 전 지침을 올려 두고 최신 답을 기대하면 안 됩니다.</a:t>
            </a:r>
          </a:p>
          <a:p xmlns:a="http://schemas.openxmlformats.org/drawingml/2006/main">
            <a:r>
              <a:t>다섯째 줄은 정보보호입니다. 규정은 올리되 사안은 올리지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https://support.google.com/gemininotebook/answer/16164461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노트북에 올리기 전, 자료 정리 습관 세 가지입니다. 커리큘럼 원문의 표현을 빌리면 '디지털 기초 공사'입니다.</a:t>
            </a:r>
          </a:p>
          <a:p xmlns:a="http://schemas.openxmlformats.org/drawingml/2006/main">
            <a:r>
              <a:t>파일 이름에 날짜를 붙이고, 공백 대신 언더바를 쓰고, 폴더 앞에 번호를 붙입니다.</a:t>
            </a:r>
          </a:p>
          <a:p xmlns:a="http://schemas.openxmlformats.org/drawingml/2006/main">
            <a:r>
              <a:t>사소해 보이지만 — 파일명만 잘 지어도 개정 전 지침을 올리는 사고가 줄고, 오전에 배운 Cowork 자동화에서도 AI가 자료를 훨씬 빨리 정확하게 찾습니다.</a:t>
            </a:r>
          </a:p>
          <a:p xmlns:a="http://schemas.openxmlformats.org/drawingml/2006/main">
            <a:r>
              <a:t>※ 멘트 — "파일 이름만 잘 지어도 '일 진짜 잘한다'는 소리를 듣습니다."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이제 질문하는 법입니다. 오늘 오후에서 가장 값어치 있는 20분이 될 겁니다.</a:t>
            </a:r>
          </a:p>
          <a:p xmlns:a="http://schemas.openxmlformats.org/drawingml/2006/main">
            <a:r>
              <a:t>대부분 "요약해 줘"라고 묻습니다. 그러면 요약을 받습니다. 그게 전부입니다.</a:t>
            </a:r>
          </a:p>
          <a:p xmlns:a="http://schemas.openxmlformats.org/drawingml/2006/main">
            <a:r>
              <a:t>질문의 구조를 바꾸면 같은 자료에서 완전히 다른 것이 나옵니다.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질문을 세 덩어리로 나누는 공식입니다. 외우기 쉽습니다 — 알(Role) 티(Task) 에프(Format).</a:t>
            </a:r>
          </a:p>
          <a:p xmlns:a="http://schemas.openxmlformats.org/drawingml/2006/main">
            <a:r>
              <a:t>왼쪽 역할. "규정 담당자입니다"라고 한 줄 주는 것만으로 답의 결이 달라집니다. 역할이 없으면 AI는 가장 무난하고 일반적인 답을 냅니다.</a:t>
            </a:r>
          </a:p>
          <a:p xmlns:a="http://schemas.openxmlformats.org/drawingml/2006/main">
            <a:r>
              <a:t>가운데 작업. 여기서 네 가지를 적습니다. 누구에게 줄 답인지, 무엇을, 왜, 그리고 하지 말아야 할 것.</a:t>
            </a:r>
          </a:p>
          <a:p xmlns:a="http://schemas.openxmlformats.org/drawingml/2006/main">
            <a:r>
              <a:t>오른쪽 형식이 퇴근 시간을 당깁니다. "표로 주세요" 한마디면 복사 버튼으로 그대로 시트에 붙여넣을 수 있습니다. 줄글로 받으면 다시 정리해야 합니다.</a:t>
            </a:r>
          </a:p>
          <a:p xmlns:a="http://schemas.openxmlformats.org/drawingml/2006/main">
            <a:r>
              <a:t>※ 상황별로 유연하게 — 급할 땐 T만, 자료 정리는 T+F, 전문적 판단이 필요하면 R+T 를 씁니다. 셋 다 항상 쓸 필요는 없습니다.</a:t>
            </a:r>
          </a:p>
          <a:p xmlns:a="http://schemas.openxmlformats.org/drawingml/2006/main">
            <a:r>
              <a:t>※ 결과가 마음에 안 들 때 — "역할을 안 줬나?" "형식을 빼먹었나?" 이 두 가지만 점검하면 대개 해결됩니다.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"요약해 줘"에서 벗어나는 실전 질문 세 가지 형태입니다.</a:t>
            </a:r>
          </a:p>
          <a:p xmlns:a="http://schemas.openxmlformats.org/drawingml/2006/main">
            <a:r>
              <a:t>첫째, 리스크 추출형. 그냥 요약이 아니라 "우리 목표와 충돌하는 지점"을 뽑게 합니다. 새 지침이 내려왔을 때 가장 먼저 던질 질문입니다.</a:t>
            </a:r>
          </a:p>
          <a:p xmlns:a="http://schemas.openxmlformats.org/drawingml/2006/main">
            <a:r>
              <a:t>둘째, 설득 논리형. 학교에 안내하기 전에 "반대할 사람을 설득할 논리"를 미리 만들어 봅니다. 민원 대응 준비가 됩니다.</a:t>
            </a:r>
          </a:p>
          <a:p xmlns:a="http://schemas.openxmlformats.org/drawingml/2006/main">
            <a:r>
              <a:t>셋째, 비교 표형. 개정 지침 정리가 한 번에 끝납니다. 표는 복사 버튼으로 바로 시트에 들어갑니다.</a:t>
            </a:r>
          </a:p>
          <a:p xmlns:a="http://schemas.openxmlformats.org/drawingml/2006/main">
            <a:r>
              <a:t>셋 다 공통점이 있습니다 — 답이 '검증 가능한 형태'로 나오게 만든다는 것. 근거를 붙이게 하고, 표로 만들게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치트키 세 가지입니다. 각각 한 줄이면 됩니다.</a:t>
            </a:r>
          </a:p>
          <a:p xmlns:a="http://schemas.openxmlformats.org/drawingml/2006/main">
            <a:r>
              <a:t>첫째, 메타 프롬프트. 질문을 잘 못 쓰겠을 때 "필요한 정보를 먼저 물어봐 줘"라고 하십시오. AI가 역으로 질문합니다. 답만 하면 됩니다. 오늘 배운 것 중 가장 실용적입니다.</a:t>
            </a:r>
          </a:p>
          <a:p xmlns:a="http://schemas.openxmlformats.org/drawingml/2006/main">
            <a:r>
              <a:t>둘째, 반박 요청. AI는 기본적으로 칭찬합니다. 계획서를 보여 주면 "훌륭합니다"부터 시작합니다. 그건 검토가 아닙니다. "칭찬 생략하고 문제점 3가지 반박해 줘"라고 하면 그때부터 무료 컨설팅이 됩니다.</a:t>
            </a:r>
          </a:p>
          <a:p xmlns:a="http://schemas.openxmlformats.org/drawingml/2006/main">
            <a:r>
              <a:t>셋째, 프롬프트 코칭. 설정에 한 번 넣어 두면 매번 "이렇게 물으면 더 좋습니다"를 알려 줍니다. 한 달이면 질문 실력이 확 달라집니다.</a:t>
            </a:r>
          </a:p>
          <a:p xmlns:a="http://schemas.openxmlformats.org/drawingml/2006/main">
            <a:r>
              <a:t>[▶ 실제 시연] 여기서 둘째 치트키를 실제로 시연해 보십시오. 계획서 하나를 넣고 반박을 시키면 됩니다. 반응이 가장 좋습니다.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채팅 설정에서 '맞춤'을 고르고 위 지침을 넣으십시오. 한 번만 넣으면 그 노트북의 모든 대화에 적용됩니다.</a:t>
            </a:r>
          </a:p>
          <a:p xmlns:a="http://schemas.openxmlformats.org/drawingml/2006/main">
            <a:r>
              <a:t>왜 형식을 고정하냐면 — 결론과 근거가 섞여 나오면 검증을 못 하기 때문입니다. 결론 따로, 근거 따로 나와야 조항을 확인할 수 있습니다.</a:t>
            </a:r>
          </a:p>
          <a:p xmlns:a="http://schemas.openxmlformats.org/drawingml/2006/main">
            <a:r>
              <a:t>가장 중요한 줄은 "소스에 없는 내용은 소스에 없음이라고 답하라"입니다. 이게 없으면 그럴듯하게 지어냅니다.</a:t>
            </a:r>
          </a:p>
          <a:p xmlns:a="http://schemas.openxmlformats.org/drawingml/2006/main">
            <a:r>
              <a:t>아래 질문 형식도 함께 쓰십시오. 상황·질문·요구 세 덩어리로 나눠서 물으면 답이 훨씬 정확해집니다.</a:t>
            </a:r>
          </a:p>
          <a:p xmlns:a="http://schemas.openxmlformats.org/drawingml/2006/main">
            <a:r>
              <a:t>[▶ 웹가이드] 「실습 자료실」의 '규정 비서 지침' 카드로 전환 — [프롬프트 복사] 버튼을 눌러 채팅 설정 → 맞춤에 붙여 넣기까지 시연합니다. 연수생은 타이핑하지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https://support.google.com/gemininotebook/answer/16164461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 처음 소개하는 기능입니다. 질문하고 끝내지 말고, 쓸 만한 답변을 저장하십시오.</a:t>
            </a:r>
          </a:p>
          <a:p xmlns:a="http://schemas.openxmlformats.org/drawingml/2006/main">
            <a:r>
              <a:t>흐름은 세 단계입니다. 좋은 답변이 나올 때마다 저장(Pin)해 두고 → 모인 노트를 골라 "이걸로 보고 자료 써 줘"라고 재구성시키고 → 구글 문서로 내보냅니다.</a:t>
            </a:r>
          </a:p>
          <a:p xmlns:a="http://schemas.openxmlformats.org/drawingml/2006/main">
            <a:r>
              <a:t>이게 왜 중요하냐면 — 하루 종일 규정을 찾아본 결과가 대화 속에 흩어져 사라지는 게 아니라, 보고서 초안으로 쌓이기 때문입니다.</a:t>
            </a:r>
          </a:p>
          <a:p xmlns:a="http://schemas.openxmlformats.org/drawingml/2006/main">
            <a:r>
              <a:t>실무 장면 — 새 지침이 내려온 날, 오전 내내 조항을 질문하며 좋은 답변을 저장해 두고, 퇴근 전에 "오늘 저장한 노트로 학교 안내용 요약본을 써 줘" 한 줄이면 초안이 나옵니다.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⚠ [이미지 교체 필요] — 본인 담당 규정으로 실제 질의한 화면을 캡처해 넣어 주십시오. 인용 번호가 잘 보여야 합니다.</a:t>
            </a:r>
          </a:p>
          <a:p xmlns:a="http://schemas.openxmlformats.org/drawingml/2006/main">
            <a:r>
              <a:t>[▶ 실제 시연] 캡처 대신 라이브 시연도 좋습니다. 최근 학교에서 실제로 받았던 질문을 그대로 넣고, 답변의 인용 번호를 눌러 원문으로 이동하는 것까지 보여 주십시오.</a:t>
            </a:r>
          </a:p>
          <a:p xmlns:a="http://schemas.openxmlformats.org/drawingml/2006/main">
            <a:r>
              <a:t>멘트 — 이 숫자가 이 도구의 핵심입니다. 답변을 믿는 게 아니라 근거를 확인하는 겁니다.</a:t>
            </a:r>
          </a:p>
          <a:p xmlns:a="http://schemas.openxmlformats.org/drawingml/2006/main">
            <a:r>
              <a:t>※ 실무 순서 — 답변을 읽기 전에 인용부터 확인하는 습관을 들이십시오. 순서를 바꾸는 것만으로 사고가 크게 줄어듭니다.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 반드시 짚어야 할 것이 있습니다.</a:t>
            </a:r>
          </a:p>
          <a:p xmlns:a="http://schemas.openxmlformats.org/drawingml/2006/main">
            <a:r>
              <a:t>규정 비서를 만들 때 실제 사안 자료를 올리고 싶은 유혹이 생깁니다. 그러면 훨씬 구체적인 답이 나오니까요. 넣지 마십시오. 규정 문서만 올려도 필요한 답은 다 나옵니다. 사안은 질문에서 익명으로 설명하면 됩니다.</a:t>
            </a:r>
          </a:p>
          <a:p xmlns:a="http://schemas.openxmlformats.org/drawingml/2006/main">
            <a:r>
              <a:t>마지막 줄도 커리큘럼 원문이 강조하는 보안 철칙입니다 — 공과 사의 분리. 개인 구글 계정에 업무 자료를 올리면 소유와 관리가 흐려집니다. 업무는 기관 계정에서.</a:t>
            </a:r>
          </a:p>
          <a:p xmlns:a="http://schemas.openxmlformats.org/drawingml/2006/main">
            <a:r>
              <a:t>※ 실무 문장 — "규정은 올리고, 사안은 묻는다." 이 한 줄로 기억하시면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검증 기준 다섯 가지입니다.</a:t>
            </a:r>
          </a:p>
          <a:p xmlns:a="http://schemas.openxmlformats.org/drawingml/2006/main">
            <a:r>
              <a:t>둘째 줄이 실무에서 정말 자주 사고가 나는 지점입니다. 개정 전 지침을 근거로 답이 나오는 경우가 있습니다. 시행일을 반드시 확인하십시오.</a:t>
            </a:r>
          </a:p>
          <a:p xmlns:a="http://schemas.openxmlformats.org/drawingml/2006/main">
            <a:r>
              <a:t>넷째 줄도 중요합니다. 소스 기반이라도 '해석'은 AI가 합니다. 조항을 그대로 옮겨 온 부분과, AI가 해석해서 붙인 문장을 구분해서 읽으셔야 합니다.</a:t>
            </a:r>
          </a:p>
          <a:p xmlns:a="http://schemas.openxmlformats.org/drawingml/2006/main">
            <a:r>
              <a:t>마지막 줄로 마무리하겠습니다 — 이 도구는 답을 주는 도구가 아니라 근거를 빨리 찾아 주는 도구입니다. 판단은 여전히 장학사님 몫입니다.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https://support.google.com/gemininotebook/answer/16164461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6입니다. 25분 드립니다.</a:t>
            </a:r>
          </a:p>
          <a:p xmlns:a="http://schemas.openxmlformats.org/drawingml/2006/main">
            <a:r>
              <a:t>가장 좋은 방법은 4번입니다. 가상 질문 말고 최근에 학교에서 실제로 받은 질문을 그대로 넣어 보십시오. 그래야 이 도구가 쓸 만한지 판단이 섭니다.</a:t>
            </a:r>
          </a:p>
          <a:p xmlns:a="http://schemas.openxmlformats.org/drawingml/2006/main">
            <a:r>
              <a:t>5번을 반드시 하십시오. 인용을 안 누르고 답만 읽으면 이 실습은 의미가 없습니다.</a:t>
            </a:r>
          </a:p>
          <a:p xmlns:a="http://schemas.openxmlformats.org/drawingml/2006/main">
            <a:r>
              <a:t>※ 준비물 안내 — 규정 PDF를 못 챙겨 오신 분을 위해 담당별 공개 규정 모음을 실습 가이드 「자료」에 올려 두었습니다.</a:t>
            </a:r>
          </a:p>
          <a:p xmlns:a="http://schemas.openxmlformats.org/drawingml/2006/main">
            <a:r>
              <a:t>[▶ 웹가이드] 실습 중 연수생 화면은 가이드 「실습 9개」의 실습 6 칸 + 규정 비서 지침 카드입니다. 마무리에 질문·답·확인한 조항을 게시판에 '실습 6'으로 올리게 하십시오.</a:t>
            </a:r>
          </a:p>
          <a:p xmlns:a="http://schemas.openxmlformats.org/drawingml/2006/main">
            <a:r>
              <a:t>※ 순회 포인트 — ① 소스를 하나도 안 올리고 질문하는 분 ② 인용을 안 눌러 보는 분 ③ 실제 사안 내용을 넣으려는 분. 이 셋을 봐 주십시오.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규정 비서를 만들었으면, 같은 자료로 배포물까지 뽑을 수 있습니다.</a:t>
            </a:r>
          </a:p>
          <a:p xmlns:a="http://schemas.openxmlformats.org/drawingml/2006/main">
            <a:r>
              <a:t>학교에 안내할 FAQ, 연수용 슬라이드, 게시용 인포그래픽 — 전부 오른쪽 스튜디오 패널에서 나옵니다.</a:t>
            </a:r>
          </a:p>
          <a:p xmlns:a="http://schemas.openxmlformats.org/drawingml/2006/main">
            <a:r>
              <a:t>수요조사에서 "질 높은 PPT"를 요청하신 분들이 계셨는데, 이 부분입니다.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스튜디오의 값어치는 여기 있습니다. 하나의 소스에서 나온 배포물이라 서로 어긋나지 않습니다.</a:t>
            </a:r>
          </a:p>
          <a:p xmlns:a="http://schemas.openxmlformats.org/drawingml/2006/main">
            <a:r>
              <a:t>사람이 만들면 FAQ와 슬라이드의 숫자가 달라지는 일이 생깁니다. 같은 소스에서 나오면 그럴 일이 줄어듭니다.</a:t>
            </a:r>
          </a:p>
          <a:p xmlns:a="http://schemas.openxmlformats.org/drawingml/2006/main">
            <a:r>
              <a:t>다만 '줄어든다'이지 '없다'가 아닙니다. 만든 뒤에는 반드시 원문과 대조하십시오.</a:t>
            </a:r>
          </a:p>
          <a:p xmlns:a="http://schemas.openxmlformats.org/drawingml/2006/main">
            <a:r>
              <a:t>커리큘럼 원문의 표현을 빌리면 — "지식은 구조화될 때 비로소 힘을 발휘합니다."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assets/infographics/08_하나의근거_다섯배포물_Claude.png</a:t>
            </a:r>
          </a:p>
          <a:p xmlns:a="http://schemas.openxmlformats.org/drawingml/2006/main">
            <a:r>
              <a:t>- https://support.google.com/gemininotebook/answer/16454555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메뉴가 아홉 가지쯤 되는데, 다 쓸 필요는 없습니다. 언제 쓰는지만 기억하십시오.</a:t>
            </a:r>
          </a:p>
          <a:p xmlns:a="http://schemas.openxmlformats.org/drawingml/2006/main">
            <a:r>
              <a:t>장학사님들이 가장 많이 쓰실 것은 위 세 줄입니다. FAQ, 인포그래픽, 슬라이드.</a:t>
            </a:r>
          </a:p>
          <a:p xmlns:a="http://schemas.openxmlformats.org/drawingml/2006/main">
            <a:r>
              <a:t>넷째 줄 마인드맵은 배포용이 아니라 '내가 먼저 파악할 때' 씁니다. 새로 맡은 업무의 지침을 통째로 넣고 마인드맵을 뽑으면 구조가 한눈에 보입니다.</a:t>
            </a:r>
          </a:p>
          <a:p xmlns:a="http://schemas.openxmlformats.org/drawingml/2006/main">
            <a:r>
              <a:t>다섯째 줄 오디오 개요는 한국어를 지원합니다. 한국어 소스를 넣으면 한국어 팟캐스트가 나옵니다. 출퇴근길 사전 학습용으로 좋습니다.</a:t>
            </a:r>
          </a:p>
          <a:p xmlns:a="http://schemas.openxmlformats.org/drawingml/2006/main">
            <a:r>
              <a:t>※ 참고 — 2026년 7월 리브랜딩과 함께 노트북마다 코드 실행 환경이 붙어 데이터 분석·차트 생성이 유료 요금제부터 순차 제공되고 있습니다. 데이터 표 기능도 유료 중심입니다. "무료로 안 되는 게 나오면 요금제 차이"라고 안내하십시오.</a:t>
            </a:r>
          </a:p>
          <a:p xmlns:a="http://schemas.openxmlformats.org/drawingml/2006/main">
            <a:r>
              <a:t>※ 주의 — 동영상 개요는 생성에 30분 이상 걸릴 수 있습니다. 실습 시간 안에 안 끝날 수 있으니 미리 만들어 둔 것을 보여 주십시오.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https://support.google.com/gemininotebook/answer/16454555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여기가 오늘 오후에서 가장 아까운 부분입니다. 대부분 이 기능을 모르고 지나갑니다.</a:t>
            </a:r>
          </a:p>
          <a:p xmlns:a="http://schemas.openxmlformats.org/drawingml/2006/main">
            <a:r>
              <a:t>각 메뉴 옆에 연필 아이콘이 있습니다. 누르면 "어떻게 만들지"를 직접 적을 수 있습니다. 앞에서 배운 R-T-F를 여기 그대로 쓰면 됩니다.</a:t>
            </a:r>
          </a:p>
          <a:p xmlns:a="http://schemas.openxmlformats.org/drawingml/2006/main">
            <a:r>
              <a:t>[▶ 실제 시연] 같은 소스로 '그냥 생성'과 '맞춤 설정 후 생성'을 하나씩 만들어 나란히 보여 주십시오. 이 비교 한 번이면 설명이 필요 없습니다.</a:t>
            </a:r>
          </a:p>
          <a:p xmlns:a="http://schemas.openxmlformats.org/drawingml/2006/main">
            <a:r>
              <a:t>※ 강조 문장 — "맞춤 설정을 했을 때와 안 했을 때의 결과는 차원이 다릅니다. 이 한 번의 클릭이 결과물의 수준을 정합니다."</a:t>
            </a:r>
          </a:p>
          <a:p xmlns:a="http://schemas.openxmlformats.org/drawingml/2006/main">
            <a:r>
              <a:t>※ 생성된 결과물 옆 점 세 개(…) 버튼도 함께 보여 주십시오 — 슬라이드로 재생, 맞춤 프롬프트 다시 보기, 공유·다운로드가 거기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https://support.google.com/gemininotebook/answer/16454555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읽는 자료만 만드는 게 아닙니다. 듣게 만들고, 풀게 만들 수도 있습니다.</a:t>
            </a:r>
          </a:p>
          <a:p xmlns:a="http://schemas.openxmlformats.org/drawingml/2006/main">
            <a:r>
              <a:t>왼쪽 오디오 개요 — 두 진행자가 내 자료를 놓고 토론하는 팟캐스트입니다. 한국어를 지원하니 규정 개정본을 넣고 출퇴근길에 들으면 사전 학습이 됩니다. "특정 쟁점에 집중해서 비판적으로 토론하게 해 줘" 같은 맞춤 설정도 됩니다.</a:t>
            </a:r>
          </a:p>
          <a:p xmlns:a="http://schemas.openxmlformats.org/drawingml/2006/main">
            <a:r>
              <a:t>오른쪽 퀴즈 — 의외로 쓸 데가 많습니다. 새 지침이 내려왔을 때 학교 담당자용 사전 점검 퀴즈로 만들면, 무엇을 헷갈리는지가 바로 보입니다. 연수 마지막 이해도 확인용으로도 좋습니다.</a:t>
            </a:r>
          </a:p>
          <a:p xmlns:a="http://schemas.openxmlformats.org/drawingml/2006/main">
            <a:r>
              <a:t>※ 만드는 요령 — 연필 아이콘으로 "실무에서 실제로 헷갈리는 지점 위주로, 객관식 5문항"이라고 지정하면 훨씬 쓸 만해집니다.</a:t>
            </a:r>
          </a:p>
          <a:p xmlns:a="http://schemas.openxmlformats.org/drawingml/2006/main">
            <a:r>
              <a:t>※ 동영상 개요는 초기 단계라 한글 표기·억양이 어색할 수 있습니다. 기대치를 미리 조정해 주십시오.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  <a:p xmlns:a="http://schemas.openxmlformats.org/drawingml/2006/main">
            <a:r>
              <a:t>- https://support.google.com/gemininotebook/answer/16454555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배포물 검증 기준입니다.</a:t>
            </a:r>
          </a:p>
          <a:p xmlns:a="http://schemas.openxmlformats.org/drawingml/2006/main">
            <a:r>
              <a:t>셋째 줄을 강조하겠습니다. 인포그래픽은 예쁘게 나오면 검증을 건너뛰기 쉽습니다. 그런데 대외 배포물이라 오류가 남으면 가장 오래 남습니다.</a:t>
            </a:r>
          </a:p>
          <a:p xmlns:a="http://schemas.openxmlformats.org/drawingml/2006/main">
            <a:r>
              <a:t>둘째 줄 — 슬라이드는 PPTX로 내려받아 파워포인트에서 다듬는 것까지가 한 세트입니다. 그대로 쓰면 제목이 잘리거나 줄바꿈이 어색한 경우가 많습니다. 그래도 백지에서 시작하는 것보다 두세 시간은 아낍니다.</a:t>
            </a:r>
          </a:p>
          <a:p xmlns:a="http://schemas.openxmlformats.org/drawingml/2006/main">
            <a:r>
              <a:t>마지막 줄이 오전에 배운 '반복을 자산으로'와 같은 사상입니다. 무엇을 고쳤는지 적어 두면, 다음에 만들 때 그 내용을 맞춤 설정에 미리 넣을 수 있습니다. 두 번째부터는 손댈 게 확 줄어듭니다.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https://support.google.com/gemininotebook/answer/16454555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7입니다. 25분입니다.</a:t>
            </a:r>
          </a:p>
          <a:p xmlns:a="http://schemas.openxmlformats.org/drawingml/2006/main">
            <a:r>
              <a:t>1번을 지켜 주십시오. 새로 노트북을 만들지 마시고 실습 6의 것을 그대로 쓰십시오. '같은 근거에서 나온다'는 게 핵심입니다.</a:t>
            </a:r>
          </a:p>
          <a:p xmlns:a="http://schemas.openxmlformats.org/drawingml/2006/main">
            <a:r>
              <a:t>2번에서 연필 아이콘을 반드시 눌러 보십시오. 안 누르고 만든 것과 비교하면 차이가 확 보입니다.</a:t>
            </a:r>
          </a:p>
          <a:p xmlns:a="http://schemas.openxmlformats.org/drawingml/2006/main">
            <a:r>
              <a:t>5번 대조를 건너뛰지 마십시오. 그리고 6번 — 무엇을 고쳤는지 적어 두시면 다음번이 훨씬 빨라집니다.</a:t>
            </a:r>
          </a:p>
          <a:p xmlns:a="http://schemas.openxmlformats.org/drawingml/2006/main">
            <a:r>
              <a:t>[▶ 웹가이드] 완성한 3종은 게시판에 '실습 7'로 올리게 하십시오. 인포그래픽 PNG가 게시판에 잇달아 올라오는 장면이 이 실습의 하이라이트입니다.</a:t>
            </a:r>
          </a:p>
          <a:p xmlns:a="http://schemas.openxmlformats.org/drawingml/2006/main">
            <a:r>
              <a:t>※ 시간이 부족하면 — FAQ와 슬라이드 중 하나만 실습하고 나머지는 강사 화면으로 보여 주십시오.</a:t>
            </a:r>
          </a:p>
          <a:p xmlns:a="http://schemas.openxmlformats.org/drawingml/2006/main">
            <a:r>
              <a:t>※ 순회 포인트 — 맞춤 설정을 안 쓰고 그냥 생성 버튼만 누르는 분이 많습니다. 그것만 챙겨 주십시오.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모듈입니다. 두 도구를 이어 붙이는 방법입니다.</a:t>
            </a:r>
          </a:p>
          <a:p xmlns:a="http://schemas.openxmlformats.org/drawingml/2006/main">
            <a:r>
              <a:t>노트북은 내 자료 안에서만 답합니다. 그게 장점이자 한계입니다. 바깥 정보가 필요할 때가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확장 경로가 두 가지입니다.</a:t>
            </a:r>
          </a:p>
          <a:p xmlns:a="http://schemas.openxmlformats.org/drawingml/2006/main">
            <a:r>
              <a:t>왼쪽 — 제미나이 대화창에서 플러스 버튼을 누르면 파일 소스에 노트북이 있습니다. 내가 만든 노트북을 그대로 불러옵니다.</a:t>
            </a:r>
          </a:p>
          <a:p xmlns:a="http://schemas.openxmlformats.org/drawingml/2006/main">
            <a:r>
              <a:t>이러면 "우리 규정으로는 이렇게 되는데, 타 시도는 어떻게 하고 있는지 조사해 줘" 같은 질문이 가능해집니다. 내부 근거와 바깥 정보를 한 대화에서 다룹니다.</a:t>
            </a:r>
          </a:p>
          <a:p xmlns:a="http://schemas.openxmlformats.org/drawingml/2006/main">
            <a:r>
              <a:t>오른쪽 — 심층 리서치입니다. 도구 아이콘을 눌러 켭니다. AI가 인터넷 출장을 다녀오면서 수십 개 사이트를 조사해 보고서를 씁니다.</a:t>
            </a:r>
          </a:p>
          <a:p xmlns:a="http://schemas.openxmlformats.org/drawingml/2006/main">
            <a:r>
              <a:t>여기에 요령이 하나 있습니다. 바로 조사하지 않고 '리서치 계획'을 먼저 보여 줍니다. 그 계획을 고치면 조사 방향이 바뀝니다. 계획을 그냥 승인하지 마시고 한 번 읽어 보십시오.</a:t>
            </a:r>
          </a:p>
          <a:p xmlns:a="http://schemas.openxmlformats.org/drawingml/2006/main">
            <a:r>
              <a:t>⚠ 다만 심층 리서치는 웹으로 나갑니다. 노트북과 달리 소스가 통제되지 않으니, 근거는 따로 확인하셔야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마지막으로 공유입니다. 이게 실무 효과가 가장 큽니다.</a:t>
            </a:r>
          </a:p>
          <a:p xmlns:a="http://schemas.openxmlformats.org/drawingml/2006/main">
            <a:r>
              <a:t>노트북 상단 공유 버튼으로 부서원을 추가하면, 그 사람들은 자기 질문만 합니다. 소스 자료를 다 열어 보는 게 아닙니다.</a:t>
            </a:r>
          </a:p>
          <a:p xmlns:a="http://schemas.openxmlformats.org/drawingml/2006/main">
            <a:r>
              <a:t>그러면 "이거 규정 어떻게 돼요?"라는 문의가 줄어듭니다. 링크 하나만 주면 되니까요.</a:t>
            </a:r>
          </a:p>
          <a:p xmlns:a="http://schemas.openxmlformats.org/drawingml/2006/main">
            <a:r>
              <a:t>넷째 줄이 함정입니다. 드라이브 원본을 고쳤는데 동기화를 안 누르면 옛날 내용으로 답합니다. 지침이 개정됐을 때 특히 조심하십시오.</a:t>
            </a:r>
          </a:p>
          <a:p xmlns:a="http://schemas.openxmlformats.org/drawingml/2006/main">
            <a:r>
              <a:t>그리고 공유 전 마지막 확인 — 소스 안에 실명이나 연락처가 없는지. 공유하는 순간 부서 전체의 참조 자료가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https://support.google.com/gemininotebook/answer/16164461</a:t>
            </a:r>
          </a:p>
          <a:p xmlns:a="http://schemas.openxmlformats.org/drawingml/2006/main">
            <a:r>
              <a:t>- https://app.notion.com/p/choinssam/383452af4f1281a1af48ca530a5c6e9f?p=a14452af4f128266b61a817e88c16485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2부를 마무리하겠습니다.</a:t>
            </a:r>
          </a:p>
          <a:p xmlns:a="http://schemas.openxmlformats.org/drawingml/2006/main">
            <a:r>
              <a:t>오늘 도구 이름 하나를 배우셨지만, 그게 남는 게 아닙니다. 이름은 또 바뀔 겁니다. 실제로 지난달에 NotebookLM이 제미나이 노트북으로 바뀌었습니다.</a:t>
            </a:r>
          </a:p>
          <a:p xmlns:a="http://schemas.openxmlformats.org/drawingml/2006/main">
            <a:r>
              <a:t>남는 것은 습관입니다 — 답변보다 인용을 먼저 확인하는 습관, 소스를 담당별로 나누는 습관, 맞춤 설정을 한 번 누르는 습관, 좋은 답변을 저장해 두는 습관.</a:t>
            </a:r>
          </a:p>
          <a:p xmlns:a="http://schemas.openxmlformats.org/drawingml/2006/main">
            <a:r>
              <a:t>마지막으로 한 가지만 부탁드리겠습니다. 내일 아침에 지금 담당하는 규정 하나를 올려 보십시오. 질문 세 개만 던져 보면 이게 내 업무에 맞는지 바로 아실 겁니다.</a:t>
            </a:r>
          </a:p>
          <a:p xmlns:a="http://schemas.openxmlformats.org/drawingml/2006/main">
            <a:r>
              <a:t>[▶ 웹가이드] 게시판을 열어 실습 6·7 결과물을 함께 훑어본 뒤 3부로 넘어갑니다.</a:t>
            </a:r>
          </a:p>
          <a:p xmlns:a="http://schemas.openxmlformats.org/drawingml/2006/main">
            <a:r>
              <a:t>그다음 3부에서는 이 결과물을 '보이게' 만드는 방법을 다룹니다.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49822df154b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b9fe2bfd23413b" /><Relationship Type="http://schemas.openxmlformats.org/officeDocument/2006/relationships/slideLayout" Target="/ppt/slideLayouts/slideLayout1.xml" Id="Rdfd5b700c95245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d5b700c95245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1bf7af7894c82" /><Relationship Type="http://schemas.openxmlformats.org/officeDocument/2006/relationships/notesSlide" Target="/ppt/notesSlides/notesSlide1.xml" Id="Ra4dc66419add4c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570ab5c9344d8" /><Relationship Type="http://schemas.openxmlformats.org/officeDocument/2006/relationships/notesSlide" Target="/ppt/notesSlides/notesSlide2.xml" Id="R3ada4c39888a40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8713242ce47c8" /><Relationship Type="http://schemas.openxmlformats.org/officeDocument/2006/relationships/notesSlide" Target="/ppt/notesSlides/notesSlide3.xml" Id="R703c04968c7f4c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69abfaf474dda" /><Relationship Type="http://schemas.openxmlformats.org/officeDocument/2006/relationships/notesSlide" Target="/ppt/notesSlides/notesSlide4.xml" Id="R39222c5853ae4f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3cb65ff6d4ee6" /><Relationship Type="http://schemas.openxmlformats.org/officeDocument/2006/relationships/notesSlide" Target="/ppt/notesSlides/notesSlide5.xml" Id="Rf6b06044725d40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aeedb7aad4c7e" /><Relationship Type="http://schemas.openxmlformats.org/officeDocument/2006/relationships/image" Target="/ppt/media/image.png" Id="R80cdc489e1ba4531" /><Relationship Type="http://schemas.openxmlformats.org/officeDocument/2006/relationships/notesSlide" Target="/ppt/notesSlides/notesSlide6.xml" Id="Rdc8334dbbafe48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020f7c6e44367" /><Relationship Type="http://schemas.openxmlformats.org/officeDocument/2006/relationships/notesSlide" Target="/ppt/notesSlides/notesSlide7.xml" Id="R17080b1ab5ae4c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9226ab08d4978" /><Relationship Type="http://schemas.openxmlformats.org/officeDocument/2006/relationships/notesSlide" Target="/ppt/notesSlides/notesSlide8.xml" Id="Rbbb3956e0e6a42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9dfd3b42c41da" /><Relationship Type="http://schemas.openxmlformats.org/officeDocument/2006/relationships/notesSlide" Target="/ppt/notesSlides/notesSlide9.xml" Id="R25d22f08317142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092c6cbef48c6" /><Relationship Type="http://schemas.openxmlformats.org/officeDocument/2006/relationships/notesSlide" Target="/ppt/notesSlides/notesSlide10.xml" Id="R949ebc4e8e1e4b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a2b3611d848fb" /><Relationship Type="http://schemas.openxmlformats.org/officeDocument/2006/relationships/notesSlide" Target="/ppt/notesSlides/notesSlide11.xml" Id="R6029cfe958454c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9967a44fd4ab6" /><Relationship Type="http://schemas.openxmlformats.org/officeDocument/2006/relationships/notesSlide" Target="/ppt/notesSlides/notesSlide12.xml" Id="R362b2a760a2642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8457310084540" /><Relationship Type="http://schemas.openxmlformats.org/officeDocument/2006/relationships/notesSlide" Target="/ppt/notesSlides/notesSlide13.xml" Id="R50af15cd983449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d750c4b774d9d" /><Relationship Type="http://schemas.openxmlformats.org/officeDocument/2006/relationships/notesSlide" Target="/ppt/notesSlides/notesSlide14.xml" Id="R83287dd104d149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f48cc0a3c48bb" /><Relationship Type="http://schemas.openxmlformats.org/officeDocument/2006/relationships/notesSlide" Target="/ppt/notesSlides/notesSlide15.xml" Id="R6b9bedb8aa714b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abfc35c184f3c" /><Relationship Type="http://schemas.openxmlformats.org/officeDocument/2006/relationships/notesSlide" Target="/ppt/notesSlides/notesSlide16.xml" Id="R2036519367b7435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2f9c550e246e5" /><Relationship Type="http://schemas.openxmlformats.org/officeDocument/2006/relationships/notesSlide" Target="/ppt/notesSlides/notesSlide17.xml" Id="Rbf88e994a8dd48f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3a3a014194683" /><Relationship Type="http://schemas.openxmlformats.org/officeDocument/2006/relationships/notesSlide" Target="/ppt/notesSlides/notesSlide18.xml" Id="Rbc0e276e27dd4f6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22df69d114468" /><Relationship Type="http://schemas.openxmlformats.org/officeDocument/2006/relationships/notesSlide" Target="/ppt/notesSlides/notesSlide19.xml" Id="R389061647cd84bd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33e261bfc4bbf" /><Relationship Type="http://schemas.openxmlformats.org/officeDocument/2006/relationships/notesSlide" Target="/ppt/notesSlides/notesSlide20.xml" Id="Re8e95e330cd34b7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8493a52324467" /><Relationship Type="http://schemas.openxmlformats.org/officeDocument/2006/relationships/notesSlide" Target="/ppt/notesSlides/notesSlide21.xml" Id="R6bbe4ab4b55742c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3a76f1da640fd" /><Relationship Type="http://schemas.openxmlformats.org/officeDocument/2006/relationships/image" Target="/ppt/media/image2.png" Id="Rc3f9dea3d5584e9b" /><Relationship Type="http://schemas.openxmlformats.org/officeDocument/2006/relationships/notesSlide" Target="/ppt/notesSlides/notesSlide22.xml" Id="R069af96c3ce842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745bf84554a40" /><Relationship Type="http://schemas.openxmlformats.org/officeDocument/2006/relationships/notesSlide" Target="/ppt/notesSlides/notesSlide23.xml" Id="R423fe1c103874b8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9f703141f4efa" /><Relationship Type="http://schemas.openxmlformats.org/officeDocument/2006/relationships/notesSlide" Target="/ppt/notesSlides/notesSlide24.xml" Id="R70b12906489d4dd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d6eeb0cda4a5a" /><Relationship Type="http://schemas.openxmlformats.org/officeDocument/2006/relationships/notesSlide" Target="/ppt/notesSlides/notesSlide25.xml" Id="Re265a95e13fc409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7f6d6dc2647f9" /><Relationship Type="http://schemas.openxmlformats.org/officeDocument/2006/relationships/notesSlide" Target="/ppt/notesSlides/notesSlide26.xml" Id="R49eb3cc34c1041b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8bdbaf3544b39" /><Relationship Type="http://schemas.openxmlformats.org/officeDocument/2006/relationships/notesSlide" Target="/ppt/notesSlides/notesSlide27.xml" Id="Rdf13cb763f6a42c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f0ea2e643499e" /><Relationship Type="http://schemas.openxmlformats.org/officeDocument/2006/relationships/notesSlide" Target="/ppt/notesSlides/notesSlide28.xml" Id="R59dcd098bb084e5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f548ff355490a" /><Relationship Type="http://schemas.openxmlformats.org/officeDocument/2006/relationships/notesSlide" Target="/ppt/notesSlides/notesSlide29.xml" Id="R88ba3a82b410456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4eb9e077845cb" /><Relationship Type="http://schemas.openxmlformats.org/officeDocument/2006/relationships/notesSlide" Target="/ppt/notesSlides/notesSlide30.xml" Id="R411af6b440094d3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351cff11b4bb7" /><Relationship Type="http://schemas.openxmlformats.org/officeDocument/2006/relationships/notesSlide" Target="/ppt/notesSlides/notesSlide31.xml" Id="R0948e08b95f741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7352F-803E-42B1-992C-69DF3CA2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E6F4F-A7C7-40F0-AF98-A2AEBD4C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2부 · 오후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91679-BB23-46C1-90F5-FD03D2F5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666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2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42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근거가 보이는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2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42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규정 비서 만들기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DE1B8-E3E2-4246-AD82-B5C6B5E8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제미나이 노트북 — 내가 올린 자료 안에서만 답하고, 원문 위치까지 짚어 주는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2439C-EF9F-4ADE-BCCE-98F35E02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F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076E1-42BF-4F50-9566-97ADD13C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소스 · 채팅 · 스튜디오  |  R-T-F 질문법  |  치트키 3종  |  노트 저장  |  배포물  |  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FABF07-E718-4B74-8F27-845B22D4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EADE9-99C4-4955-A983-4C325143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2026. 8. 11.(화)  ·  춘천시교육지원청 교육전문직  ·  강사 김상백</a:t>
            </a:r>
          </a:p>
        </p:txBody>
      </p:sp>
    </p:spTree>
    <p:extLst>
      <p:ext uri="{BB962C8B-B14F-4D97-AF65-F5344CB8AC3E}">
        <p14:creationId xmlns:p14="http://schemas.microsoft.com/office/powerpoint/2010/main" val="1567364866"/>
      </p:ext>
    </p:extLst>
  </p:cSld>
  <p:transition spd="slow"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00E7B-198A-4C12-9686-7CD69D63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DC273-221A-4CF1-8D39-84356ED7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78D97-F1C2-4D80-AAF2-C79DBAB2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2A14F-B0B3-41B8-AC76-54452DDC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F5E50-71C5-4A85-BE11-0F0D57C2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WHY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419E14-1F09-4634-86A5-5A072BEF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왜 챗봇이 아니라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노트북인가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B3F6D-C2D8-4C91-8220-53B71BF9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챗봇은 모르는 것도 아는 척합니다. 노트북은 내가 올린 자료 밖으로 나가지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6525BC-FB08-4C4C-BD77-FB67991C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09500762"/>
      </p:ext>
    </p:extLst>
  </p:cSld>
  <p:transition spd="slow">
    <p:push dir="u"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045BB4-BC07-40AB-B08D-D20D70BC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FBCEC-4E84-416B-BB97-70FF8F5C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40714-81EE-4144-8F89-510651F2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8F9F5-08DF-44A8-A3EF-80B92C8E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92024-F7F3-44EF-8D5A-F6DE0121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분업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AFED0-0D13-4EE0-BF3C-2DBE3AB5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두 도구는 역할이 다릅니다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0697C3-E855-4E1A-9ACD-3C6B9228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66900"/>
            <a:ext cx="5467350" cy="381000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EB34F-164F-435D-963E-61F45D38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제미나이 (창조의 재주꾼)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EDCD5-B1ED-4AC0-9836-12362C57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세상 모든 지식을 학습한 '천재 작가'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EFFE0F-56AE-4DA7-A377-03A6CA0D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빈 화면에서 초안을 잡을 때 최고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B4E9D2-88CB-4EA3-A0A6-7E826C18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심층 리서치로 웹을 직접 조사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B73DD-624F-49A2-A915-FDD95C8F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⚠ 모르는 것도 아는 척할 수 있음 (환각)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0C8193-3A35-46FF-8B3A-A423031E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66900"/>
            <a:ext cx="5467350" cy="381000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2721E-62FF-4579-B2DA-D1B7A56C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노트북 (팩트의 분석가)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BD58A-D1A2-4FF3-B0C6-AF7FBEC9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1460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내가 올린 소스 안에서만 답함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31D1AB-C8D3-4B05-AA6F-CE170C0B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0515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답변 문장마다 원문 위치를 표시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3A64A-7FB7-43C3-B620-71E8AD9A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9570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스튜디오로 보고서·배포물까지 생성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7CD8EC-037E-447B-BB36-A927AB74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86250"/>
            <a:ext cx="491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313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소스에 없으면 '없다'고 답하게 만들 수 있음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6D0E6A-40BD-4DFC-9C6B-67DDC2CF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86450"/>
            <a:ext cx="11201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근거를 확인할 때는 노트북, 없는 것을 만들어 낼 때는 제미나이 — 이 경계만 지키면 됩니다.</a:t>
            </a:r>
          </a:p>
        </p:txBody>
      </p:sp>
    </p:spTree>
    <p:extLst>
      <p:ext uri="{BB962C8B-B14F-4D97-AF65-F5344CB8AC3E}">
        <p14:creationId xmlns:p14="http://schemas.microsoft.com/office/powerpoint/2010/main" val="2032320158"/>
      </p:ext>
    </p:extLst>
  </p:cSld>
  <p:transition spd="slow">
    <p:fade/>
  </p:transition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E85B70-82D2-4339-A200-1E72E180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4E769-41B4-459E-967F-F006C7CB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F3AA4-9736-4AE9-9DC4-C7CFA1CC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6BD52-4DC6-49FC-8376-B4A26CB4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6CB1A-CD51-4511-9148-69D9A17C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두 도구를 섞는 순서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3F1DF-9C2F-4880-9C9E-F639D48A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실전 협업 — 재주꾼이 만들고, 분석가가 다듬습니다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8BB29-48A2-407E-9AE5-1D36DF02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68D4E-4501-4EC2-91F9-19CE6525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01291-B047-40E4-9560-B164ED9B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제미나이로 넓게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561C4-5B54-4269-9E5B-5C0F0AB1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트렌드 · 타 시도 사례 · 아이디어를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BC038F-C57E-43D7-8AF9-0F1F5CED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심층 리서치로 광범위하게 수집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DBDE8-1E77-4850-A5C9-8A5B5CC2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08EE24-D08A-4BC8-8AFB-64840CEF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"2026 교육과정 개정 관련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48142-306C-41F9-AE74-651B4539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시도별 대응 사례를 조사해 줘"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CE3FB-2A8E-4AF0-B71A-08FA42E1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C66B7-239A-4379-8D3F-73D51FBF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D4981-E445-403F-A382-9401A98A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노트북에 근거를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74F169-EB7B-451E-8AEA-B21E28E2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81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우리 교육청 지침 · 규정 · 내부 자료를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BD5B6A-4A2A-4D33-B2F5-023CABEF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385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소스로 업로드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214BB-BB72-449D-AAF3-FC5B4352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74877F-C61B-4024-8110-96525A51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529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여기서부터는 답변마다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1D1F63-0BED-4BF1-A5B5-592E6622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6101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원문 위치가 붙습니다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F1378D-7B61-4882-A585-5C607F7F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664969-CA83-4A57-ADFB-F9A180C5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495A6F-DC35-41DF-9FD0-5AD221B1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③ 결합해 판단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21616A-0247-4D40-A8C9-2FA20D78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바깥 정보 + 내부 근거를 결합해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4AF89-46C1-49AB-8AFB-15F7AB64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385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우리 상황에 맞는 안 도출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DB90E3-9D84-4E07-9B36-80E33BD8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957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64450C-11A8-423F-B618-929E0A5D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529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최근에는 제미나이 대화에서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B25469-0E23-4EC9-B202-FEC16FAD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노트북 자료를 바로 불러올 수도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7C7C7-9196-4846-9DA4-51346325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67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있습니다 (마지막 모듈에서)</a:t>
            </a:r>
          </a:p>
        </p:txBody>
      </p:sp>
    </p:spTree>
    <p:extLst>
      <p:ext uri="{BB962C8B-B14F-4D97-AF65-F5344CB8AC3E}">
        <p14:creationId xmlns:p14="http://schemas.microsoft.com/office/powerpoint/2010/main" val="275864580"/>
      </p:ext>
    </p:extLst>
  </p:cSld>
  <p:transition spd="slow">
    <p:fade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B791DC-9321-43BE-9591-A12FD09B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DC582-1ACE-4B51-B829-11F05A90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04D25-D73B-4AA6-8EF8-6321CF54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C6EFC-10E9-4DF5-A012-092BE696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0B544-0F02-4F71-8FD6-33A4A484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4DE1A-D9CA-4A71-9EEB-B1039BAB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화면은 세 칸,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시작은 소스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FB58F9-AB17-4EBC-B662-A0D65FBA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왼쪽에 자료를 넣고, 가운데에서 묻고, 오른쪽에서 배포물을 만듭니다.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61D43-E179-4E3B-AE62-55F9ADB6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04594273"/>
      </p:ext>
    </p:extLst>
  </p:cSld>
  <p:transition spd="slow">
    <p:push dir="u"/>
  </p:transition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D7F39-0742-4FA6-B7F2-4179435C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B200D-E22D-4125-8FB0-648BACD2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1B226-88AD-4C21-A8C8-BA582CB0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3B3C6-565A-48E8-AA33-C253A36E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00838-DB6A-4CD5-9EC0-E0D902F4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화면 구조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dc489e1ba4531"/>
          <a:stretch xmlns:a="http://schemas.openxmlformats.org/drawingml/2006/main"/>
        </p:blipFill>
        <p:spPr>
          <a:xfrm xmlns:a="http://schemas.openxmlformats.org/drawingml/2006/main">
            <a:off x="1120245" y="742950"/>
            <a:ext cx="9951509" cy="5600700"/>
          </a:xfrm>
          <a:prstGeom xmlns:a="http://schemas.openxmlformats.org/drawingml/2006/main" prst="roundRect">
            <a:avLst>
              <a:gd name="adj" fmla="val 2041"/>
            </a:avLst>
          </a:prstGeom>
        </p:spPr>
      </p:pic>
    </p:spTree>
    <p:extLst>
      <p:ext uri="{BB962C8B-B14F-4D97-AF65-F5344CB8AC3E}">
        <p14:creationId xmlns:p14="http://schemas.microsoft.com/office/powerpoint/2010/main" val="1220354306"/>
      </p:ext>
    </p:extLst>
  </p:cSld>
  <p:transition spd="slow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7846B-BF20-4D36-8C4F-4871CB0E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12685-7B2F-4754-BD46-20ACC78F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96D3B-A16F-464D-B477-7E864075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D6739-A242-498D-A015-EE491FD6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95154-723A-4A87-96CE-17838582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1단계 · 노트북 만들기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D86C5-180B-4C58-939C-C00F90B0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새 노트북을 만들고 자료를 올립니다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529B7-6F2E-4978-8AC9-7BCC0CC0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62050"/>
            <a:ext cx="11353800" cy="4838700"/>
          </a:xfrm>
          <a:prstGeom xmlns:a="http://schemas.openxmlformats.org/drawingml/2006/main" prst="roundRect">
            <a:avLst>
              <a:gd name="adj" fmla="val 2756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5D518-EADD-49C5-9A29-FBE19F6A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19400"/>
            <a:ext cx="11353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9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실제 화면 캡처 자리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7AF93-E340-4B98-9EDE-12061C4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71850"/>
            <a:ext cx="9448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5000"/>
              </a:lnSpc>
              <a:buNone/>
              <a:def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캡처할 것 — ① 노트북 첫 화면(새로 만들기 버튼) ② 소스 업로드 대화상자(파일·드라이브·URL·유튜브·텍스트 선택지가 보이게)</a:t>
            </a:r>
          </a:p>
          <a:p xmlns:a="http://schemas.openxmlformats.org/drawingml/2006/main">
            <a:pPr algn="ctr">
              <a:lnSpc>
                <a:spcPct val="145000"/>
              </a:lnSpc>
              <a:buNone/>
              <a:def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강사 계정으로 '학교회계' 같은 담당 업무 이름의 노트북을 만든 화면이면 가장 좋습니다.</a:t>
            </a:r>
          </a:p>
        </p:txBody>
      </p:sp>
    </p:spTree>
    <p:extLst>
      <p:ext uri="{BB962C8B-B14F-4D97-AF65-F5344CB8AC3E}">
        <p14:creationId xmlns:p14="http://schemas.microsoft.com/office/powerpoint/2010/main" val="228472120"/>
      </p:ext>
    </p:extLst>
  </p:cSld>
  <p:transition spd="slow">
    <p:fade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E6DEAE-0F50-40A8-80BB-FF5ABA19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18479-7A5A-46C2-B3E7-35544D8F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7A692-7247-431E-86C5-9337E8E2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ED650-801D-4713-958F-5410B7E2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F3F6B-B37F-4A98-B727-98F96CBA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소스 5종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7E975-AC1E-45A9-AD23-8ED08D85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소스로 넣을 수 있는 것 — 다섯 갈래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09943-7993-456B-916D-E523DDA9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2DFA3-EDF3-4F86-8082-C43F2D45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76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형식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32866-6816-486E-9639-054701D1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47850"/>
            <a:ext cx="457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802CC-AE1E-4A26-96D6-9CB1CBA3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43100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넣나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8880B-F3BC-4D1B-9BD5-3E62A40F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472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ED9E7-7DD9-422E-B483-4AF7A288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431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실무 요령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5EE5F-1F1C-4C70-8563-07ED312B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38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0D083-59D2-44B9-8341-B6B17A31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파일 업로드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90670-124F-4E93-BCD0-9BD2FD34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38400"/>
            <a:ext cx="457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2D547-68E8-4E9D-B3BC-691818D9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24125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PDF · docx · pptx · txt · md · csv · 이미지 · 오디오 · ePub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F8F55A-FFF0-4CF5-9C97-4F6E9FB0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38400"/>
            <a:ext cx="472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73EE7-30D9-428F-A6B5-C03C97C7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24125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표·텍스트가 살아 있는 PDF가 가장 정확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025424-5536-4AD4-9411-748141BB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B5E14-1427-4AA5-B0DA-BB259551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구글 드라이브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DA4E1-C57C-4BCF-A27C-D378153B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28950"/>
            <a:ext cx="457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8E2ACE-9A4F-4EE8-AC96-8E70B5C5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14675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문서 · 슬라이드(100장까지) · 시트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84B3E0-C21E-4867-9D18-2AF161D2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28950"/>
            <a:ext cx="472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151DE3-2D26-4CC2-A1F0-9FCD1C2F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14675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내려받지 않고 바로 연결. 원본 수정 시 동기화 버튼 필수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E9C932-6895-4B05-AAC3-A93426E7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DE4E6-2383-4C44-95F4-89EB379A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웹사이트 URL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AA7BA9-B0DD-44E8-8F41-7871B74C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19500"/>
            <a:ext cx="457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B013D5-726C-42AD-A938-F503BEF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05225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교육부·교육청 공지, 법령 페이지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C071B1-4479-4BCD-BF8A-18D36955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472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B201E7-F934-4C8B-95D2-E1A3FC70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05225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주소만 넣으면 본문만 추출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C52D35-7790-476B-8CEB-CD4B3CF3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D7944C-8A98-4ADC-99B1-F2A7F11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유튜브 링크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505C5-A196-47D3-B724-ABAA5FE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10050"/>
            <a:ext cx="457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BBACC7-67B3-49A3-8544-79E64B05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95775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공개 영상의 자막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1A76FC-E46A-46A3-BA87-082112F7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10050"/>
            <a:ext cx="472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C11433-4622-4801-B8E5-28466595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95775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1시간 연수 영상도 핵심만. 영어 영상도 한글로 물으면 한글로 답함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D4B572-554E-4D0C-9981-9492B044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006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3583E5-A536-4256-8EFF-CB0F9361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붙여넣은 텍스트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496C48-072C-46B2-B912-EFF6BE18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00600"/>
            <a:ext cx="457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7071F2-29F6-49AB-8858-C01DE6BF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86325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메신저 회의록 · 메일 본문 · 제미나이 대화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BA2ADB-CFB5-465C-9D9A-E52C5CE3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00600"/>
            <a:ext cx="472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7D605F-4D74-4660-8646-3B9FC7FB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86325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형식이 깨진 자료는 그냥 복붙이 빠름</a:t>
            </a:r>
          </a:p>
        </p:txBody>
      </p:sp>
    </p:spTree>
    <p:extLst>
      <p:ext uri="{BB962C8B-B14F-4D97-AF65-F5344CB8AC3E}">
        <p14:creationId xmlns:p14="http://schemas.microsoft.com/office/powerpoint/2010/main" val="1230741272"/>
      </p:ext>
    </p:extLst>
  </p:cSld>
  <p:transition spd="slow">
    <p:fade/>
  </p:transition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784F84-3E22-4A69-8386-29CF1720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1642C8-B840-4D52-B9A5-C1B38D71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8BC89-7821-4F89-A3EE-37224EA2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D8715-6436-4545-B33E-C8CB3ABD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00513-B024-4F71-909D-281F0854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⚠ 반드시 지킬 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4C5C4-3489-4056-8A1C-C07D0A93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소스 준비에서 결과의 절반이 결정됩니다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1DE949-F52A-4209-81D8-C293886A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AD9D4-B5FC-4F33-BDC7-7EC30088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한글(.hwp/.hwpx)은 지원 목록에 없습니다 — 한글에서 'PDF로 저장' 후 올립니다.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FEE6E-E10D-44C1-AE67-CC42C90E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AE0E56-88A7-42D3-99E3-CA3F0D17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복사 금지가 걸린 PDF는 실패합니다. 스캔 이미지 PDF도 정확도가 떨어집니다.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2F7D0-E941-43F1-9834-C9176924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CAF11-611C-4B1D-9F13-ED24F692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담당별로 노트북을 나눕니다. 한 노트북에 다 넣으면 엉뚱한 조항이 섞입니다.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7C2DA-C4C7-47DA-97BD-B89FA436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89D13-70D5-446B-8AD8-29DB8631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GIGO — 소스의 숫자가 틀리면 결과도 틀립니다. 개정 최신본인지 먼저 확인합니다.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2D5BF-FBB2-4797-9B77-C009BD29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76FD9-5E89-4266-99C9-EA22EE78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진행 중인 사안(학교폭력·행정심판)의 구체 내용은 넣지 않습니다. 규정 문서만 올립니다.</a:t>
            </a:r>
          </a:p>
        </p:txBody>
      </p:sp>
    </p:spTree>
    <p:extLst>
      <p:ext uri="{BB962C8B-B14F-4D97-AF65-F5344CB8AC3E}">
        <p14:creationId xmlns:p14="http://schemas.microsoft.com/office/powerpoint/2010/main" val="182727580"/>
      </p:ext>
    </p:extLst>
  </p:cSld>
  <p:transition spd="slow">
    <p:fade/>
  </p:transition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BF866D-4941-4FB8-A033-C905F743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B76F5-2F81-4D6D-997A-8ECA7A64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D8321-C359-44E5-B994-75138958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30CD5-AF9E-41C8-B85D-01628F44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2CF5F-1B6B-4C07-A8C6-96899BBA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소스 준비의 기초 공사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D69E2-6A7E-489A-835F-E854AA36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AI가 잘 찾게 만드는 정리 습관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F6F8-CD48-4566-8BBE-F51D790B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60067-8918-4282-A986-C8DCBD3C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98657-7C63-4CB8-AC75-648F3DD9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파일 이름에 날짜를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B2C33-A9AA-4D14-8153-762D658F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260811_학교회계지침_개정본.pdf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B89CC-6724-4829-B25E-62FACDE2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14A7D-5898-4B96-8F9C-EDE3B335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앞에 YYMMDD를 붙이면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BE6F67-5D29-4CA8-8352-6F7715B8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시간순으로 저절로 정렬되고,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2A166-0612-4210-B230-A15933C2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최신본이 무엇인지 한눈에 보입니다.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49ADBE-DE67-44A0-82B0-64B57941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324ED5-8BCA-4D11-9479-8DCFABD1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A99E14-BC62-48C4-A5DC-C1CB7F21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공백 대신 언더바(_)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0DBA6-3026-456E-A022-FF1D72D2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81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학교 회계 지침.pdf  →  학교회계_지침.pdf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A635E-3F8F-488D-88F4-92064DBE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385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697214-8DDA-4C18-A648-F6996696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공백이 든 파일명은 시스템이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62889-1D5A-44FE-BB10-F61C768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529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경로를 끊어 읽는 일이 생깁니다.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F3241-44E7-4527-87B1-EA7917DA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6101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AI·자동화 도구 어디서든 안전합니다.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85AA5F-F30E-46E3-8A18-0A275A8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9469F4-3008-41B7-A58E-4A0BD7E5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AD7A89-F1D7-4E36-9EA0-82A55E5D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폴더 앞에 번호를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F35171-E4CF-446E-8F06-F2DB83F5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00_원본  01_변환PDF  02_결과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2A5186-B328-4139-9130-CB009AA1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385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2761BD-0957-4249-B508-B621358E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957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정렬 순서가 고정되고,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4B41CD-6B32-45D9-A625-BFDDA607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529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오전 Cowork 실습의 폴더 규칙과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B3F4F2-0ABA-412D-9E62-E25D769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그대로 이어집니다.</a:t>
            </a:r>
          </a:p>
        </p:txBody>
      </p:sp>
    </p:spTree>
    <p:extLst>
      <p:ext uri="{BB962C8B-B14F-4D97-AF65-F5344CB8AC3E}">
        <p14:creationId xmlns:p14="http://schemas.microsoft.com/office/powerpoint/2010/main" val="1364807461"/>
      </p:ext>
    </p:extLst>
  </p:cSld>
  <p:transition spd="slow">
    <p:fade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9FE9BD-6C62-466B-ACA5-E15489AC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B8520-3A1C-4868-9C30-DBEB417F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C448A-BB69-464C-9758-2B5C60B8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1ECA5-9576-4E70-94A6-A8155F90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83308-4BE8-47FB-882D-F0A3F04B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ASKING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C0125-564C-417F-8AAD-73079392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"요약해 줘"는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초보의 질문입니다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EB695-DED9-4AF6-81E5-AB9734C2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질문의 구조를 바꾸면 답의 수준이 달라집니다. R-T-F와 세 가지 치트키를 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CE9B9-ED15-4456-B5B7-832EBF41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0616314"/>
      </p:ext>
    </p:extLst>
  </p:cSld>
  <p:transition spd="slow">
    <p:push dir="u"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C0C6A3-5A2F-49F5-8EC6-35A191C6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B895F-B626-41EE-A620-A61AE840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0AF25-B458-4C90-95EA-1E8E0B89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30277-7F28-44CD-A2DD-F3E7BF56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ADAFA-2C3B-402E-994D-7358FCA9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질문의 구조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B3113-B7E7-4FE7-8CC0-A849AD9F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R-T-F — 질문을 세 덩어리로 나눕니다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72686-450E-4E2B-9B8C-BA7DD113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5D25A-4C29-484B-9FF5-DF18BCE3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B78F2-3116-4577-8285-C9E10219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R · 역할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Role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2DF562-4CA5-4F31-90A6-259FECC0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누구의 머리를 빌릴 것인가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38FA8-F5C2-450F-BDDB-1FFD39E7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역할이 없으면 가장 평균적인 답이 옵니다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6C128-E501-4D3C-A726-4577DE28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"당신은 학교회계를 15년 담당한 주무관입니다"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E69636-F387-4526-A77D-FB8DC3BC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역할을 정하는 순간 그 분야 지식을 우선 씁니다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7CC762-5F48-4093-97EF-596B7F52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99958-65A9-404A-AA6C-130615E9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DC4234-99FB-4074-AF12-C57B686F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T · 작업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Task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4735B7-182F-4062-BB0D-36C0B3F4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813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네 가지를 적습니다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515032-785C-43C0-85B4-5024E4BD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194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대상 — 누구에게 줄 답인가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F404F-2AF6-42AA-844B-2DB6B69C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576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주제 — 무엇을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49D8FC-D963-403D-A581-774B9821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957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목적 — 왜 필요한가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B8DFFA-60AB-4574-9F67-624CC6B7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5339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조건 — 무엇은 하지 말아야 하는가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BC87D3-3010-4404-8358-7F2C3E9F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AD0CC-FCBA-4103-A7BF-A01C1427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EB8AC4-E309-4F7C-A9B7-8B56707E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F · 형식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Format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0CD231-8CFA-496D-BD21-F0BC2C45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형식을 안 주면 줄글로 옵니다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FFD6FC-5D89-4FDC-B737-2E5B8142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194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표 — 비교·대조에 최적, 시트로 바로 붙여넣기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D4901C-5B9C-4410-A557-CB61732D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576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체크리스트 — 실무 점검·안내문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4B967A-14D4-486B-983A-1EBBEC90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"조항 번호를 별도 열로" 같은 지정이 결정적</a:t>
            </a:r>
          </a:p>
        </p:txBody>
      </p:sp>
    </p:spTree>
    <p:extLst>
      <p:ext uri="{BB962C8B-B14F-4D97-AF65-F5344CB8AC3E}">
        <p14:creationId xmlns:p14="http://schemas.microsoft.com/office/powerpoint/2010/main" val="1638076971"/>
      </p:ext>
    </p:extLst>
  </p:cSld>
  <p:transition spd="slow">
    <p:fade/>
  </p:transition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37B7C-1314-47A6-B255-74486E2C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815AF-A4B2-47AD-94E6-74A850D0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08500-68E0-4E72-B05D-07E1DCDA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E2676-C3E2-4832-97F8-7EDA28C2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3EC79-1616-4BD3-8EA8-A8202D43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질문 업그레이드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F3D49-BB9D-4231-A84A-C9B9FA0B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프로는 이렇게 묻습니다 — 전략적 질문 3형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30602-A9E8-45FD-A729-8464E9A1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5DF70D-CD48-4CE0-AE69-D337F4FF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리스크 추출형 — "이 지침에서 학교 현장과 충돌할 수 있는 지점 3가지만 근거와 함께 뽑아 줘."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97DC4-61D5-4CCD-BE91-1550C15C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05DE1-B42E-496B-A7A9-3470AABB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289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설득 논리형 — "이 변경에 반대할 학교 담당자를 설득할 논리 3가지를 지침 원문에 근거해 짜 줘."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1360D-95A6-4D83-801B-60CCF264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AF470-1BC4-481C-8CCA-3433373D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528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비교 표형 — "개정 전후의 달라진 조항을 [조항 번호 · 변경 전 · 변경 후 · 현장 영향] 표로 비교해 줘."</a:t>
            </a:r>
          </a:p>
        </p:txBody>
      </p:sp>
    </p:spTree>
    <p:extLst>
      <p:ext uri="{BB962C8B-B14F-4D97-AF65-F5344CB8AC3E}">
        <p14:creationId xmlns:p14="http://schemas.microsoft.com/office/powerpoint/2010/main" val="333997736"/>
      </p:ext>
    </p:extLst>
  </p:cSld>
  <p:transition spd="slow">
    <p:fade/>
  </p:transition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C1C1CC-7BFA-4EEA-A0AE-B0047ABA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5422E4-DEE6-4FDC-A2F2-9D76CA57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59E7B-D00A-48B0-9460-64A66049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91E0C-E0F2-4AFC-8AFB-E13B2D77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C26CA-BB94-4C8B-8388-5BAF716B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질문을 잘 못하겠을 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A4DFA-F0AF-4B1B-9F1D-1811A18A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치트키 세 가지 — 이건 꼭 써 보십시오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C7C21-D48A-4E11-A7AB-95C8151D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F37EC-C73A-4944-B929-11FDCEF7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B434A-959A-4CE0-BBCE-9848DF93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메타 프롬프트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되묻게 하기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36AC55-DDCE-4BED-A342-B41B5594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"최고의 결과물을 만들기 위해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AFAB1-E438-4F27-91E4-6F1E08C4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나에게 필요한 정보를 먼저 질문해 줘"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7DB69-ABFF-4247-906B-5A18343F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16ABEE-FDEC-4E93-A13F-3EFE374F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AI가 역으로 물어봅니다.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1BD7A9-7B85-496E-8024-D1237CDC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답만 하면 좋은 프롬프트가 완성됩니다.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876E0-22A6-4A72-91A6-826EB073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프롬프트를 못 쓰겠을 때 가장 빠른 길.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7AF12-4DE3-48FF-94A9-BDA1DFCF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825867-ECFB-466B-9E13-D22A4F5A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2E397-7761-4DB1-B351-1F914741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반박 요청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무료 컨설팅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5832C2-D45B-428B-B17A-C230A030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813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"칭찬은 생략하고,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D06977-3DEB-4454-A6D9-900BF4F6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이 계획의 논리적 문제점 3가지를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68B3F2-E223-4580-951F-5489F0DD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814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근거와 함께 반박해 줘"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3A3A25-0EE1-4976-818E-4F1A6533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814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D865B-F7C4-494B-BB31-909582AD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3815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AI는 기본적으로 칭찬합니다.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975459-8D46-4877-96DA-5DDD6E92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7815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반박을 시켜야 검토가 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6EB2FB-5893-4A02-A75A-2F4E41FB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16665-597D-404D-88FD-0D10F659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FA90EF-0133-4FCF-B9AA-39DA032E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③ 프롬프트 코칭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매일 성장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B57036-22F1-429D-B8BE-26ECF2ED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설정에 한 번 넣어 둡니다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043680-D1F9-4B4C-82ED-CE5DEFB5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11D7A6-675D-4492-BF29-6FE6BF6E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814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"내 요청에 답하고 나면,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92883-E0E7-4AEE-B577-11378C2B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814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마지막에 프롬프트 개선 제안을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191CE9-81C7-4CA2-A56E-83179D73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815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항상 해 줘"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EF6DDD-7C68-469C-8EEE-A910638F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8155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0CDB0D-A738-4FFA-9A6D-3A588213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81600"/>
            <a:ext cx="3171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쓸수록 질문이 좋아집니다.</a:t>
            </a:r>
          </a:p>
        </p:txBody>
      </p:sp>
    </p:spTree>
    <p:extLst>
      <p:ext uri="{BB962C8B-B14F-4D97-AF65-F5344CB8AC3E}">
        <p14:creationId xmlns:p14="http://schemas.microsoft.com/office/powerpoint/2010/main" val="1023891870"/>
      </p:ext>
    </p:extLst>
  </p:cSld>
  <p:transition spd="slow">
    <p:fade/>
  </p:transition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BD44F-3A94-4CD7-AB6D-30530575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C3A6D-C1A6-4DD5-AF36-6AD3CF9F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4259D-8F89-4872-BC7D-C24843E6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33C56-76A8-47EB-8637-3663C023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47D90-9CE0-44B5-A6CB-0319E83A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그대로 복사해 쓰는 지침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03B94-86FE-4114-916D-B7BF8074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규정 비서 지침 — 채팅 설정 → 맞춤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864C4-371A-4A06-952E-EE83B7AE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31CFE-2732-42A4-B55A-1AF2C32E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당신은 춘천시교육지원청 [담당 업무] 규정 비서입니다.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답변은 반드시 현재 선택된 소스만 사용하고, 다음 순서로 작성하세요.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1) 결론 : 3문장 이내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2) 근거 : 문서명 · 조항 번호 · 페이지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3) 실무 처리 순서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4) 주의할 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소스에 없는 내용은 "소스에 없음"이라고 답하고 추측하지 마세요.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규정이 서로 충돌하면 발행일과 적용 범위를 비교해 알려 주세요.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확실하지 않은 부분은 "확인 필요"라고 표시해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──────────── 질문할 때 쓰는 형식 ────────────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[상황] 우리 학교 교사가 (구체적 상황)입니다.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[질문] 이 경우 (무엇을) 어떻게 처리해야 합니까?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[요구] 근거 조항 번호와 함께 처리 절차를 순서대로 알려 주세요.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규정에 명확히 없는 부분은 "규정에 없음"이라고 표시해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4F8F3-C581-4853-AFB2-79EE7FA2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960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실습 가이드 「실습 자료실」의 카드에서 복사 버튼으로 가져옵니다 · 실습 파일 「프롬프트/07_규정비서.md」 에도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28773446"/>
      </p:ext>
    </p:extLst>
  </p:cSld>
  <p:transition spd="slow">
    <p:fade/>
  </p:transition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044F1-7318-4B64-8193-A6D4D69F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CBB1E-3972-44C1-B3B4-01330599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4D70D-9683-4EFD-9584-6DBF1177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93BFE-822D-4166-8C95-4C11B7FC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68134-BD2A-43F2-8E14-AED5903E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Pin → 재구성 → 내보내기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DC14E-17B7-4A19-952D-48DF73F9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쓸 만한 답은 저장합니다 — 노트가 보고서가 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4ABD9-989C-44D7-9DEF-DA46CC9F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EEC46-94E3-44AE-8616-15172C8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71A0F-6B86-4022-BD04-85BBD4E5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답변을 노트로 저장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C6137-0E3E-41F7-8601-814C8399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좋은 답변이 나오면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A1AF5-FEDD-4DCC-8DCA-F750DCBC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저장(Pin) 버튼을 누릅니다.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A88A61-FEB8-48FA-BC37-09E3BDFB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02E3AB-F288-4884-A076-04585CF8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오른쪽 '저장된 노트'에 쌓입니다.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1B7E9-2600-408A-AFF3-CCF104A3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대화가 흘러가도 사라지지 않습니다.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DD252-D09D-4D43-AD8F-9745AA7C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0851E-0463-4321-9C72-7BCEE510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A9779-EDC9-484D-8CDE-4CBE0F28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노트를 골라 재구성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B789CC-4337-4C63-8EFC-675995DB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813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저장된 노트 여러 개를 선택하고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76A03B-03D3-474C-A6E8-F2C331CC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194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A47BF-88BD-489A-A4A7-DCAA809E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576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"이 내용들로 부장회의 보고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55F11C-3540-4CF0-BEC8-0B1EA668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957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스크립트를 써 줘"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E10E6C-DEF6-4862-AB21-AA767CB0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5339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D7D891-82E8-4CA3-BFFF-C6DA278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720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흩어진 답변이 한 편의 글이 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7187D-A6C0-4935-B250-6DD1A661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3848100"/>
          </a:xfrm>
          <a:prstGeom xmlns:a="http://schemas.openxmlformats.org/drawingml/2006/main" prst="roundRect">
            <a:avLst>
              <a:gd name="adj" fmla="val 367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FEFEBA-18E7-476A-9823-A462C32A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47850"/>
            <a:ext cx="3629025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EC161C-E15B-4939-8A12-C3D12B4F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7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③ 문서로 내보내기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90C1D9-C506-4916-B196-F8052B6A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완성된 결과물을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099C2A-5035-43A1-8B5D-39893262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194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구글 문서로 내보냅니다.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E3D620-231C-4BE9-B928-7CC88806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576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8BE818-9CF0-4538-86FD-9F91F0FC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보고서 초안의 80%가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1B92AF-2E55-40CE-87FC-B631162E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3390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여기서 끝납니다.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5525C2-7CF4-4B4B-8922-660E3BB7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972050"/>
            <a:ext cx="3171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나머지 20%가 사람의 검토입니다.</a:t>
            </a:r>
          </a:p>
        </p:txBody>
      </p:sp>
    </p:spTree>
    <p:extLst>
      <p:ext uri="{BB962C8B-B14F-4D97-AF65-F5344CB8AC3E}">
        <p14:creationId xmlns:p14="http://schemas.microsoft.com/office/powerpoint/2010/main" val="1010599448"/>
      </p:ext>
    </p:extLst>
  </p:cSld>
  <p:transition spd="slow">
    <p:fade/>
  </p:transition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B89A9-87C6-4709-8047-FE0C3A50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84EEE-9FA5-4243-AEE7-CF3CA4D2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75FC9-650E-4A70-A132-6204E018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0805F-F24F-460B-BFB1-2BEECFE4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9724E-9197-4A17-8A04-91680DDB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3단계 · 질문과 근거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BF74E-8B1C-4E59-A628-0995ADAB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실제 규정 질의 — 인용 번호가 붙은 답변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D3599-A4F1-49FB-AF78-A34F415D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62050"/>
            <a:ext cx="11353800" cy="4838700"/>
          </a:xfrm>
          <a:prstGeom xmlns:a="http://schemas.openxmlformats.org/drawingml/2006/main" prst="roundRect">
            <a:avLst>
              <a:gd name="adj" fmla="val 2756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BD533-2CA3-4F31-BA1C-B12B50D2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19400"/>
            <a:ext cx="11353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9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실제 화면 캡처 자리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2B154-FDE4-4C98-8971-F75C9326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71850"/>
            <a:ext cx="9448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5000"/>
              </a:lnSpc>
              <a:buNone/>
              <a:def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캡처할 것 — 강사 담당 규정을 올린 노트북에서 실제 질문을 던진 화면.</a:t>
            </a:r>
          </a:p>
          <a:p xmlns:a="http://schemas.openxmlformats.org/drawingml/2006/main">
            <a:pPr algn="ctr">
              <a:lnSpc>
                <a:spcPct val="145000"/>
              </a:lnSpc>
              <a:buNone/>
              <a:def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답변 문장마다 붙은 인용 번호(작은 숫자)와, 번호를 클릭해 원문이 열린 모습 2장이면 가장 좋습니다.</a:t>
            </a:r>
          </a:p>
        </p:txBody>
      </p:sp>
    </p:spTree>
    <p:extLst>
      <p:ext uri="{BB962C8B-B14F-4D97-AF65-F5344CB8AC3E}">
        <p14:creationId xmlns:p14="http://schemas.microsoft.com/office/powerpoint/2010/main" val="582256678"/>
      </p:ext>
    </p:extLst>
  </p:cSld>
  <p:transition spd="slow">
    <p:fade/>
  </p:transition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1FD59E-FB39-4C4A-A3A5-1A9D8DB3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99F20-8EA9-4321-9232-8E4A343B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7A869-D0EF-4F0D-83EA-2096CB1C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0A7CB-B2A1-497A-AC72-517E241E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D32A1-FBF3-4A33-A3D9-F63B5BE1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⚠ 정보보호 · 보안 철칙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C11D3A-77E7-4E36-9874-FB1B19A1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⚠ 개인정보는 굳이 올릴 필요가 없습니다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57D53-A469-4B9D-B18B-B92D77B1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A14CF-D58A-49D2-9DD0-81B0AF17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규정과 지침만 올립니다. 사람 이름과 사안 내용은 넣지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70A68-AA7A-4919-B9A2-86B59DC2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EA75D-D6D8-4432-9D13-88080CD0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사안은 질문에서 익명으로 설명합니다 — "A교사가 B상황일 때".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E6A9A-62BD-41D0-839D-29436E83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2E57F-9BC7-4D2C-9E2F-0E0FD623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학교폭력 · 행정심판 · 인사·감사 자료는 어떤 형태로도 올리지 않습니다.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E9A74-1F88-46A0-B13A-9CCFC629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97E740-E48A-4FFA-8323-14B0ED7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부서 공유 전에는 소스 안에 실명·연락처가 없는지 한 번 더 확인합니다.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BAAFA-3547-4B72-9E43-90F92225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22691-75B4-4F4F-8C42-96D80A07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개인 계정이 아니라 기관 계정으로 작업합니다 — 업무 자료의 소유와 관리가 분명해집니다.</a:t>
            </a:r>
          </a:p>
        </p:txBody>
      </p:sp>
    </p:spTree>
    <p:extLst>
      <p:ext uri="{BB962C8B-B14F-4D97-AF65-F5344CB8AC3E}">
        <p14:creationId xmlns:p14="http://schemas.microsoft.com/office/powerpoint/2010/main" val="1223540140"/>
      </p:ext>
    </p:extLst>
  </p:cSld>
  <p:transition spd="slow">
    <p:fade/>
  </p:transition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80E711-FD89-462F-B816-2F4EF4E6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B7F97-21BF-42B4-AB7E-A5F04121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B66B7-E7B8-4B8A-837E-A80B7006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06A37-B70B-44A8-92E1-11FB4841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E07BA-3672-40E9-96E4-225EF8B5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검증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6D234-60F1-4C84-8E13-3E56CDC4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답변보다 인용을 먼저 확인합니다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A5C80-20BF-4B0C-A1E3-D773F7A9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60ED7-B6D7-4E2E-B083-DDED67BE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인용 번호를 눌러 실제 문장이 그 결론을 지지하는지 확인합니다.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FBC2F-66EE-48D0-AB35-D65E57EB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46C14E-CD2F-4960-BBB0-F0CA1752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시행일 · 개정일 · 대상 학교급이 지금 사안과 맞는지 확인합니다.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AE0F7-564B-4EEA-A104-6AAE6CB1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126B6-CDD6-4DBC-BEE8-843D1F5D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법령 · 교육부 지침 · 시도교육청 지침이 충돌하면 담당자가 우선순위를 판단합니다.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5F00F1-B199-4790-9B31-D70B5B0A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610322-E66A-4529-80B4-3024EE74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소스 기반이라도 '해석'은 AI가 합니다. 조항을 옮겨 온 것과 해석한 것을 구분해 읽습니다.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9699E-BD94-476F-9C61-59CED5CC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A35595-E0AB-42EC-9F2B-37A3660E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최종 행정 판단과 공문 발송은 사람이 책임집니다.</a:t>
            </a:r>
          </a:p>
        </p:txBody>
      </p:sp>
    </p:spTree>
    <p:extLst>
      <p:ext uri="{BB962C8B-B14F-4D97-AF65-F5344CB8AC3E}">
        <p14:creationId xmlns:p14="http://schemas.microsoft.com/office/powerpoint/2010/main" val="1565908589"/>
      </p:ext>
    </p:extLst>
  </p:cSld>
  <p:transition spd="slow">
    <p:fade/>
  </p:transition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57333-6277-4820-B0CF-0F05B83F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1520C0-0EEF-4E04-9957-C24F781D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8615F-7D14-4CFB-91D8-59E80987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06D86-25B6-4E9A-BF31-92000A18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C6798-00C6-4F3A-A25F-624DAB63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7265F-ED66-4D65-88C6-6F956D06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8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BD5A6-046B-4950-B9BF-640BDAC5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7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25분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63944-86A0-4E8F-845D-C082A51C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76350"/>
            <a:ext cx="1120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우리 부서 규정 비서 만들기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05870-3869-4D58-87F1-04A49F96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120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내 담당 업무 질문에 조항 번호까지 답하는 노트북 만들기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5D9B8-E4C0-4CCE-A50A-96572587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0"/>
            <a:ext cx="723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4630E-57B9-496B-B81C-CA04953D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F7071-F370-47FA-B4E7-DEA2E9E0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담당 업무 규정 3~5개를 준비합니다 (한글은 PDF로 저장)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98DAB-E4B5-491A-8978-2E1C212D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새 노트북을 만들고 소스로 올립니다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BA9A30-0BFA-4BFD-A18F-BB06584A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채팅 설정 → 맞춤 → 규정 비서 지침을 붙여 넣습니다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5E75F4-8783-495B-85A3-D8BA34B2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최근 학교에서 실제로 받았던 질문을 그대로 물어봅니다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4F55C-8721-409B-87C5-ED43DD41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인용 번호를 눌러 원문을 확인합니다 ← 이걸 안 하면 실습이 무의미합니다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3FF82-8126-48F6-890A-EFB163B0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좋은 답변은 저장(Pin)해 두고, 질문을 좁혀 다시 묻습니다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B74095-8ED2-46B4-A0A5-5B4E8970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6957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87E10D-7C19-4DF9-8790-FD1CD6B8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61CF15-817A-485D-A485-8F639C54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19400"/>
            <a:ext cx="320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부서 규정 비서 노트북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94CE7C-6D91-407A-9150-4BE29265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76750"/>
            <a:ext cx="320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질문·답·확인한 조항을 실습 가이드 게시판에 '실습 6'으로 올립니다.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7FEB6D-607E-4DD5-8C09-2A5032FC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1131942572"/>
      </p:ext>
    </p:extLst>
  </p:cSld>
  <p:transition spd="slow">
    <p:fade/>
  </p:transition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E43D88-D1AD-445B-877D-16B775E3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24584-5875-42D7-98CB-72C7C419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DBB5F-B59D-4DC5-8122-B8119C25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4BE62-9E92-4E0A-935B-22DD5EF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3DE46-BC0F-4E55-B23E-1281D98B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STUDIO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511A0-417D-41AD-8E82-8495B79B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하나의 근거를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여러 배포물로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99D02-2432-4E92-B221-FFB28E7B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같은 소스에서 FAQ·인포그래픽·슬라이드·퀴즈·오디오가 나옵니다. 서로 어긋나지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ECD3F-6273-4FE5-8211-1FEFC2EA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6326534"/>
      </p:ext>
    </p:extLst>
  </p:cSld>
  <p:transition spd="slow">
    <p:push dir="u"/>
  </p:transition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6867F-931F-42BB-88B1-19372337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64CAE-40CB-4554-A316-61EEAEB3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6CC4B-F26C-4E04-86A1-9D192632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CD191-CD09-4AEB-842D-BE9CE56E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9473D-A4B8-444C-B2D7-B962D07D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스튜디오 개념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9dea3d5584e9b"/>
          <a:stretch xmlns:a="http://schemas.openxmlformats.org/drawingml/2006/main"/>
        </p:blipFill>
        <p:spPr>
          <a:xfrm xmlns:a="http://schemas.openxmlformats.org/drawingml/2006/main">
            <a:off x="1120245" y="742950"/>
            <a:ext cx="9951509" cy="5600700"/>
          </a:xfrm>
          <a:prstGeom xmlns:a="http://schemas.openxmlformats.org/drawingml/2006/main" prst="roundRect">
            <a:avLst>
              <a:gd name="adj" fmla="val 2041"/>
            </a:avLst>
          </a:prstGeom>
        </p:spPr>
      </p:pic>
    </p:spTree>
    <p:extLst>
      <p:ext uri="{BB962C8B-B14F-4D97-AF65-F5344CB8AC3E}">
        <p14:creationId xmlns:p14="http://schemas.microsoft.com/office/powerpoint/2010/main" val="1829487078"/>
      </p:ext>
    </p:extLst>
  </p:cSld>
  <p:transition spd="slow">
    <p:fade/>
  </p:transition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EEA6D1-CB68-408E-ADE1-A41A7647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5EBEE-C91B-41F2-A034-3D66D88F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92D24-C2EA-4640-AF75-CFA44E55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192272-2192-43AE-9EEB-260167B6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4134D-E98D-4746-BC57-9D070EF6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메뉴 지도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ED935-F14E-4A3F-8F5F-C9477AE9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스튜디오 메뉴 — 무엇을 언제 쓰나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6E836-A438-466E-9984-23BECE11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ACB2E-89FB-489B-B531-0A5174C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7C9AA-0E54-4614-9031-925B6E2D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478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9173C-903F-4EBA-B08A-9788F9EB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431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무엇이 나오나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379B9-D47F-4C61-8857-DF94D310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4785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393DA-AE83-4C39-AA6D-0D3866B9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이럴 때 씁니다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E04D02-511F-4D5C-94A8-8E59DB3B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622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C294FB-C5EE-4861-9285-F0D3DB3C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보고서 · FAQ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7AF915-4E10-4D76-86FE-8A08B502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622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02CD6-ECCE-4C60-9B40-733944B6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4792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흩어진 정보를 주제별로 재배치한 초안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BE65F-802E-4F89-BD9D-E5B3296B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6220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EEAB09-2AA1-4853-94AA-CB0C465B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4792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학교 배포용 안내문 · 질의응답집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B36282-FB64-4B82-A2F1-1A660B48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7655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20AE5-CBAE-4CF7-88D9-370D7B0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인포그래픽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D3738-1096-4EE9-B4A8-24BCA92F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765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1E31A2-1060-4AEC-9CF2-A3083EA7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6227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데이터를 시각 레이아웃으로 변환한 이미지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EE5078-FFFF-4123-9948-8489FCE5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7655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13D212-3241-48F3-8548-0158DFBB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6227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게시용 · 공문 첨부 · SNS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9B6825-1E9F-4FFC-B86A-808E721E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337A68-40C3-49DF-A001-3E6A0CED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슬라이드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4291D8-2A8D-43BA-B9A6-8C53B938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909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014D3-D84B-4AD3-8A1F-50BEDC98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7662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장표별 핵심 메시지 설계도 (PPTX 내려받기)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CEA17C-D3D7-45B2-8733-FB234754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7509CA-7C7E-478B-86FB-0ABF0F5C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7662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연수·설명회 자료의 뼈대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35DE89-09E8-4387-8F2F-FF6AF635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FE4E5C-A251-44CF-96D1-84A46102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마인드맵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735266-6265-46AB-9B77-34E9CD7C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052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DAAFE5-5A89-4BFE-8D06-A84682D1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9097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정보 관계를 방사형으로 시각화 · 이미지 저장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81B638-B082-4D00-9BC2-8C9A711C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90525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B3C582-B203-41BE-813D-4AA76D00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9097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복잡한 지침의 구조를 내가 먼저 파악할 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DD4E63-B08C-4069-861E-DFE07FCF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196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4AA06A-F0A7-4EEB-B1C4-EA232D96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오디오 개요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6E6CC6-8DAE-41E7-8B0B-7C08D66C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196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CC33CA-AF46-415F-A30D-017D6886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50532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두 진행자가 대화하는 팟캐스트 (한국어 지원)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B6DA8D-0DA7-4F69-958C-0FCCE9CD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1960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0EA8A31-B94B-41FB-9B44-5DC52C4D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50532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출퇴근길 · 사전 학습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B1FB07-B8D6-4DFE-A791-D66C46ED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3395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05C058-A7E2-4625-B810-0840388E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동영상 개요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941233-3291-4EB1-840E-5CEEB23F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339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809A39-9920-45BD-A0B8-D8ADADE2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01967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나레이션 + 슬라이드 영상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C58C642-407E-4FC3-9B7F-38D35DB7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93395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75AAE2E-5716-4B42-BA5F-B5D8AF82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1967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읽기 싫어하는 대상에게 브리핑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2EC0D5-FD11-41B7-B1FC-8CF1E702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FD8D1FA-052D-4A66-9F92-05DA75A7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플래시카드 · 퀴즈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3B020A2-30DF-481D-9926-54C5D919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483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214B92-7754-4255-A09B-868361E5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534025"/>
            <a:ext cx="386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용어 카드 · 객관식/서술형 문항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4CD844-F2AF-4E8E-A528-3A9BA009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48300"/>
            <a:ext cx="520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7364B9-DB7D-4A18-91A4-DE3677F8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534025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담당자 사전 점검 · 연수 이해도 확인</a:t>
            </a:r>
          </a:p>
        </p:txBody>
      </p:sp>
    </p:spTree>
    <p:extLst>
      <p:ext uri="{BB962C8B-B14F-4D97-AF65-F5344CB8AC3E}">
        <p14:creationId xmlns:p14="http://schemas.microsoft.com/office/powerpoint/2010/main" val="1286769400"/>
      </p:ext>
    </p:extLst>
  </p:cSld>
  <p:transition spd="slow">
    <p:fade/>
  </p:transition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ADE48C-D7DD-4070-8A89-0D3CBD36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9AA5C-F03C-4BFE-89B2-1970D8F7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C23E9-1A29-47E5-BA4F-8CAB8232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63AA9-D6DE-497A-86B8-D209000C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88B51-4093-48AC-B619-12DF2015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결정적인 한 클릭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7BDA4-5A85-4C01-AEB9-9195D5E8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★ 맞춤 설정(연필 아이콘)을 안 쓰면 절반만 쓰는 겁니다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6ABF54-14E4-43A1-B0A3-BFC86C09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2096EE-1FCE-4FCF-A766-5B077088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23D0E-48F0-4E9A-AA8D-02497854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그냥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493C6-176D-47DF-8053-E24663F7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생성 버튼만 누르면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169D2-8F24-4680-8F79-81F146FE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가장 무난한 형태로 나옵니다.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0128C7-7C88-42A7-AF30-C953AD7F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B0985-417E-46A9-8490-E345A670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대상도, 분량도, 용어 수준도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E6DFE6-B564-4C2C-ABB7-D5036F59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AI 마음대로입니다.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B5D171-5BDA-4DEB-BAA7-68600DC4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74593-7E3F-455F-8D1F-AC7FA934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대부분 여기서 멈추고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3433F-5590-47FB-AEFC-15B66C70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"별로네" 하고 돌아섭니다.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9DFB64-63A3-47B7-8A54-697EAD6E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6E79EA-422B-4CC4-A0D3-5F10DECD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86E188-F710-4D7B-BD20-F0A11AF7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연필 아이콘 → 맞춤 설정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3ADE8-5A30-40E6-A54C-15C88E52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각 메뉴 옆 연필 아이콘을 누르면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9D711-3544-48C3-B8D1-2BDA6917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"어떻게 만들지"를 직접 적습니다.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48EB3D-C45D-48E3-9547-FF25AD7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F1109-4249-4005-AF65-3C0D4F53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"학교 담당자가 처음 읽는다는 전제로,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50412A-AB69-4030-BDEA-B608C0AD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전문 용어는 풀어서"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A70BB2-2145-4212-A90C-15811867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"표는 반드시 조항 번호 열을 포함"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0EFA91-DF6E-40BE-AD9F-0AC9962E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"텍스트 최소화, 5장 분량으로"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2ED86-7B98-4FDF-BF50-9477E186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D7897B-0534-4F1D-997F-280501CB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29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앞에서 배운 R-T-F를 그대로 씁니다.</a:t>
            </a:r>
          </a:p>
        </p:txBody>
      </p:sp>
    </p:spTree>
    <p:extLst>
      <p:ext uri="{BB962C8B-B14F-4D97-AF65-F5344CB8AC3E}">
        <p14:creationId xmlns:p14="http://schemas.microsoft.com/office/powerpoint/2010/main" val="1423135210"/>
      </p:ext>
    </p:extLst>
  </p:cSld>
  <p:transition spd="slow">
    <p:fade/>
  </p:transition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02459B-AA7D-4005-87C7-C8ADE774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B9552-B537-4823-B470-6B14734A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505CF-98FC-4141-AC43-60C6FF8A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A1BBE-1695-47D9-AB25-749085AE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ECBF5-BC25-42A8-81A6-34CCBD0F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오디오 · 플래시카드 · 퀴즈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B52C3-254A-426C-A4D6-BC985352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귀로 듣고, 문제로 풀게 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4D10F-D20C-44C2-9987-8E89831A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226D7-59DE-4EA7-86D6-00D9F955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15A90-CDD0-450E-93C4-B8ACC042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오디오 개요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E68E0-9A77-42FC-A588-B4CA549D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두 AI 진행자가 내 자료로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38A51-EB42-4115-AB95-3CD9A1DC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토론하는 팟캐스트를 만듭니다.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F0A5B-5586-4B18-B967-B8893125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한국어 소스 → 한국어 방송.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45BA4-6218-4B05-84EA-0C90A9DF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3D1924-FFEE-49DF-B71A-A3904321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맞춤 설정으로 형식 선택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D1D0B-7717-40DB-A979-F053C7FA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심층분석 · 요약 · 비평 · 토론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8A15F-C901-4BF2-B485-AB08CC36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17E84-C7F0-4D9C-942F-B77A6ADF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"출장 이동 시간이 학습 시간이 됩니다"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01AF2-0D79-4790-A895-655764DC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079420-89FE-475A-B6EE-17610934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A3DE6A-EF16-4AAB-86A8-85723335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플래시카드 · 퀴즈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5865DC-B3DC-4AE0-9E73-0477151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앞면 용어 + 뒷면 설명 카드,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76C37E-1EB6-475F-8D5C-C95AAE68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813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객관식·서술형 문항을 자동 생성.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B71045-37F4-43FF-8D73-0CEDFAB6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93AFF-5078-4587-8BA2-E0449451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814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새 지침 배포 전 — 학교 담당자용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A98326-573F-49C9-A2B1-F94540C0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815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사전 점검 퀴즈로 만들면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83B96B-4BAE-4C72-830F-A71C2550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815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무엇을 헷갈리는지 바로 보입니다.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39B1F8-BB25-4C84-86B3-B408B01A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816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D0C986-6F79-4BC0-8D67-9F3B431B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연필 아이콘으로 문항 수·난이도·주제를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EE8D0A-FC99-4D32-B8A5-58499DE0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9817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직접 정할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03406376"/>
      </p:ext>
    </p:extLst>
  </p:cSld>
  <p:transition spd="slow">
    <p:fade/>
  </p:transition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4603EA-758E-44CD-8831-15ECC5E9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AE74A-93C8-4F5F-A774-B91D468A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1AB7D-F2A6-458F-AB7E-24FE7E0A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AE40B-E1B2-4A54-BE08-2521EEC6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70351-921D-4917-8B2C-25CFCBF5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배포 전 점검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1D82C6-3623-4DF9-B03C-D2E3F759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생성된 배포물도 다시 검증해야 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7E584-67A9-424D-8876-DFDBE951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78D81-8C63-4799-837C-85CA7CA5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FAQ의 숫자 · 조항 · 기한을 원문과 대조합니다.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0C461-015F-41DC-85CB-9A568B32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527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045F9-4FA2-49F5-9973-30075537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336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슬라이드는 제목 길이 · 한글 줄바꿈 · 이미지 출처를 손봅니다 — "뼈대는 여기서, 다듬기는 파워포인트에서".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D91449-FF1C-42F0-B689-3114571C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D185B7-73C7-4281-8E32-2FEC96EC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623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인포그래픽은 예쁜지가 아니라 구조가 정확한지를 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A8CE6-28C3-40DA-ABB8-5C44AB01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90C03-AE8A-46C3-BA84-29ADF552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인포그래픽 · 슬라이드 · 딥리서치 등 일부 기능은 만 18세 이상 계정 전용입니다.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E9DA3-76A4-49C9-97E8-6CBC59BC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F147B-24B1-47AC-A9E8-E6126BB8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공개 링크가 막히면 Docs · PNG · PPTX 다운로드를 기본 경로로 둡니다.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1920D-C487-446C-AA1F-E9599B28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AE299-B0E8-4C06-B461-B8A237E8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482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고친 내용을 기록해 두면 다음에는 그 내용을 미리 맞춤 설정에 넣을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52319955"/>
      </p:ext>
    </p:extLst>
  </p:cSld>
  <p:transition spd="slow">
    <p:fade/>
  </p:transition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2C0AE3-4535-4907-AD8C-3F668780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85497-C615-4744-BA86-07D027D8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26A85-43BA-44BB-B898-AD0461B4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E4BB1-55BB-4317-8611-4E0B814D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C0798-C2E6-4866-AF21-9AB4919D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B8EA1-62A9-4486-914E-3006C7E8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8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82E25-3748-4B99-8D9A-E050F1D3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7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25분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727FF-D60C-4C80-91D0-8BCF27A9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76350"/>
            <a:ext cx="1120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업무 도움자료 패키지 만들기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BF83D-4480-4D42-A38B-CF5CDDA3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120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같은 근거에서 나온 배포물 3종 만들기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E5E7F-7F21-4833-8395-810B3B21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0"/>
            <a:ext cx="723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C45A1-C8AB-4614-9FF3-3C898DE8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B5E5E-07A0-43F0-84B3-3496C8E0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실습 6에서 만든 노트북을 그대로 씁니다 (새로 만들지 않습니다)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651E3C-EF57-4D0A-B97C-B20C9965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스튜디오 → 보고서 → 연필 아이콘으로 맞춤 설정 → FAQ 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FFC364-9425-4F34-93FD-7700CC18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스튜디오 → 인포그래픽 (세로 방향)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3527B3-E8D8-4169-8FFE-955A7279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스튜디오 → 슬라이드 생성 후 PPTX 내려받기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9D9D93-DC04-4248-B2BA-DF86033E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세 결과물의 숫자·조항·기한을 원문과 대조합니다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2E991-0181-49D9-B370-0AA05821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고친 내용을 메모해 둡니다 → 다음에 맞춤 설정에 미리 넣습니다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03B2D-2FAA-4D10-AC1B-22E77D9D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6957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E274CF-BA19-4CAC-9BF9-098FB32A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C4F1FE-76C9-4305-A7B8-354B8A6E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19400"/>
            <a:ext cx="320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FAQ 문서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인포그래픽 PNG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슬라이드 PPTX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488AA-E9CC-4C3A-AC52-69B2DD2A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76750"/>
            <a:ext cx="320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완성한 배포물 3종을 실습 가이드 게시판에 '실습 7'로 올립니다.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1F28A9-904B-43C3-9A94-5397718C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257270882"/>
      </p:ext>
    </p:extLst>
  </p:cSld>
  <p:transition spd="slow">
    <p:fade/>
  </p:transition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05ADD-281E-4AE0-BB25-B42623AE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E8855-DD20-41FC-B0F5-4574DE4B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8F68FB-E515-4BD3-A049-A86E5DDC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9719F-9FD4-4F2F-A8D3-FC04C7F2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65688-46AE-4A96-985E-96EC3643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CONNECT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DE2AD-5983-4557-8E95-591E1219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노트북과 제미나이를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이어 붙이기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18B6-9B5F-4A82-8362-8AB1DC89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내부 근거는 노트북에서, 바깥 정보는 제미나이에서. 둘을 한 대화로 합칩니다.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E9265-2A1C-4632-8892-E6A4CD0B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71091542"/>
      </p:ext>
    </p:extLst>
  </p:cSld>
  <p:transition spd="slow">
    <p:push dir="u"/>
  </p:transition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25724E-AD64-4F6A-BDF0-3970D29F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A58C0-6CE1-4C03-A153-80E994CE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D6945-FC92-4EF8-B01F-E6673BDD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B2E33-A5B1-4CA0-9D62-CAE69ED0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218860-F93D-4554-B67E-560A2AAB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언제 무엇을 쓰나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778B5-48E5-40BB-A726-0F0FFE95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두 가지 확장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926D3-57F9-4EFD-AA18-4CE19DCB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D2632C-C811-49B9-BD2F-444E2E41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076A6-5867-4B1B-A431-833C5FFC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제미나이에서 노트북 불러오기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EBCDA-C6B7-47B5-AD88-55BC58BE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 대화창 하단 [+] → 파일 소스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282A7-1DD3-4B9F-85C5-34C7F650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NotebookLM(노트북) 선택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013BB-F201-41F3-9746-9AE428BC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8C613-E144-4E84-9CF5-0305EBA1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내 노트북 내용을 제미나이 대화로 호출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B88D6-05B0-41F8-AEE0-66A73F20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= 내부 근거 + 실시간 정보력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6DE67-3AAE-4E2C-A78A-B3806D2D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FA5844-41B7-44CB-9D76-EBDC0688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예: "우리 규정으로는 이렇게 되는데,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D6F31-BCDD-48CD-B899-3CF86DF0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타 시도는 어떻게 하고 있는지 조사해 줘"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A7888A-7036-4DA6-AE5D-208623F5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6E11B2-F954-4A11-B2BB-408070EA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01BB90-C148-476B-BB2A-4B740E07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② 심층 리서치 (Deep Research)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E64176-C72C-4572-B36B-67D150AA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제미나이 입력창 [도구] → [심층 리서치]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530DB-6864-4408-9EA6-FF1B4051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8D0188-AAD0-4159-91A5-0E4C5126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AI가 수십 개 웹사이트를 직접 조사해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6F0F23-402D-444C-A7A4-D5A56059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보고서를 작성합니다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877CA2-10DE-4226-A390-2F75E6B3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2E1815-0B80-49AC-AB92-2987E0E4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리서치 계획을 먼저 보여 줍니다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891E37-19DE-4570-98F1-7E005C92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계획을 고쳐 조사 방향을 바꿀 수 있습니다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E40CC9-DC00-4461-B65A-5B02B0F2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3A805A-30EE-41A0-B98C-59AF14A5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29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⚠ 웹으로 나가므로 근거 확인은 별도로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925E5D-4264-413E-8A02-FFE266C6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7F2DCF-FA40-4680-9ED0-CADD9F85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노트북 = 통제된 근거 · 심층 리서치 = 넓은 조사. 둘을 섞을 때는 어느 쪽 근거인지 구분해서 읽습니다.</a:t>
            </a:r>
          </a:p>
        </p:txBody>
      </p:sp>
    </p:spTree>
    <p:extLst>
      <p:ext uri="{BB962C8B-B14F-4D97-AF65-F5344CB8AC3E}">
        <p14:creationId xmlns:p14="http://schemas.microsoft.com/office/powerpoint/2010/main" val="810278225"/>
      </p:ext>
    </p:extLst>
  </p:cSld>
  <p:transition spd="slow">
    <p:fade/>
  </p:transition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29CD9-D6CA-451A-B1CB-772EC4AB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A2447-07DD-49CB-9E92-27203D55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D75D30-67FE-41BA-B510-37A49FC1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AB80C-8251-43D3-A987-E18AB138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A172C-FBD5-40D5-B2D6-73CAA7A2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부서 확장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E958AD-C867-4872-95AB-CFB81269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노트북을 공유하면 부서 전용 챗봇이 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90873-A756-4FB4-BC2C-A59A62A2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DF6A8-9507-4FB5-A4F2-2A965CA6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노트북 상단 [공유] → 부서원 이메일 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A8B3C-0D3C-4CEF-99DD-460BD3AD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DE82C-4BFC-4A70-983E-418689DF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부서원은 자기 질문만 하고, 소스 자료 자체는 그대로 보호됩니다.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06EE39-B613-475E-9C4D-60E3EFD4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4484EF-FE0D-45AA-AB65-EC331F11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"이거 규정 어떻게 돼요?" 문의가 줄어듭니다 — 링크만 주면 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BE4254-008E-4827-8489-E74AA811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1E516-3A69-4B64-A2FD-7C16D733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원본 드라이브 파일을 고쳤으면 반드시 동기화 버튼을 눌러 소스를 최신화합니다.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9A3F1-C5DE-4D39-8CD0-9B646EBF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CD77E5-C805-4697-AC0D-B6A9582C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교육 계정은 외부 공유가 제한될 수 있습니다. 배포 전 확인하십시오.</a:t>
            </a:r>
          </a:p>
        </p:txBody>
      </p:sp>
    </p:spTree>
    <p:extLst>
      <p:ext uri="{BB962C8B-B14F-4D97-AF65-F5344CB8AC3E}">
        <p14:creationId xmlns:p14="http://schemas.microsoft.com/office/powerpoint/2010/main" val="1877648530"/>
      </p:ext>
    </p:extLst>
  </p:cSld>
  <p:transition spd="slow">
    <p:fade/>
  </p:transition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085123-F6AA-4AE8-971D-1CC76CDD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1BABF-BFFA-4E34-957F-B1A72657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CLOSING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7AA62-6059-4DC8-9F88-90EA1A29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5F03E1-23D7-42BF-AB75-C3149FCA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2부 제미나이 노트북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B3CBC-66C6-480B-90D0-71A86837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defRPr>
            </a:pPr>
            <a:r>
              <a: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rPr>
              <a:t>이 도구는 답을 주는 도구가 아니라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E93786-5D76-4851-8173-0C60C2F2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7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7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근거를 빨리 찾아 주는 도구입니다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FBAA4-0796-42BC-9D16-E9657E54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판단은 여전히 담당자의 몫입니다. 그래서 인용을 확인하는 습관이 실력입니다.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24C011-2B99-46E0-B545-764FD957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내일 아침, 지금 담당하는 규정 하나를 노트북에 올려 보십시오.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질문 세 개만 던져 보면 이 도구가 내 업무에 맞는지 바로 판단이 섭니다.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621E0-FD34-4DB0-81F1-E03DF456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76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8E8B82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E8B82"/>
                </a:solidFill>
                <a:latin typeface="Consolas"/>
                <a:ea typeface="Consolas"/>
                <a:cs typeface="Consolas"/>
              </a:rPr>
              <a:t>실습 자료 · 결과물  ·  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1830322020"/>
      </p:ext>
    </p:extLst>
  </p:cSld>
  <p:transition spd="slow">
    <p:push dir="u"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2026-08-10T08:25:03.6330000Z</dcterms:created>
  <dcterms:modified xsi:type="dcterms:W3CDTF">2026-08-10T08:25:03.6330000Z</dcterms:modified>
</coreProperties>
</file>