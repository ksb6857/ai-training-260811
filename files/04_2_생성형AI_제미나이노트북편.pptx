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6b059c150c47e2" /><Relationship Type="http://schemas.openxmlformats.org/officeDocument/2006/relationships/extended-properties" Target="/docProps/app.xml" Id="R71d1b68418b243a2" /><Relationship Type="http://schemas.openxmlformats.org/officeDocument/2006/relationships/officeDocument" Target="/ppt/presentation.xml" Id="R8d06f80b271544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cd9a3368954cb3"/>
  </p:sldMasterIdLst>
  <p:notesMasterIdLst>
    <p:notesMasterId xmlns:r="http://schemas.openxmlformats.org/officeDocument/2006/relationships" r:id="R4e58d875568b4ba0"/>
  </p:notesMasterIdLst>
  <p:sldIdLst>
    <p:sldId xmlns:r="http://schemas.openxmlformats.org/officeDocument/2006/relationships" id="256" r:id="Re93f70fb74c7496b"/>
    <p:sldId xmlns:r="http://schemas.openxmlformats.org/officeDocument/2006/relationships" id="257" r:id="Rcc704769752142ac"/>
    <p:sldId xmlns:r="http://schemas.openxmlformats.org/officeDocument/2006/relationships" id="258" r:id="R9328e50d8bde4d67"/>
    <p:sldId xmlns:r="http://schemas.openxmlformats.org/officeDocument/2006/relationships" id="259" r:id="Rbb6a496e755c474d"/>
    <p:sldId xmlns:r="http://schemas.openxmlformats.org/officeDocument/2006/relationships" id="260" r:id="R0f3a36063ba947a3"/>
    <p:sldId xmlns:r="http://schemas.openxmlformats.org/officeDocument/2006/relationships" id="261" r:id="Rcdfb03387f4b4a62"/>
    <p:sldId xmlns:r="http://schemas.openxmlformats.org/officeDocument/2006/relationships" id="262" r:id="R6363a0cf13944dc2"/>
    <p:sldId xmlns:r="http://schemas.openxmlformats.org/officeDocument/2006/relationships" id="263" r:id="R61be74d832f646f0"/>
    <p:sldId xmlns:r="http://schemas.openxmlformats.org/officeDocument/2006/relationships" id="264" r:id="R7160be21724947e9"/>
    <p:sldId xmlns:r="http://schemas.openxmlformats.org/officeDocument/2006/relationships" id="265" r:id="R70064fccec244e2d"/>
    <p:sldId xmlns:r="http://schemas.openxmlformats.org/officeDocument/2006/relationships" id="266" r:id="R8551b5e9e11a420c"/>
    <p:sldId xmlns:r="http://schemas.openxmlformats.org/officeDocument/2006/relationships" id="267" r:id="R34254e8306e242eb"/>
    <p:sldId xmlns:r="http://schemas.openxmlformats.org/officeDocument/2006/relationships" id="268" r:id="Re0066a9bf6014219"/>
    <p:sldId xmlns:r="http://schemas.openxmlformats.org/officeDocument/2006/relationships" id="269" r:id="Rce0d925c12444427"/>
    <p:sldId xmlns:r="http://schemas.openxmlformats.org/officeDocument/2006/relationships" id="270" r:id="Re829b7cbd524491e"/>
    <p:sldId xmlns:r="http://schemas.openxmlformats.org/officeDocument/2006/relationships" id="271" r:id="R502352a23b9e43a8"/>
    <p:sldId xmlns:r="http://schemas.openxmlformats.org/officeDocument/2006/relationships" id="272" r:id="R93c93366b2244135"/>
    <p:sldId xmlns:r="http://schemas.openxmlformats.org/officeDocument/2006/relationships" id="273" r:id="R5b1a731a74114fc2"/>
    <p:sldId xmlns:r="http://schemas.openxmlformats.org/officeDocument/2006/relationships" id="274" r:id="R4c85a283f68541af"/>
    <p:sldId xmlns:r="http://schemas.openxmlformats.org/officeDocument/2006/relationships" id="275" r:id="R4b27aadc2bf84966"/>
    <p:sldId xmlns:r="http://schemas.openxmlformats.org/officeDocument/2006/relationships" id="276" r:id="R531c7133546b41b8"/>
    <p:sldId xmlns:r="http://schemas.openxmlformats.org/officeDocument/2006/relationships" id="277" r:id="R0eb2c92db53741ee"/>
    <p:sldId xmlns:r="http://schemas.openxmlformats.org/officeDocument/2006/relationships" id="278" r:id="Rf327edc322664494"/>
    <p:sldId xmlns:r="http://schemas.openxmlformats.org/officeDocument/2006/relationships" id="279" r:id="R1eb03e12d6b44806"/>
    <p:sldId xmlns:r="http://schemas.openxmlformats.org/officeDocument/2006/relationships" id="280" r:id="R208dc0bb77394e53"/>
    <p:sldId xmlns:r="http://schemas.openxmlformats.org/officeDocument/2006/relationships" id="281" r:id="R3627728dd2fb4420"/>
    <p:sldId xmlns:r="http://schemas.openxmlformats.org/officeDocument/2006/relationships" id="282" r:id="R8a138f252956484e"/>
    <p:sldId xmlns:r="http://schemas.openxmlformats.org/officeDocument/2006/relationships" id="283" r:id="Rb97862e479aa4ac9"/>
    <p:sldId xmlns:r="http://schemas.openxmlformats.org/officeDocument/2006/relationships" id="284" r:id="Re5b63cf00df548f7"/>
    <p:sldId xmlns:r="http://schemas.openxmlformats.org/officeDocument/2006/relationships" id="285" r:id="R8a54a7103f8945ef"/>
    <p:sldId xmlns:r="http://schemas.openxmlformats.org/officeDocument/2006/relationships" id="286" r:id="Rd00a8995da3149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4631ecbc6b4c05" /><Relationship Type="http://schemas.openxmlformats.org/officeDocument/2006/relationships/slideMaster" Target="/ppt/slideMasters/slideMaster1.xml" Id="R4ccd9a3368954cb3" /><Relationship Type="http://schemas.openxmlformats.org/officeDocument/2006/relationships/notesMaster" Target="/ppt/notesMasters/notesMaster1.xml" Id="R4e58d875568b4ba0" /><Relationship Type="http://schemas.openxmlformats.org/officeDocument/2006/relationships/presProps" Target="/ppt/presProps.xml" Id="R2b127ac16f7943e8" /><Relationship Type="http://schemas.openxmlformats.org/officeDocument/2006/relationships/tableStyles" Target="/ppt/tableStyles.xml" Id="Rdfa040bc18ef412a" /><Relationship Type="http://schemas.openxmlformats.org/officeDocument/2006/relationships/slide" Target="/ppt/slides/slide1.xml" Id="Re93f70fb74c7496b" /><Relationship Type="http://schemas.openxmlformats.org/officeDocument/2006/relationships/slide" Target="/ppt/slides/slide2.xml" Id="Rcc704769752142ac" /><Relationship Type="http://schemas.openxmlformats.org/officeDocument/2006/relationships/slide" Target="/ppt/slides/slide3.xml" Id="R9328e50d8bde4d67" /><Relationship Type="http://schemas.openxmlformats.org/officeDocument/2006/relationships/slide" Target="/ppt/slides/slide4.xml" Id="Rbb6a496e755c474d" /><Relationship Type="http://schemas.openxmlformats.org/officeDocument/2006/relationships/slide" Target="/ppt/slides/slide5.xml" Id="R0f3a36063ba947a3" /><Relationship Type="http://schemas.openxmlformats.org/officeDocument/2006/relationships/slide" Target="/ppt/slides/slide6.xml" Id="Rcdfb03387f4b4a62" /><Relationship Type="http://schemas.openxmlformats.org/officeDocument/2006/relationships/slide" Target="/ppt/slides/slide7.xml" Id="R6363a0cf13944dc2" /><Relationship Type="http://schemas.openxmlformats.org/officeDocument/2006/relationships/slide" Target="/ppt/slides/slide8.xml" Id="R61be74d832f646f0" /><Relationship Type="http://schemas.openxmlformats.org/officeDocument/2006/relationships/slide" Target="/ppt/slides/slide9.xml" Id="R7160be21724947e9" /><Relationship Type="http://schemas.openxmlformats.org/officeDocument/2006/relationships/slide" Target="/ppt/slides/slide10.xml" Id="R70064fccec244e2d" /><Relationship Type="http://schemas.openxmlformats.org/officeDocument/2006/relationships/slide" Target="/ppt/slides/slide11.xml" Id="R8551b5e9e11a420c" /><Relationship Type="http://schemas.openxmlformats.org/officeDocument/2006/relationships/slide" Target="/ppt/slides/slide12.xml" Id="R34254e8306e242eb" /><Relationship Type="http://schemas.openxmlformats.org/officeDocument/2006/relationships/slide" Target="/ppt/slides/slide13.xml" Id="Re0066a9bf6014219" /><Relationship Type="http://schemas.openxmlformats.org/officeDocument/2006/relationships/slide" Target="/ppt/slides/slide14.xml" Id="Rce0d925c12444427" /><Relationship Type="http://schemas.openxmlformats.org/officeDocument/2006/relationships/slide" Target="/ppt/slides/slide15.xml" Id="Re829b7cbd524491e" /><Relationship Type="http://schemas.openxmlformats.org/officeDocument/2006/relationships/slide" Target="/ppt/slides/slide16.xml" Id="R502352a23b9e43a8" /><Relationship Type="http://schemas.openxmlformats.org/officeDocument/2006/relationships/slide" Target="/ppt/slides/slide17.xml" Id="R93c93366b2244135" /><Relationship Type="http://schemas.openxmlformats.org/officeDocument/2006/relationships/slide" Target="/ppt/slides/slide18.xml" Id="R5b1a731a74114fc2" /><Relationship Type="http://schemas.openxmlformats.org/officeDocument/2006/relationships/slide" Target="/ppt/slides/slide19.xml" Id="R4c85a283f68541af" /><Relationship Type="http://schemas.openxmlformats.org/officeDocument/2006/relationships/slide" Target="/ppt/slides/slide20.xml" Id="R4b27aadc2bf84966" /><Relationship Type="http://schemas.openxmlformats.org/officeDocument/2006/relationships/slide" Target="/ppt/slides/slide21.xml" Id="R531c7133546b41b8" /><Relationship Type="http://schemas.openxmlformats.org/officeDocument/2006/relationships/slide" Target="/ppt/slides/slide22.xml" Id="R0eb2c92db53741ee" /><Relationship Type="http://schemas.openxmlformats.org/officeDocument/2006/relationships/slide" Target="/ppt/slides/slide23.xml" Id="Rf327edc322664494" /><Relationship Type="http://schemas.openxmlformats.org/officeDocument/2006/relationships/slide" Target="/ppt/slides/slide24.xml" Id="R1eb03e12d6b44806" /><Relationship Type="http://schemas.openxmlformats.org/officeDocument/2006/relationships/slide" Target="/ppt/slides/slide25.xml" Id="R208dc0bb77394e53" /><Relationship Type="http://schemas.openxmlformats.org/officeDocument/2006/relationships/slide" Target="/ppt/slides/slide26.xml" Id="R3627728dd2fb4420" /><Relationship Type="http://schemas.openxmlformats.org/officeDocument/2006/relationships/slide" Target="/ppt/slides/slide27.xml" Id="R8a138f252956484e" /><Relationship Type="http://schemas.openxmlformats.org/officeDocument/2006/relationships/slide" Target="/ppt/slides/slide28.xml" Id="Rb97862e479aa4ac9" /><Relationship Type="http://schemas.openxmlformats.org/officeDocument/2006/relationships/slide" Target="/ppt/slides/slide29.xml" Id="Re5b63cf00df548f7" /><Relationship Type="http://schemas.openxmlformats.org/officeDocument/2006/relationships/slide" Target="/ppt/slides/slide30.xml" Id="R8a54a7103f8945ef" /><Relationship Type="http://schemas.openxmlformats.org/officeDocument/2006/relationships/slide" Target="/ppt/slides/slide31.xml" Id="Rd00a8995da3149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dd20bb7be449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0ff4f5eda24efc" /><Relationship Type="http://schemas.openxmlformats.org/officeDocument/2006/relationships/notesMaster" Target="/ppt/notesMasters/notesMaster1.xml" Id="R41421cb8718a45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5ccff554154390" /><Relationship Type="http://schemas.openxmlformats.org/officeDocument/2006/relationships/notesMaster" Target="/ppt/notesMasters/notesMaster1.xml" Id="R61b2a2d608a743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8fb60fb2b44d7c" /><Relationship Type="http://schemas.openxmlformats.org/officeDocument/2006/relationships/notesMaster" Target="/ppt/notesMasters/notesMaster1.xml" Id="R91931fc7015844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ea5707883a47bd" /><Relationship Type="http://schemas.openxmlformats.org/officeDocument/2006/relationships/notesMaster" Target="/ppt/notesMasters/notesMaster1.xml" Id="R6efe3387c5af4c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cad2d0455040cd" /><Relationship Type="http://schemas.openxmlformats.org/officeDocument/2006/relationships/notesMaster" Target="/ppt/notesMasters/notesMaster1.xml" Id="Rbe4c0315ee6d48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8139a60d23431f" /><Relationship Type="http://schemas.openxmlformats.org/officeDocument/2006/relationships/notesMaster" Target="/ppt/notesMasters/notesMaster1.xml" Id="Re0d11a8d52a841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599ec1576e41e1" /><Relationship Type="http://schemas.openxmlformats.org/officeDocument/2006/relationships/notesMaster" Target="/ppt/notesMasters/notesMaster1.xml" Id="R6f8e7a2a52ea47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ef28ff10ce4ad6" /><Relationship Type="http://schemas.openxmlformats.org/officeDocument/2006/relationships/notesMaster" Target="/ppt/notesMasters/notesMaster1.xml" Id="Rc2de3590034e41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989605e2da4a1a" /><Relationship Type="http://schemas.openxmlformats.org/officeDocument/2006/relationships/notesMaster" Target="/ppt/notesMasters/notesMaster1.xml" Id="R11366c8c798844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769fa6b33e400d" /><Relationship Type="http://schemas.openxmlformats.org/officeDocument/2006/relationships/notesMaster" Target="/ppt/notesMasters/notesMaster1.xml" Id="R88e19b1533e445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8b25fe9e1841d2" /><Relationship Type="http://schemas.openxmlformats.org/officeDocument/2006/relationships/notesMaster" Target="/ppt/notesMasters/notesMaster1.xml" Id="Rc1e38254ded944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b9dada2a2c4258" /><Relationship Type="http://schemas.openxmlformats.org/officeDocument/2006/relationships/notesMaster" Target="/ppt/notesMasters/notesMaster1.xml" Id="Re2598f80908948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b9fdc6f7054421" /><Relationship Type="http://schemas.openxmlformats.org/officeDocument/2006/relationships/notesMaster" Target="/ppt/notesMasters/notesMaster1.xml" Id="Rbc1e992c0e5f4f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bc02e0a7c2f445b" /><Relationship Type="http://schemas.openxmlformats.org/officeDocument/2006/relationships/notesMaster" Target="/ppt/notesMasters/notesMaster1.xml" Id="R4df3cc9b9ba843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a234e6ab60e460f" /><Relationship Type="http://schemas.openxmlformats.org/officeDocument/2006/relationships/notesMaster" Target="/ppt/notesMasters/notesMaster1.xml" Id="Rcb5fe7c742d54a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28fa2b3e4674663" /><Relationship Type="http://schemas.openxmlformats.org/officeDocument/2006/relationships/notesMaster" Target="/ppt/notesMasters/notesMaster1.xml" Id="Ra688e0550b8e45f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61a1f26eb664156" /><Relationship Type="http://schemas.openxmlformats.org/officeDocument/2006/relationships/notesMaster" Target="/ppt/notesMasters/notesMaster1.xml" Id="R6379f959bea34c8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7639ed8f667459a" /><Relationship Type="http://schemas.openxmlformats.org/officeDocument/2006/relationships/notesMaster" Target="/ppt/notesMasters/notesMaster1.xml" Id="Redb6f084d1674ea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a07a7139633443d" /><Relationship Type="http://schemas.openxmlformats.org/officeDocument/2006/relationships/notesMaster" Target="/ppt/notesMasters/notesMaster1.xml" Id="R2ac5c60fc0fc44a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5c3be8c73e445a7" /><Relationship Type="http://schemas.openxmlformats.org/officeDocument/2006/relationships/notesMaster" Target="/ppt/notesMasters/notesMaster1.xml" Id="R1f08322ac1814b5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e4679f99d6b46f8" /><Relationship Type="http://schemas.openxmlformats.org/officeDocument/2006/relationships/notesMaster" Target="/ppt/notesMasters/notesMaster1.xml" Id="Re6555452ccf94e0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ae2476dd92440b1" /><Relationship Type="http://schemas.openxmlformats.org/officeDocument/2006/relationships/notesMaster" Target="/ppt/notesMasters/notesMaster1.xml" Id="Rcf5016047d1241b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04d922a78a34e20" /><Relationship Type="http://schemas.openxmlformats.org/officeDocument/2006/relationships/notesMaster" Target="/ppt/notesMasters/notesMaster1.xml" Id="R22ddfa96f3ba4ee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7cc03bf27df4312" /><Relationship Type="http://schemas.openxmlformats.org/officeDocument/2006/relationships/notesMaster" Target="/ppt/notesMasters/notesMaster1.xml" Id="R4a42edc1663f4d8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f433e6fce9242cd" /><Relationship Type="http://schemas.openxmlformats.org/officeDocument/2006/relationships/notesMaster" Target="/ppt/notesMasters/notesMaster1.xml" Id="R8e55aa8bfa54493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a6e27431ffd49cd" /><Relationship Type="http://schemas.openxmlformats.org/officeDocument/2006/relationships/notesMaster" Target="/ppt/notesMasters/notesMaster1.xml" Id="Rb94a3ec635f0462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1d073acde2045cf" /><Relationship Type="http://schemas.openxmlformats.org/officeDocument/2006/relationships/notesMaster" Target="/ppt/notesMasters/notesMaster1.xml" Id="R4217da7bbaf54d5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962a3a83ed54d52" /><Relationship Type="http://schemas.openxmlformats.org/officeDocument/2006/relationships/notesMaster" Target="/ppt/notesMasters/notesMaster1.xml" Id="Rb56612758627488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422679eae0b42ba" /><Relationship Type="http://schemas.openxmlformats.org/officeDocument/2006/relationships/notesMaster" Target="/ppt/notesMasters/notesMaster1.xml" Id="Rc6c57c62ac304f3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be42e7e257c4277" /><Relationship Type="http://schemas.openxmlformats.org/officeDocument/2006/relationships/notesMaster" Target="/ppt/notesMasters/notesMaster1.xml" Id="R7e5c19b81843477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b4e270dce7f4b61" /><Relationship Type="http://schemas.openxmlformats.org/officeDocument/2006/relationships/notesMaster" Target="/ppt/notesMasters/notesMaster1.xml" Id="R092aff9e893c41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오후를 시작하겠습니다. 오전이 '일하게 만들기'였다면 오후는 '자료 만들기'입니다.</a:t>
            </a:r>
          </a:p>
          <a:p xmlns:a="http://schemas.openxmlformats.org/drawingml/2006/main">
            <a:r>
              <a:t>수요조사에서 "각종 지침·규정을 탑재한 후 Q&amp;A가 가능한 인공지능"을 요청하신 분이 계셨습니다. 정확히 그것을 만듭니다.</a:t>
            </a:r>
          </a:p>
          <a:p xmlns:a="http://schemas.openxmlformats.org/drawingml/2006/main">
            <a:r>
              <a:t>그리고 한 가지 미리 말씀드립니다. 이 도구의 값어치는 "답을 준다"가 아니라 "근거를 빨리 찾아 준다"입니다. 오늘 계속 강조할 문장입니다.</a:t>
            </a:r>
          </a:p>
          <a:p xmlns:a="http://schemas.openxmlformats.org/drawingml/2006/main">
            <a:r>
              <a:t>[▶ 웹가이드] 연수생은 실습 가이드 웹페이지의 「Notebook」 섹션을 열어 둔 채 따라옵니다. 규정 비서 지침·질문 형식 프롬프트가 복사 버튼과 함께 그 페이지에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https://app.notion.com/p/choinssam/383452af4f1281a1af48ca530a5c6e9f?p=a14452af4f128266b61a817e88c16485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먼저 왜 이 도구를 쓰는지부터 짚겠습니다.</a:t>
            </a:r>
          </a:p>
          <a:p xmlns:a="http://schemas.openxmlformats.org/drawingml/2006/main">
            <a:r>
              <a:t>규정 업무에서 가장 위험한 것은 "그럴듯한 답"입니다. 일반 AI는 종종 영롱한 거짓말, 환각을 합니다. 조항 번호까지 그럴듯하게 지어내면 검증이 안 됩니다.</a:t>
            </a:r>
          </a:p>
          <a:p xmlns:a="http://schemas.openxmlformats.org/drawingml/2006/main">
            <a:r>
              <a:t>제미나이 노트북은 구조가 다릅니다. 내가 올린 자료 안에서만 답하고, 답변마다 원문 위치를 숫자로 붙입니다.</a:t>
            </a:r>
          </a:p>
          <a:p xmlns:a="http://schemas.openxmlformats.org/drawingml/2006/main">
            <a:r>
              <a:t>이름 이야기도 하나 — 2026년 7월 16일에 NotebookLM 이 Gemini Notebook(제미나이 노트북)으로 이름이 바뀌었습니다. 같은 제품이고, 기존 노트북과 공유 링크는 그대로 작동합니다. 자료마다 두 이름이 섞여 나오니 헷갈리지 마십시오.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 문장으로 — "제미나이는 세상 모든 지식을 아는 재주꾼, 노트북은 내 서류만 파고드는 분석가입니다."</a:t>
            </a:r>
          </a:p>
          <a:p xmlns:a="http://schemas.openxmlformats.org/drawingml/2006/main">
            <a:r>
              <a:t>제미나이는 0에서 1을 만들고, 노트북은 1을 검증합니다. 근거가 필요한 일에 창조형을 쓰면 사고가 납니다. 자리를 나누는 것이 요령입니다.</a:t>
            </a:r>
          </a:p>
          <a:p xmlns:a="http://schemas.openxmlformats.org/drawingml/2006/main">
            <a:r>
              <a:t>※ 자주 나오는 질문 — "그럼 하나만 쓰면 안 되나요?" 답: 됩니다. 다만 어떤 일이냐에 따라 자리를 바꿔 앉히는 것뿐입니다. 다음 장에서 둘을 섞는 순서를 보여 드립니다.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https://app.notion.com/p/choinssam/383452af4f1281a1af48ca530a5c6e9f?p=a14452af4f128266b61a817e88c16485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실전에서는 이렇게 섞습니다. 재주꾼이 만들고, 분석가가 다듬는 구조입니다.</a:t>
            </a:r>
          </a:p>
          <a:p xmlns:a="http://schemas.openxmlformats.org/drawingml/2006/main">
            <a:r>
              <a:t>① 제미나이로 바깥 정보를 넓게 모으고 ② 노트북에 우리 규정·내부 자료를 올린 뒤 ③ 두 결과를 결합합니다.</a:t>
            </a:r>
          </a:p>
          <a:p xmlns:a="http://schemas.openxmlformats.org/drawingml/2006/main">
            <a:r>
              <a:t>장학사님 업무로 예를 들면 — 타 시도 운영 사례는 제미나이가 조사하고, 우리 교육청 지침에 맞는지는 노트북이 검증합니다.</a:t>
            </a:r>
          </a:p>
          <a:p xmlns:a="http://schemas.openxmlformats.org/drawingml/2006/main">
            <a:r>
              <a:t>오늘 오후는 ②번, 노트북을 깊게 팝니다. ①과 ③은 마지막 모듈에서 잇는 방법을 보여 드립니다.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https://app.notion.com/p/choinssam/383452af4f1281a1af48ca530a5c6e9f?p=a14452af4f128266b61a817e88c16485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구조부터 익히겠습니다. 세 칸만 알면 끝입니다.</a:t>
            </a:r>
          </a:p>
          <a:p xmlns:a="http://schemas.openxmlformats.org/drawingml/2006/main">
            <a:r>
              <a:t>그리고 오늘 가장 중요한 준비는 '무엇을 소스로 넣을 것인가'입니다. 여기서 결과의 절반이 결정됩니다.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왼쪽 소스, 가운데 채팅, 오른쪽 스튜디오.</a:t>
            </a:r>
          </a:p>
          <a:p xmlns:a="http://schemas.openxmlformats.org/drawingml/2006/main">
            <a:r>
              <a:t>왼쪽에 내가 올린 자료가 쌓입니다. 가운데에서 그 자료에 대해 묻습니다. 오른쪽에서 그 자료로 배포물을 만듭니다.</a:t>
            </a:r>
          </a:p>
          <a:p xmlns:a="http://schemas.openxmlformats.org/drawingml/2006/main">
            <a:r>
              <a:t>오늘 오후 내내 이 세 칸을 오갑니다.</a:t>
            </a:r>
          </a:p>
          <a:p xmlns:a="http://schemas.openxmlformats.org/drawingml/2006/main">
            <a:r>
              <a:t>[▶ 실제 시연] 여기서 notebooklm.google.com 을 직접 열어 세 칸을 실물로 보여 주십시오. 연수생도 같이 접속해 눈으로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assets/infographics/07_GeminiNotebook_3영역_Claude.png</a:t>
            </a:r>
          </a:p>
          <a:p xmlns:a="http://schemas.openxmlformats.org/drawingml/2006/main">
            <a:r>
              <a:t>- https://support.google.com/gemininotebook/answer/16164461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⚠ [이미지 교체 필요] — 강사 계정으로 새 노트북을 만드는 실제 화면 2장을 캡처해 넣어 주십시오.</a:t>
            </a:r>
          </a:p>
          <a:p xmlns:a="http://schemas.openxmlformats.org/drawingml/2006/main">
            <a:r>
              <a:t>[▶ 실제 시연] 이 장면은 슬라이드보다 실제 화면 시연이 낫습니다. 새로 만들기 → 이름 짓기 → 소스 업로드까지 그 자리에서 해 보이십시오.</a:t>
            </a:r>
          </a:p>
          <a:p xmlns:a="http://schemas.openxmlformats.org/drawingml/2006/main">
            <a:r>
              <a:t>멘트 — 노트북 이름은 담당 업무로 지으십시오. "학교생활기록부", "학교회계" 같은 식입니다. 나중에 노트북이 늘어나면 이름이 곧 분류가 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소스로 넣을 수 있는 것이 생각보다 많습니다. 다섯 갈래입니다. (2026년 8월 구글 공식 문서 기준입니다.)</a:t>
            </a:r>
          </a:p>
          <a:p xmlns:a="http://schemas.openxmlformats.org/drawingml/2006/main">
            <a:r>
              <a:t>가장 많이 쓰실 것은 첫 줄과 셋째 줄입니다. 규정 PDF와 교육청 공지 웹페이지.</a:t>
            </a:r>
          </a:p>
          <a:p xmlns:a="http://schemas.openxmlformats.org/drawingml/2006/main">
            <a:r>
              <a:t>넷째 줄을 눈여겨보십시오. 유튜브 링크를 넣으면 자막을 텍스트로 바꿔 읽습니다. 한 시간짜리 정책 설명회 영상을 5분에 파악할 수 있습니다. 단, 공개 영상이고 자막이 있어야 합니다.</a:t>
            </a:r>
          </a:p>
          <a:p xmlns:a="http://schemas.openxmlformats.org/drawingml/2006/main">
            <a:r>
              <a:t>둘째 줄에는 함정이 하나 있습니다. 드라이브 파일을 수정했으면 반드시 동기화 버튼을 눌러야 소스가 최신화됩니다. 안 누르면 옛날 내용으로 답합니다.</a:t>
            </a:r>
          </a:p>
          <a:p xmlns:a="http://schemas.openxmlformats.org/drawingml/2006/main">
            <a:r>
              <a:t>※ 용량 — 무료 계정 기준 노트북 하나에 소스 50개, 소스 하나에 50만 단어 또는 200MB까지입니다. 규정 문서로는 넉넉합니다.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https://support.google.com/gemininotebook/answer/16164461</a:t>
            </a:r>
          </a:p>
          <a:p xmlns:a="http://schemas.openxmlformats.org/drawingml/2006/main">
            <a:r>
              <a:t>- https://app.notion.com/p/choinssam/383452af4f1281a1af48ca530a5c6e9f?p=a14452af4f128266b61a817e88c16485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소스 준비 원칙 다섯 가지입니다. 여기가 오후 실습의 성패를 가릅니다.</a:t>
            </a:r>
          </a:p>
          <a:p xmlns:a="http://schemas.openxmlformats.org/drawingml/2006/main">
            <a:r>
              <a:t>첫 줄이 오전에 한글 준비를 먼저 배운 이유입니다. 한글 파일은 그대로 못 올립니다.</a:t>
            </a:r>
          </a:p>
          <a:p xmlns:a="http://schemas.openxmlformats.org/drawingml/2006/main">
            <a:r>
              <a:t>셋째 줄을 특히 강조하겠습니다. 담당별로 노트북을 나누십시오. 학교생활기록부 질문에 학교회계 지침이 섞여 나오면 답이 흐려집니다.</a:t>
            </a:r>
          </a:p>
          <a:p xmlns:a="http://schemas.openxmlformats.org/drawingml/2006/main">
            <a:r>
              <a:t>넷째 줄 GIGO는 "쓰레기를 넣으면 쓰레기가 나온다"는 뜻입니다. 개정 전 지침을 올려 두고 최신 답을 기대하면 안 됩니다.</a:t>
            </a:r>
          </a:p>
          <a:p xmlns:a="http://schemas.openxmlformats.org/drawingml/2006/main">
            <a:r>
              <a:t>다섯째 줄은 정보보호입니다. 규정은 올리되 사안은 올리지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https://support.google.com/gemininotebook/answer/16164461</a:t>
            </a:r>
          </a:p>
          <a:p xmlns:a="http://schemas.openxmlformats.org/drawingml/2006/main">
            <a:r>
              <a:t>- https://app.notion.com/p/choinssam/383452af4f1281a1af48ca530a5c6e9f?p=a14452af4f128266b61a817e88c16485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노트북에 올리기 전, 자료 정리 습관 세 가지입니다. 커리큘럼 원문의 표현을 빌리면 '디지털 기초 공사'입니다.</a:t>
            </a:r>
          </a:p>
          <a:p xmlns:a="http://schemas.openxmlformats.org/drawingml/2006/main">
            <a:r>
              <a:t>파일 이름에 날짜를 붙이고, 공백 대신 언더바를 쓰고, 폴더 앞에 번호를 붙입니다.</a:t>
            </a:r>
          </a:p>
          <a:p xmlns:a="http://schemas.openxmlformats.org/drawingml/2006/main">
            <a:r>
              <a:t>사소해 보이지만 — 파일명만 잘 지어도 개정 전 지침을 올리는 사고가 줄고, 오전에 배운 Cowork 자동화에서도 AI가 자료를 훨씬 빨리 정확하게 찾습니다.</a:t>
            </a:r>
          </a:p>
          <a:p xmlns:a="http://schemas.openxmlformats.org/drawingml/2006/main">
            <a:r>
              <a:t>※ 멘트 — "파일 이름만 잘 지어도 '일 진짜 잘한다'는 소리를 듣습니다."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https://app.notion.com/p/choinssam/383452af4f1281a1af48ca530a5c6e9f?p=a14452af4f128266b61a817e88c16485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이제 질문하는 법입니다. 오늘 오후에서 가장 값어치 있는 20분이 될 겁니다.</a:t>
            </a:r>
          </a:p>
          <a:p xmlns:a="http://schemas.openxmlformats.org/drawingml/2006/main">
            <a:r>
              <a:t>대부분 "요약해 줘"라고 묻습니다. 그러면 요약을 받습니다. 그게 전부입니다.</a:t>
            </a:r>
          </a:p>
          <a:p xmlns:a="http://schemas.openxmlformats.org/drawingml/2006/main">
            <a:r>
              <a:t>질문의 구조를 바꾸면 같은 자료에서 완전히 다른 것이 나옵니다.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질문을 세 덩어리로 나누는 공식입니다. 외우기 쉽습니다 — 알(Role) 티(Task) 에프(Format).</a:t>
            </a:r>
          </a:p>
          <a:p xmlns:a="http://schemas.openxmlformats.org/drawingml/2006/main">
            <a:r>
              <a:t>왼쪽 역할. "규정 담당자입니다"라고 한 줄 주는 것만으로 답의 결이 달라집니다. 역할이 없으면 AI는 가장 무난하고 일반적인 답을 냅니다.</a:t>
            </a:r>
          </a:p>
          <a:p xmlns:a="http://schemas.openxmlformats.org/drawingml/2006/main">
            <a:r>
              <a:t>가운데 작업. 여기서 네 가지를 적습니다. 누구에게 줄 답인지, 무엇을, 왜, 그리고 하지 말아야 할 것.</a:t>
            </a:r>
          </a:p>
          <a:p xmlns:a="http://schemas.openxmlformats.org/drawingml/2006/main">
            <a:r>
              <a:t>오른쪽 형식이 퇴근 시간을 당깁니다. "표로 주세요" 한마디면 복사 버튼으로 그대로 시트에 붙여넣을 수 있습니다. 줄글로 받으면 다시 정리해야 합니다.</a:t>
            </a:r>
          </a:p>
          <a:p xmlns:a="http://schemas.openxmlformats.org/drawingml/2006/main">
            <a:r>
              <a:t>※ 상황별로 유연하게 — 급할 땐 T만, 자료 정리는 T+F, 전문적 판단이 필요하면 R+T 를 씁니다. 셋 다 항상 쓸 필요는 없습니다.</a:t>
            </a:r>
          </a:p>
          <a:p xmlns:a="http://schemas.openxmlformats.org/drawingml/2006/main">
            <a:r>
              <a:t>※ 결과가 마음에 안 들 때 — "역할을 안 줬나?" "형식을 빼먹었나?" 이 두 가지만 점검하면 대개 해결됩니다.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https://app.notion.com/p/choinssam/383452af4f1281a1af48ca530a5c6e9f?p=a14452af4f128266b61a817e88c16485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"요약해 줘"에서 벗어나는 실전 질문 세 가지 형태입니다.</a:t>
            </a:r>
          </a:p>
          <a:p xmlns:a="http://schemas.openxmlformats.org/drawingml/2006/main">
            <a:r>
              <a:t>첫째, 리스크 추출형. 그냥 요약이 아니라 "우리 목표와 충돌하는 지점"을 뽑게 합니다. 새 지침이 내려왔을 때 가장 먼저 던질 질문입니다.</a:t>
            </a:r>
          </a:p>
          <a:p xmlns:a="http://schemas.openxmlformats.org/drawingml/2006/main">
            <a:r>
              <a:t>둘째, 설득 논리형. 학교에 안내하기 전에 "반대할 사람을 설득할 논리"를 미리 만들어 봅니다. 민원 대응 준비가 됩니다.</a:t>
            </a:r>
          </a:p>
          <a:p xmlns:a="http://schemas.openxmlformats.org/drawingml/2006/main">
            <a:r>
              <a:t>셋째, 비교 표형. 개정 지침 정리가 한 번에 끝납니다. 표는 복사 버튼으로 바로 시트에 들어갑니다.</a:t>
            </a:r>
          </a:p>
          <a:p xmlns:a="http://schemas.openxmlformats.org/drawingml/2006/main">
            <a:r>
              <a:t>셋 다 공통점이 있습니다 — 답이 '검증 가능한 형태'로 나오게 만든다는 것. 근거를 붙이게 하고, 표로 만들게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https://app.notion.com/p/choinssam/383452af4f1281a1af48ca530a5c6e9f?p=a14452af4f128266b61a817e88c16485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치트키 세 가지입니다. 각각 한 줄이면 됩니다.</a:t>
            </a:r>
          </a:p>
          <a:p xmlns:a="http://schemas.openxmlformats.org/drawingml/2006/main">
            <a:r>
              <a:t>첫째, 메타 프롬프트. 질문을 잘 못 쓰겠을 때 "필요한 정보를 먼저 물어봐 줘"라고 하십시오. AI가 역으로 질문합니다. 답만 하면 됩니다. 오늘 배운 것 중 가장 실용적입니다.</a:t>
            </a:r>
          </a:p>
          <a:p xmlns:a="http://schemas.openxmlformats.org/drawingml/2006/main">
            <a:r>
              <a:t>둘째, 반박 요청. AI는 기본적으로 칭찬합니다. 계획서를 보여 주면 "훌륭합니다"부터 시작합니다. 그건 검토가 아닙니다. "칭찬 생략하고 문제점 3가지 반박해 줘"라고 하면 그때부터 무료 컨설팅이 됩니다.</a:t>
            </a:r>
          </a:p>
          <a:p xmlns:a="http://schemas.openxmlformats.org/drawingml/2006/main">
            <a:r>
              <a:t>셋째, 프롬프트 코칭. 설정에 한 번 넣어 두면 매번 "이렇게 물으면 더 좋습니다"를 알려 줍니다. 한 달이면 질문 실력이 확 달라집니다.</a:t>
            </a:r>
          </a:p>
          <a:p xmlns:a="http://schemas.openxmlformats.org/drawingml/2006/main">
            <a:r>
              <a:t>[▶ 실제 시연] 여기서 둘째 치트키를 실제로 시연해 보십시오. 계획서 하나를 넣고 반박을 시키면 됩니다. 반응이 가장 좋습니다.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https://app.notion.com/p/choinssam/383452af4f1281a1af48ca530a5c6e9f?p=a14452af4f128266b61a817e88c16485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채팅 설정에서 '맞춤'을 고르고 위 지침을 넣으십시오. 한 번만 넣으면 그 노트북의 모든 대화에 적용됩니다.</a:t>
            </a:r>
          </a:p>
          <a:p xmlns:a="http://schemas.openxmlformats.org/drawingml/2006/main">
            <a:r>
              <a:t>왜 형식을 고정하냐면 — 결론과 근거가 섞여 나오면 검증을 못 하기 때문입니다. 결론 따로, 근거 따로 나와야 조항을 확인할 수 있습니다.</a:t>
            </a:r>
          </a:p>
          <a:p xmlns:a="http://schemas.openxmlformats.org/drawingml/2006/main">
            <a:r>
              <a:t>가장 중요한 줄은 "소스에 없는 내용은 소스에 없음이라고 답하라"입니다. 이게 없으면 그럴듯하게 지어냅니다.</a:t>
            </a:r>
          </a:p>
          <a:p xmlns:a="http://schemas.openxmlformats.org/drawingml/2006/main">
            <a:r>
              <a:t>아래 질문 형식도 함께 쓰십시오. 상황·질문·요구 세 덩어리로 나눠서 물으면 답이 훨씬 정확해집니다.</a:t>
            </a:r>
          </a:p>
          <a:p xmlns:a="http://schemas.openxmlformats.org/drawingml/2006/main">
            <a:r>
              <a:t>[▶ 웹가이드] 「실습 자료실」의 '규정 비서 지침' 카드로 전환 — [프롬프트 복사] 버튼을 눌러 채팅 설정 → 맞춤에 붙여 넣기까지 시연합니다. 연수생은 타이핑하지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https://support.google.com/gemininotebook/answer/16164461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 처음 소개하는 기능입니다. 질문하고 끝내지 말고, 쓸 만한 답변을 저장하십시오.</a:t>
            </a:r>
          </a:p>
          <a:p xmlns:a="http://schemas.openxmlformats.org/drawingml/2006/main">
            <a:r>
              <a:t>흐름은 세 단계입니다. 좋은 답변이 나올 때마다 저장(Pin)해 두고 → 모인 노트를 골라 "이걸로 보고 자료 써 줘"라고 재구성시키고 → 구글 문서로 내보냅니다.</a:t>
            </a:r>
          </a:p>
          <a:p xmlns:a="http://schemas.openxmlformats.org/drawingml/2006/main">
            <a:r>
              <a:t>이게 왜 중요하냐면 — 하루 종일 규정을 찾아본 결과가 대화 속에 흩어져 사라지는 게 아니라, 보고서 초안으로 쌓이기 때문입니다.</a:t>
            </a:r>
          </a:p>
          <a:p xmlns:a="http://schemas.openxmlformats.org/drawingml/2006/main">
            <a:r>
              <a:t>실무 장면 — 새 지침이 내려온 날, 오전 내내 조항을 질문하며 좋은 답변을 저장해 두고, 퇴근 전에 "오늘 저장한 노트로 학교 안내용 요약본을 써 줘" 한 줄이면 초안이 나옵니다.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https://app.notion.com/p/choinssam/383452af4f1281a1af48ca530a5c6e9f?p=a14452af4f128266b61a817e88c16485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⚠ [이미지 교체 필요] — 본인 담당 규정으로 실제 질의한 화면을 캡처해 넣어 주십시오. 인용 번호가 잘 보여야 합니다.</a:t>
            </a:r>
          </a:p>
          <a:p xmlns:a="http://schemas.openxmlformats.org/drawingml/2006/main">
            <a:r>
              <a:t>[▶ 실제 시연] 캡처 대신 라이브 시연도 좋습니다. 최근 학교에서 실제로 받았던 질문을 그대로 넣고, 답변의 인용 번호를 눌러 원문으로 이동하는 것까지 보여 주십시오.</a:t>
            </a:r>
          </a:p>
          <a:p xmlns:a="http://schemas.openxmlformats.org/drawingml/2006/main">
            <a:r>
              <a:t>멘트 — 이 숫자가 이 도구의 핵심입니다. 답변을 믿는 게 아니라 근거를 확인하는 겁니다.</a:t>
            </a:r>
          </a:p>
          <a:p xmlns:a="http://schemas.openxmlformats.org/drawingml/2006/main">
            <a:r>
              <a:t>※ 실무 순서 — 답변을 읽기 전에 인용부터 확인하는 습관을 들이십시오. 순서를 바꾸는 것만으로 사고가 크게 줄어듭니다.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여기서 반드시 짚어야 할 것이 있습니다.</a:t>
            </a:r>
          </a:p>
          <a:p xmlns:a="http://schemas.openxmlformats.org/drawingml/2006/main">
            <a:r>
              <a:t>규정 비서를 만들 때 실제 사안 자료를 올리고 싶은 유혹이 생깁니다. 그러면 훨씬 구체적인 답이 나오니까요. 넣지 마십시오. 규정 문서만 올려도 필요한 답은 다 나옵니다. 사안은 질문에서 익명으로 설명하면 됩니다.</a:t>
            </a:r>
          </a:p>
          <a:p xmlns:a="http://schemas.openxmlformats.org/drawingml/2006/main">
            <a:r>
              <a:t>마지막 줄도 커리큘럼 원문이 강조하는 보안 철칙입니다 — 공과 사의 분리. 개인 구글 계정에 업무 자료를 올리면 소유와 관리가 흐려집니다. 업무는 기관 계정에서.</a:t>
            </a:r>
          </a:p>
          <a:p xmlns:a="http://schemas.openxmlformats.org/drawingml/2006/main">
            <a:r>
              <a:t>※ 실무 문장 — "규정은 올리고, 사안은 묻는다." 이 한 줄로 기억하시면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https://app.notion.com/p/choinssam/383452af4f1281a1af48ca530a5c6e9f?p=a14452af4f128266b61a817e88c16485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검증 기준 다섯 가지입니다.</a:t>
            </a:r>
          </a:p>
          <a:p xmlns:a="http://schemas.openxmlformats.org/drawingml/2006/main">
            <a:r>
              <a:t>둘째 줄이 실무에서 정말 자주 사고가 나는 지점입니다. 개정 전 지침을 근거로 답이 나오는 경우가 있습니다. 시행일을 반드시 확인하십시오.</a:t>
            </a:r>
          </a:p>
          <a:p xmlns:a="http://schemas.openxmlformats.org/drawingml/2006/main">
            <a:r>
              <a:t>넷째 줄도 중요합니다. 소스 기반이라도 '해석'은 AI가 합니다. 조항을 그대로 옮겨 온 부분과, AI가 해석해서 붙인 문장을 구분해서 읽으셔야 합니다.</a:t>
            </a:r>
          </a:p>
          <a:p xmlns:a="http://schemas.openxmlformats.org/drawingml/2006/main">
            <a:r>
              <a:t>마지막 줄로 마무리하겠습니다 — 이 도구는 답을 주는 도구가 아니라 근거를 빨리 찾아 주는 도구입니다. 판단은 여전히 장학사님 몫입니다.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https://support.google.com/gemininotebook/answer/16164461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6입니다. 25분 드립니다.</a:t>
            </a:r>
          </a:p>
          <a:p xmlns:a="http://schemas.openxmlformats.org/drawingml/2006/main">
            <a:r>
              <a:t>가장 좋은 방법은 4번입니다. 가상 질문 말고 최근에 학교에서 실제로 받은 질문을 그대로 넣어 보십시오. 그래야 이 도구가 쓸 만한지 판단이 섭니다.</a:t>
            </a:r>
          </a:p>
          <a:p xmlns:a="http://schemas.openxmlformats.org/drawingml/2006/main">
            <a:r>
              <a:t>5번을 반드시 하십시오. 인용을 안 누르고 답만 읽으면 이 실습은 의미가 없습니다.</a:t>
            </a:r>
          </a:p>
          <a:p xmlns:a="http://schemas.openxmlformats.org/drawingml/2006/main">
            <a:r>
              <a:t>※ 준비물 안내 — 규정 PDF를 못 챙겨 오신 분을 위해 담당별 공개 규정 모음을 실습 가이드 「자료」에 올려 두었습니다.</a:t>
            </a:r>
          </a:p>
          <a:p xmlns:a="http://schemas.openxmlformats.org/drawingml/2006/main">
            <a:r>
              <a:t>[▶ 웹가이드] 실습 중 연수생 화면은 가이드 「실습 9개」의 실습 6 칸 + 규정 비서 지침 카드입니다. 마무리에 질문·답·확인한 조항을 게시판에 '실습 6'으로 올리게 하십시오.</a:t>
            </a:r>
          </a:p>
          <a:p xmlns:a="http://schemas.openxmlformats.org/drawingml/2006/main">
            <a:r>
              <a:t>※ 순회 포인트 — ① 소스를 하나도 안 올리고 질문하는 분 ② 인용을 안 눌러 보는 분 ③ 실제 사안 내용을 넣으려는 분. 이 셋을 봐 주십시오.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규정 비서를 만들었으면, 같은 자료로 배포물까지 뽑을 수 있습니다.</a:t>
            </a:r>
          </a:p>
          <a:p xmlns:a="http://schemas.openxmlformats.org/drawingml/2006/main">
            <a:r>
              <a:t>학교에 안내할 FAQ, 연수용 슬라이드, 게시용 인포그래픽 — 전부 오른쪽 스튜디오 패널에서 나옵니다.</a:t>
            </a:r>
          </a:p>
          <a:p xmlns:a="http://schemas.openxmlformats.org/drawingml/2006/main">
            <a:r>
              <a:t>수요조사에서 "질 높은 PPT"를 요청하신 분들이 계셨는데, 이 부분입니다.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스튜디오의 값어치는 여기 있습니다. 하나의 소스에서 나온 배포물이라 서로 어긋나지 않습니다.</a:t>
            </a:r>
          </a:p>
          <a:p xmlns:a="http://schemas.openxmlformats.org/drawingml/2006/main">
            <a:r>
              <a:t>사람이 만들면 FAQ와 슬라이드의 숫자가 달라지는 일이 생깁니다. 같은 소스에서 나오면 그럴 일이 줄어듭니다.</a:t>
            </a:r>
          </a:p>
          <a:p xmlns:a="http://schemas.openxmlformats.org/drawingml/2006/main">
            <a:r>
              <a:t>다만 '줄어든다'이지 '없다'가 아닙니다. 만든 뒤에는 반드시 원문과 대조하십시오.</a:t>
            </a:r>
          </a:p>
          <a:p xmlns:a="http://schemas.openxmlformats.org/drawingml/2006/main">
            <a:r>
              <a:t>커리큘럼 원문의 표현을 빌리면 — "지식은 구조화될 때 비로소 힘을 발휘합니다."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assets/infographics/08_하나의근거_다섯배포물_Claude.png</a:t>
            </a:r>
          </a:p>
          <a:p xmlns:a="http://schemas.openxmlformats.org/drawingml/2006/main">
            <a:r>
              <a:t>- https://support.google.com/gemininotebook/answer/16454555</a:t>
            </a:r>
          </a:p>
          <a:p xmlns:a="http://schemas.openxmlformats.org/drawingml/2006/main">
            <a:r>
              <a:t>- https://app.notion.com/p/choinssam/383452af4f1281a1af48ca530a5c6e9f?p=a14452af4f128266b61a817e88c16485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메뉴가 아홉 가지쯤 되는데, 다 쓸 필요는 없습니다. 언제 쓰는지만 기억하십시오.</a:t>
            </a:r>
          </a:p>
          <a:p xmlns:a="http://schemas.openxmlformats.org/drawingml/2006/main">
            <a:r>
              <a:t>장학사님들이 가장 많이 쓰실 것은 위 세 줄입니다. FAQ, 인포그래픽, 슬라이드.</a:t>
            </a:r>
          </a:p>
          <a:p xmlns:a="http://schemas.openxmlformats.org/drawingml/2006/main">
            <a:r>
              <a:t>넷째 줄 마인드맵은 배포용이 아니라 '내가 먼저 파악할 때' 씁니다. 새로 맡은 업무의 지침을 통째로 넣고 마인드맵을 뽑으면 구조가 한눈에 보입니다.</a:t>
            </a:r>
          </a:p>
          <a:p xmlns:a="http://schemas.openxmlformats.org/drawingml/2006/main">
            <a:r>
              <a:t>다섯째 줄 오디오 개요는 한국어를 지원합니다. 한국어 소스를 넣으면 한국어 팟캐스트가 나옵니다. 출퇴근길 사전 학습용으로 좋습니다.</a:t>
            </a:r>
          </a:p>
          <a:p xmlns:a="http://schemas.openxmlformats.org/drawingml/2006/main">
            <a:r>
              <a:t>※ 참고 — 2026년 7월 리브랜딩과 함께 노트북마다 코드 실행 환경이 붙어 데이터 분석·차트 생성이 유료 요금제부터 순차 제공되고 있습니다. 데이터 표 기능도 유료 중심입니다. "무료로 안 되는 게 나오면 요금제 차이"라고 안내하십시오.</a:t>
            </a:r>
          </a:p>
          <a:p xmlns:a="http://schemas.openxmlformats.org/drawingml/2006/main">
            <a:r>
              <a:t>※ 주의 — 동영상 개요는 생성에 30분 이상 걸릴 수 있습니다. 실습 시간 안에 안 끝날 수 있으니 미리 만들어 둔 것을 보여 주십시오.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https://support.google.com/gemininotebook/answer/16454555</a:t>
            </a:r>
          </a:p>
          <a:p xmlns:a="http://schemas.openxmlformats.org/drawingml/2006/main">
            <a:r>
              <a:t>- https://app.notion.com/p/choinssam/383452af4f1281a1af48ca530a5c6e9f?p=a14452af4f128266b61a817e88c16485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여기가 오늘 오후에서 가장 아까운 부분입니다. 대부분 이 기능을 모르고 지나갑니다.</a:t>
            </a:r>
          </a:p>
          <a:p xmlns:a="http://schemas.openxmlformats.org/drawingml/2006/main">
            <a:r>
              <a:t>각 메뉴 옆에 연필 아이콘이 있습니다. 누르면 "어떻게 만들지"를 직접 적을 수 있습니다. 앞에서 배운 R-T-F를 여기 그대로 쓰면 됩니다.</a:t>
            </a:r>
          </a:p>
          <a:p xmlns:a="http://schemas.openxmlformats.org/drawingml/2006/main">
            <a:r>
              <a:t>[▶ 실제 시연] 같은 소스로 '그냥 생성'과 '맞춤 설정 후 생성'을 하나씩 만들어 나란히 보여 주십시오. 이 비교 한 번이면 설명이 필요 없습니다.</a:t>
            </a:r>
          </a:p>
          <a:p xmlns:a="http://schemas.openxmlformats.org/drawingml/2006/main">
            <a:r>
              <a:t>※ 강조 문장 — "맞춤 설정을 했을 때와 안 했을 때의 결과는 차원이 다릅니다. 이 한 번의 클릭이 결과물의 수준을 정합니다."</a:t>
            </a:r>
          </a:p>
          <a:p xmlns:a="http://schemas.openxmlformats.org/drawingml/2006/main">
            <a:r>
              <a:t>※ 생성된 결과물 옆 점 세 개(…) 버튼도 함께 보여 주십시오 — 슬라이드로 재생, 맞춤 프롬프트 다시 보기, 공유·다운로드가 거기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https://support.google.com/gemininotebook/answer/16454555</a:t>
            </a:r>
          </a:p>
          <a:p xmlns:a="http://schemas.openxmlformats.org/drawingml/2006/main">
            <a:r>
              <a:t>- https://app.notion.com/p/choinssam/383452af4f1281a1af48ca530a5c6e9f?p=a14452af4f128266b61a817e88c16485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읽는 자료만 만드는 게 아닙니다. 듣게 만들고, 풀게 만들 수도 있습니다.</a:t>
            </a:r>
          </a:p>
          <a:p xmlns:a="http://schemas.openxmlformats.org/drawingml/2006/main">
            <a:r>
              <a:t>왼쪽 오디오 개요 — 두 진행자가 내 자료를 놓고 토론하는 팟캐스트입니다. 한국어를 지원하니 규정 개정본을 넣고 출퇴근길에 들으면 사전 학습이 됩니다. "특정 쟁점에 집중해서 비판적으로 토론하게 해 줘" 같은 맞춤 설정도 됩니다.</a:t>
            </a:r>
          </a:p>
          <a:p xmlns:a="http://schemas.openxmlformats.org/drawingml/2006/main">
            <a:r>
              <a:t>오른쪽 퀴즈 — 의외로 쓸 데가 많습니다. 새 지침이 내려왔을 때 학교 담당자용 사전 점검 퀴즈로 만들면, 무엇을 헷갈리는지가 바로 보입니다. 연수 마지막 이해도 확인용으로도 좋습니다.</a:t>
            </a:r>
          </a:p>
          <a:p xmlns:a="http://schemas.openxmlformats.org/drawingml/2006/main">
            <a:r>
              <a:t>※ 만드는 요령 — 연필 아이콘으로 "실무에서 실제로 헷갈리는 지점 위주로, 객관식 5문항"이라고 지정하면 훨씬 쓸 만해집니다.</a:t>
            </a:r>
          </a:p>
          <a:p xmlns:a="http://schemas.openxmlformats.org/drawingml/2006/main">
            <a:r>
              <a:t>※ 동영상 개요는 초기 단계라 한글 표기·억양이 어색할 수 있습니다. 기대치를 미리 조정해 주십시오.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https://app.notion.com/p/choinssam/383452af4f1281a1af48ca530a5c6e9f?p=a14452af4f128266b61a817e88c16485</a:t>
            </a:r>
          </a:p>
          <a:p xmlns:a="http://schemas.openxmlformats.org/drawingml/2006/main">
            <a:r>
              <a:t>- https://support.google.com/gemininotebook/answer/16454555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배포물 검증 기준입니다.</a:t>
            </a:r>
          </a:p>
          <a:p xmlns:a="http://schemas.openxmlformats.org/drawingml/2006/main">
            <a:r>
              <a:t>셋째 줄을 강조하겠습니다. 인포그래픽은 예쁘게 나오면 검증을 건너뛰기 쉽습니다. 그런데 대외 배포물이라 오류가 남으면 가장 오래 남습니다.</a:t>
            </a:r>
          </a:p>
          <a:p xmlns:a="http://schemas.openxmlformats.org/drawingml/2006/main">
            <a:r>
              <a:t>둘째 줄 — 슬라이드는 PPTX로 내려받아 파워포인트에서 다듬는 것까지가 한 세트입니다. 그대로 쓰면 제목이 잘리거나 줄바꿈이 어색한 경우가 많습니다. 그래도 백지에서 시작하는 것보다 두세 시간은 아낍니다.</a:t>
            </a:r>
          </a:p>
          <a:p xmlns:a="http://schemas.openxmlformats.org/drawingml/2006/main">
            <a:r>
              <a:t>마지막 줄이 오전에 배운 '반복을 자산으로'와 같은 사상입니다. 무엇을 고쳤는지 적어 두면, 다음에 만들 때 그 내용을 맞춤 설정에 미리 넣을 수 있습니다. 두 번째부터는 손댈 게 확 줄어듭니다.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https://support.google.com/gemininotebook/answer/16454555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7입니다. 25분입니다.</a:t>
            </a:r>
          </a:p>
          <a:p xmlns:a="http://schemas.openxmlformats.org/drawingml/2006/main">
            <a:r>
              <a:t>1번을 지켜 주십시오. 새로 노트북을 만들지 마시고 실습 6의 것을 그대로 쓰십시오. '같은 근거에서 나온다'는 게 핵심입니다.</a:t>
            </a:r>
          </a:p>
          <a:p xmlns:a="http://schemas.openxmlformats.org/drawingml/2006/main">
            <a:r>
              <a:t>2번에서 연필 아이콘을 반드시 눌러 보십시오. 안 누르고 만든 것과 비교하면 차이가 확 보입니다.</a:t>
            </a:r>
          </a:p>
          <a:p xmlns:a="http://schemas.openxmlformats.org/drawingml/2006/main">
            <a:r>
              <a:t>5번 대조를 건너뛰지 마십시오. 그리고 6번 — 무엇을 고쳤는지 적어 두시면 다음번이 훨씬 빨라집니다.</a:t>
            </a:r>
          </a:p>
          <a:p xmlns:a="http://schemas.openxmlformats.org/drawingml/2006/main">
            <a:r>
              <a:t>[▶ 웹가이드] 완성한 3종은 게시판에 '실습 7'로 올리게 하십시오. 인포그래픽 PNG가 게시판에 잇달아 올라오는 장면이 이 실습의 하이라이트입니다.</a:t>
            </a:r>
          </a:p>
          <a:p xmlns:a="http://schemas.openxmlformats.org/drawingml/2006/main">
            <a:r>
              <a:t>※ 시간이 부족하면 — FAQ와 슬라이드 중 하나만 실습하고 나머지는 강사 화면으로 보여 주십시오.</a:t>
            </a:r>
          </a:p>
          <a:p xmlns:a="http://schemas.openxmlformats.org/drawingml/2006/main">
            <a:r>
              <a:t>※ 순회 포인트 — 맞춤 설정을 안 쓰고 그냥 생성 버튼만 누르는 분이 많습니다. 그것만 챙겨 주십시오.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모듈입니다. 두 도구를 이어 붙이는 방법입니다.</a:t>
            </a:r>
          </a:p>
          <a:p xmlns:a="http://schemas.openxmlformats.org/drawingml/2006/main">
            <a:r>
              <a:t>노트북은 내 자료 안에서만 답합니다. 그게 장점이자 한계입니다. 바깥 정보가 필요할 때가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확장 경로가 두 가지입니다.</a:t>
            </a:r>
          </a:p>
          <a:p xmlns:a="http://schemas.openxmlformats.org/drawingml/2006/main">
            <a:r>
              <a:t>왼쪽 — 제미나이 대화창에서 플러스 버튼을 누르면 파일 소스에 노트북이 있습니다. 내가 만든 노트북을 그대로 불러옵니다.</a:t>
            </a:r>
          </a:p>
          <a:p xmlns:a="http://schemas.openxmlformats.org/drawingml/2006/main">
            <a:r>
              <a:t>이러면 "우리 규정으로는 이렇게 되는데, 타 시도는 어떻게 하고 있는지 조사해 줘" 같은 질문이 가능해집니다. 내부 근거와 바깥 정보를 한 대화에서 다룹니다.</a:t>
            </a:r>
          </a:p>
          <a:p xmlns:a="http://schemas.openxmlformats.org/drawingml/2006/main">
            <a:r>
              <a:t>오른쪽 — 심층 리서치입니다. 도구 아이콘을 눌러 켭니다. AI가 인터넷 출장을 다녀오면서 수십 개 사이트를 조사해 보고서를 씁니다.</a:t>
            </a:r>
          </a:p>
          <a:p xmlns:a="http://schemas.openxmlformats.org/drawingml/2006/main">
            <a:r>
              <a:t>여기에 요령이 하나 있습니다. 바로 조사하지 않고 '리서치 계획'을 먼저 보여 줍니다. 그 계획을 고치면 조사 방향이 바뀝니다. 계획을 그냥 승인하지 마시고 한 번 읽어 보십시오.</a:t>
            </a:r>
          </a:p>
          <a:p xmlns:a="http://schemas.openxmlformats.org/drawingml/2006/main">
            <a:r>
              <a:t>⚠ 다만 심층 리서치는 웹으로 나갑니다. 노트북과 달리 소스가 통제되지 않으니, 근거는 따로 확인하셔야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https://app.notion.com/p/choinssam/383452af4f1281a1af48ca530a5c6e9f?p=a14452af4f128266b61a817e88c16485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마지막으로 공유입니다. 이게 실무 효과가 가장 큽니다.</a:t>
            </a:r>
          </a:p>
          <a:p xmlns:a="http://schemas.openxmlformats.org/drawingml/2006/main">
            <a:r>
              <a:t>노트북 상단 공유 버튼으로 부서원을 추가하면, 그 사람들은 자기 질문만 합니다. 소스 자료를 다 열어 보는 게 아닙니다.</a:t>
            </a:r>
          </a:p>
          <a:p xmlns:a="http://schemas.openxmlformats.org/drawingml/2006/main">
            <a:r>
              <a:t>그러면 "이거 규정 어떻게 돼요?"라는 문의가 줄어듭니다. 링크 하나만 주면 되니까요.</a:t>
            </a:r>
          </a:p>
          <a:p xmlns:a="http://schemas.openxmlformats.org/drawingml/2006/main">
            <a:r>
              <a:t>넷째 줄이 함정입니다. 드라이브 원본을 고쳤는데 동기화를 안 누르면 옛날 내용으로 답합니다. 지침이 개정됐을 때 특히 조심하십시오.</a:t>
            </a:r>
          </a:p>
          <a:p xmlns:a="http://schemas.openxmlformats.org/drawingml/2006/main">
            <a:r>
              <a:t>그리고 공유 전 마지막 확인 — 소스 안에 실명이나 연락처가 없는지. 공유하는 순간 부서 전체의 참조 자료가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[참고]</a:t>
            </a:r>
          </a:p>
          <a:p xmlns:a="http://schemas.openxmlformats.org/drawingml/2006/main">
            <a:r>
              <a:t>- https://support.google.com/gemininotebook/answer/16164461</a:t>
            </a:r>
          </a:p>
          <a:p xmlns:a="http://schemas.openxmlformats.org/drawingml/2006/main">
            <a:r>
              <a:t>- https://app.notion.com/p/choinssam/383452af4f1281a1af48ca530a5c6e9f?p=a14452af4f128266b61a817e88c16485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2부를 마무리하겠습니다.</a:t>
            </a:r>
          </a:p>
          <a:p xmlns:a="http://schemas.openxmlformats.org/drawingml/2006/main">
            <a:r>
              <a:t>오늘 도구 이름 하나를 배우셨지만, 그게 남는 게 아닙니다. 이름은 또 바뀔 겁니다. 실제로 지난달에 NotebookLM이 제미나이 노트북으로 바뀌었습니다.</a:t>
            </a:r>
          </a:p>
          <a:p xmlns:a="http://schemas.openxmlformats.org/drawingml/2006/main">
            <a:r>
              <a:t>남는 것은 습관입니다 — 답변보다 인용을 먼저 확인하는 습관, 소스를 담당별로 나누는 습관, 맞춤 설정을 한 번 누르는 습관, 좋은 답변을 저장해 두는 습관.</a:t>
            </a:r>
          </a:p>
          <a:p xmlns:a="http://schemas.openxmlformats.org/drawingml/2006/main">
            <a:r>
              <a:t>마지막으로 한 가지만 부탁드리겠습니다. 내일 아침에 지금 담당하는 규정 하나를 올려 보십시오. 질문 세 개만 던져 보면 이게 내 업무에 맞는지 바로 아실 겁니다.</a:t>
            </a:r>
          </a:p>
          <a:p xmlns:a="http://schemas.openxmlformats.org/drawingml/2006/main">
            <a:r>
              <a:t>[▶ 웹가이드] 게시판을 열어 실습 6·7 결과물을 함께 훑어본 뒤 3부로 넘어갑니다.</a:t>
            </a:r>
          </a:p>
          <a:p xmlns:a="http://schemas.openxmlformats.org/drawingml/2006/main">
            <a:r>
              <a:t>그다음 3부에서는 이 결과물을 '보이게' 만드는 방법을 다룹니다.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3aea0ada6d4e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2d2cf2fff444d0" /><Relationship Type="http://schemas.openxmlformats.org/officeDocument/2006/relationships/slideLayout" Target="/ppt/slideLayouts/slideLayout1.xml" Id="Rf2a06a94faee42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a06a94faee42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dfb6634134e1c" /><Relationship Type="http://schemas.openxmlformats.org/officeDocument/2006/relationships/notesSlide" Target="/ppt/notesSlides/notesSlide1.xml" Id="R7920b8a37df548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c1441b59b435a" /><Relationship Type="http://schemas.openxmlformats.org/officeDocument/2006/relationships/notesSlide" Target="/ppt/notesSlides/notesSlide2.xml" Id="Rcd83d3fb09f446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ebc634d554bec" /><Relationship Type="http://schemas.openxmlformats.org/officeDocument/2006/relationships/notesSlide" Target="/ppt/notesSlides/notesSlide3.xml" Id="R05a9709fc6d343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daf294cbf478f" /><Relationship Type="http://schemas.openxmlformats.org/officeDocument/2006/relationships/notesSlide" Target="/ppt/notesSlides/notesSlide4.xml" Id="R02a8d4540db446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2f775e1e34d07" /><Relationship Type="http://schemas.openxmlformats.org/officeDocument/2006/relationships/notesSlide" Target="/ppt/notesSlides/notesSlide5.xml" Id="Re9012046a8204a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bc55e90ed436c" /><Relationship Type="http://schemas.openxmlformats.org/officeDocument/2006/relationships/image" Target="/ppt/media/image.png" Id="R3d1e5b6d90004902" /><Relationship Type="http://schemas.openxmlformats.org/officeDocument/2006/relationships/notesSlide" Target="/ppt/notesSlides/notesSlide6.xml" Id="R1cbf89a45f3845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251a811704125" /><Relationship Type="http://schemas.openxmlformats.org/officeDocument/2006/relationships/notesSlide" Target="/ppt/notesSlides/notesSlide7.xml" Id="R5e498a2ef29040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f90b4befa4a39" /><Relationship Type="http://schemas.openxmlformats.org/officeDocument/2006/relationships/notesSlide" Target="/ppt/notesSlides/notesSlide8.xml" Id="Re3c57a32e5904d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c6b1cd55644c8" /><Relationship Type="http://schemas.openxmlformats.org/officeDocument/2006/relationships/notesSlide" Target="/ppt/notesSlides/notesSlide9.xml" Id="R5ed5270452c440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e1235a66f4ed9" /><Relationship Type="http://schemas.openxmlformats.org/officeDocument/2006/relationships/notesSlide" Target="/ppt/notesSlides/notesSlide10.xml" Id="R836dad77a20a46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0afc2eed84c01" /><Relationship Type="http://schemas.openxmlformats.org/officeDocument/2006/relationships/notesSlide" Target="/ppt/notesSlides/notesSlide11.xml" Id="R2c3a64e5fb7444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06176c5734180" /><Relationship Type="http://schemas.openxmlformats.org/officeDocument/2006/relationships/notesSlide" Target="/ppt/notesSlides/notesSlide12.xml" Id="R48a10fe9ced14b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07547d2c049fb" /><Relationship Type="http://schemas.openxmlformats.org/officeDocument/2006/relationships/notesSlide" Target="/ppt/notesSlides/notesSlide13.xml" Id="Rd51028922f1542f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1eed903074967" /><Relationship Type="http://schemas.openxmlformats.org/officeDocument/2006/relationships/notesSlide" Target="/ppt/notesSlides/notesSlide14.xml" Id="R91b500ac0db0420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4b44247a44b70" /><Relationship Type="http://schemas.openxmlformats.org/officeDocument/2006/relationships/notesSlide" Target="/ppt/notesSlides/notesSlide15.xml" Id="R87edf900f7da4d1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e9d48cb504a8c" /><Relationship Type="http://schemas.openxmlformats.org/officeDocument/2006/relationships/notesSlide" Target="/ppt/notesSlides/notesSlide16.xml" Id="Rba85ed09340b44d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8bc2a6547454e" /><Relationship Type="http://schemas.openxmlformats.org/officeDocument/2006/relationships/notesSlide" Target="/ppt/notesSlides/notesSlide17.xml" Id="R87c5e6d4af324b6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6fa87770b4919" /><Relationship Type="http://schemas.openxmlformats.org/officeDocument/2006/relationships/notesSlide" Target="/ppt/notesSlides/notesSlide18.xml" Id="Rcdbe116ed263476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42764a8314510" /><Relationship Type="http://schemas.openxmlformats.org/officeDocument/2006/relationships/notesSlide" Target="/ppt/notesSlides/notesSlide19.xml" Id="R27cbc85302e2414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0f78a9cfd4129" /><Relationship Type="http://schemas.openxmlformats.org/officeDocument/2006/relationships/notesSlide" Target="/ppt/notesSlides/notesSlide20.xml" Id="R8ec01c1631cd415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5527fbdc840b2" /><Relationship Type="http://schemas.openxmlformats.org/officeDocument/2006/relationships/notesSlide" Target="/ppt/notesSlides/notesSlide21.xml" Id="R1fe39d476820449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094729f0947b5" /><Relationship Type="http://schemas.openxmlformats.org/officeDocument/2006/relationships/image" Target="/ppt/media/image2.png" Id="R3534d25cb1eb4f0a" /><Relationship Type="http://schemas.openxmlformats.org/officeDocument/2006/relationships/notesSlide" Target="/ppt/notesSlides/notesSlide22.xml" Id="R2be2da776cd042e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358f81cb84c55" /><Relationship Type="http://schemas.openxmlformats.org/officeDocument/2006/relationships/notesSlide" Target="/ppt/notesSlides/notesSlide23.xml" Id="Rfd3d859ff721460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89d585cb54a17" /><Relationship Type="http://schemas.openxmlformats.org/officeDocument/2006/relationships/notesSlide" Target="/ppt/notesSlides/notesSlide24.xml" Id="R499dea5400e04ba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c009931a945d4" /><Relationship Type="http://schemas.openxmlformats.org/officeDocument/2006/relationships/notesSlide" Target="/ppt/notesSlides/notesSlide25.xml" Id="Rc960d18adf144d3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96f73ec444b2f" /><Relationship Type="http://schemas.openxmlformats.org/officeDocument/2006/relationships/notesSlide" Target="/ppt/notesSlides/notesSlide26.xml" Id="Rd29b2876ed9f413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c50a4345641ba" /><Relationship Type="http://schemas.openxmlformats.org/officeDocument/2006/relationships/notesSlide" Target="/ppt/notesSlides/notesSlide27.xml" Id="Rc60176f46d8341c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2c21d81714815" /><Relationship Type="http://schemas.openxmlformats.org/officeDocument/2006/relationships/notesSlide" Target="/ppt/notesSlides/notesSlide28.xml" Id="R0939b33d8e1c405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7e8f7f00f4cc6" /><Relationship Type="http://schemas.openxmlformats.org/officeDocument/2006/relationships/notesSlide" Target="/ppt/notesSlides/notesSlide29.xml" Id="Rd84a4962de0642b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241a54caa4cc4" /><Relationship Type="http://schemas.openxmlformats.org/officeDocument/2006/relationships/notesSlide" Target="/ppt/notesSlides/notesSlide30.xml" Id="R4559976d6cae43e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164c9322b496f" /><Relationship Type="http://schemas.openxmlformats.org/officeDocument/2006/relationships/notesSlide" Target="/ppt/notesSlides/notesSlide31.xml" Id="Ra52eac65453340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2F6A9-11D0-4515-B4A6-7F1DD10B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60F4E-861D-47B5-83E5-36F9EF0E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1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2부 · 오후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5A707-E049-4ADB-BC77-403C8FE3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666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200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4200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근거가 보이는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200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4200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규정 비서 만들기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66FB6-DDA6-4877-9205-F11AE2D2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 i="0">
                <a:solidFill>
                  <a:srgbClr val="6C6A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6C6A64"/>
                </a:solidFill>
                <a:latin typeface="Noto Sans KR"/>
                <a:ea typeface="Noto Sans KR"/>
                <a:cs typeface="Noto Sans KR"/>
              </a:rPr>
              <a:t>제미나이 노트북 — 내가 올린 자료 안에서만 답하고, 원문 위치까지 짚어 주는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0646B-EA50-4DA1-9F4F-28117879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628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F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1EC32-8737-4576-8EA0-2BB43B42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소스 · 채팅 · 스튜디오  |  R-T-F 질문법  |  치트키 3종  |  노트 저장  |  배포물  |  검증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B922F-B548-4D93-B711-FDC2A83B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EB450-9EDC-4817-9421-82BE297F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817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2026. 8. 11.(화)  ·  춘천시교육지원청 교육전문직  ·  강사 김상백</a:t>
            </a:r>
          </a:p>
        </p:txBody>
      </p:sp>
    </p:spTree>
    <p:extLst>
      <p:ext uri="{BB962C8B-B14F-4D97-AF65-F5344CB8AC3E}">
        <p14:creationId xmlns:p14="http://schemas.microsoft.com/office/powerpoint/2010/main" val="101543161"/>
      </p:ext>
    </p:extLst>
  </p:cSld>
  <p:transition spd="slow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817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A2459-36DA-49DC-9723-AA1C279B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85C73-2E21-4596-B1B8-AE9C8108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MODULE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FB4A1-1D6B-4342-914E-373E028B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39651-EFF2-40FA-9FB9-C93CCD8D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8CD0F-E0AA-4903-8F0E-25A56C4E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8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WHY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681C6-435D-4A91-9175-179C02C7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10668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왜 챗봇이 아니라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노트북인가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B49BE-142D-415B-B8ED-A8B50730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0" i="0">
                <a:solidFill>
                  <a:srgbClr val="CFC8B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 i="0">
                <a:solidFill>
                  <a:srgbClr val="CFC8BF"/>
                </a:solidFill>
                <a:latin typeface="Noto Sans KR"/>
                <a:ea typeface="Noto Sans KR"/>
                <a:cs typeface="Noto Sans KR"/>
              </a:rPr>
              <a:t>챗봇은 모르는 것도 아는 척합니다. 노트북은 내가 올린 자료 밖으로 나가지 않습니다.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28B22-6584-4A9E-AB3F-097E79B7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1847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22232729"/>
      </p:ext>
    </p:extLst>
  </p:cSld>
  <p:transition spd="slow">
    <p:push dir="u"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F1DE34-AEA9-4E42-803B-E8BA102A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9EEA4-FB50-4682-8D46-2F2AD359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EA248-E16F-4C69-AA83-3A8ED220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2870F-8EE7-4891-88AC-FB0597AB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0F537-0E3B-44C1-A672-CB717E3F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분업 기준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49898-F0E7-4688-A0F9-95CBB2FB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두 도구는 역할이 다릅니다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8723B-7911-4C1D-B655-B2B38B52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5467350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142EC-8675-435A-8552-BDA0A627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1" i="0">
                <a:solidFill>
                  <a:srgbClr val="6C6A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6C6A64"/>
                </a:solidFill>
                <a:latin typeface="Noto Sans KR"/>
                <a:ea typeface="Noto Sans KR"/>
                <a:cs typeface="Noto Sans KR"/>
              </a:rPr>
              <a:t>제미나이 (창조의 재주꾼)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1D87F-826C-4630-9F80-64059595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491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1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— 세상 모든 지식을 학습한 '천재 작가'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776AA-BF07-4E6D-85C3-01744221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91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1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— 빈 화면에서 초안을 잡을 때 최고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C38BC-9B18-4707-AD37-050375FA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91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1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— 심층 리서치로 웹을 직접 조사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24976-614F-42FA-AD79-8B5D8667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491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1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— ⚠ 모르는 것도 아는 척할 수 있음 (환각)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71760-D350-4F33-A326-5961F861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66900"/>
            <a:ext cx="5467350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B6CE2-8614-4BFE-BEAE-725E3DCE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노트북 (팩트의 분석가)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CA62D-5645-40DF-BCF9-40ABFEA6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491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13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✦ 내가 올린 소스 안에서만 답함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C9A326-F0B3-4A45-99F9-95512BB0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491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13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✦ 답변 문장마다 원문 위치를 표시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44EB34-5A24-44E9-8B46-19ECA4CE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95700"/>
            <a:ext cx="491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13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✦ 스튜디오로 보고서·배포물까지 생성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7107FC-3982-4C52-8861-0272FD46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86250"/>
            <a:ext cx="491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13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0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✦ 소스에 없으면 '없다'고 답하게 만들 수 있음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23CFD4-6F97-4FE1-86B3-FCD136A7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86450"/>
            <a:ext cx="1120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38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근거를 확인할 때는 노트북, 없는 것을 만들어 낼 때는 제미나이 — 이 경계만 지키면 됩니다.</a:t>
            </a:r>
          </a:p>
        </p:txBody>
      </p:sp>
    </p:spTree>
    <p:extLst>
      <p:ext uri="{BB962C8B-B14F-4D97-AF65-F5344CB8AC3E}">
        <p14:creationId xmlns:p14="http://schemas.microsoft.com/office/powerpoint/2010/main" val="98300874"/>
      </p:ext>
    </p:extLst>
  </p:cSld>
  <p:transition spd="slow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55A2EA-5DCC-484E-8A67-7559BD96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7AC93-C778-4179-BAD6-DC2CE169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976FE-69A4-4974-ADE3-2988C491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DE2F8-1AC6-4EBD-B315-E8B14064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1E0FC-6D45-4190-BE04-3AEA174A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두 도구를 섞는 순서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EC4E6-34E2-44FB-B843-35DFA8A0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실전 협업 — 재주꾼이 만들고, 분석가가 다듬습니다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B600B-EF9D-46DC-9941-F99874C1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3629025" cy="3848100"/>
          </a:xfrm>
          <a:prstGeom xmlns:a="http://schemas.openxmlformats.org/drawingml/2006/main" prst="roundRect">
            <a:avLst>
              <a:gd name="adj" fmla="val 3675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EEF8D-EC89-40F5-841A-B1C7B31C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36290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8EB79-19F6-4EBD-B4B1-9E9EF6A9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① 제미나이로 넓게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C924D-84A1-4F8F-AD1C-952E42C3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트렌드 · 타 시도 사례 · 아이디어를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D4C14-EEFB-4E7A-BD58-22CC27DB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심층 리서치로 광범위하게 수집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DBF7E-EAD7-472E-8A90-F29290A5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06DAA-7CDD-4FC5-96C5-DD544367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"2026 교육과정 개정 관련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CE83DA-1F60-4B83-B4B4-76F05C32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 시도별 대응 사례를 조사해 줘"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6F3E3-69CA-455B-8A9A-94B2415F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47850"/>
            <a:ext cx="3629025" cy="3848100"/>
          </a:xfrm>
          <a:prstGeom xmlns:a="http://schemas.openxmlformats.org/drawingml/2006/main" prst="roundRect">
            <a:avLst>
              <a:gd name="adj" fmla="val 3675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3B6731-9AB5-43F4-9884-B968F2B2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47850"/>
            <a:ext cx="36290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432B57-BA42-4E7E-AF77-6CA03151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95500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② 노트북에 근거를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46D39C-8E37-4C13-BEB6-CCB035A6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813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우리 교육청 지침 · 규정 · 내부 자료를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BDAC5B-09FE-4B27-B1B7-9D260C15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2385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소스로 업로드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B80E10-D253-4F11-B04C-0CC94C19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6957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9445D4-2136-4622-9952-A6C2067A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1529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여기서부터는 답변마다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CED7B4-024B-4F9B-BFEF-827AF5E8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6101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원문 위치가 붙습니다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783825-6EAC-4508-9955-A631863A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47850"/>
            <a:ext cx="3629025" cy="3848100"/>
          </a:xfrm>
          <a:prstGeom xmlns:a="http://schemas.openxmlformats.org/drawingml/2006/main" prst="roundRect">
            <a:avLst>
              <a:gd name="adj" fmla="val 3675"/>
            </a:avLst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305275-7640-4CC6-B4D2-7AF9DF29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47850"/>
            <a:ext cx="36290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4A38D7-6154-4023-B7BF-D643D2D3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③ 결합해 판단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17899A-4939-4B79-838E-5FE81E51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바깥 정보 + 내부 근거를 결합해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3628FA-D94C-4609-A9AF-9B62AA71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우리 상황에 맞는 안 도출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33B52F-1F33-4991-8941-86D43E01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F2D0E4-5A2A-4817-B196-2948A47B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529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최근에는 제미나이 대화에서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CD6D97-2D53-48DE-B328-110409E3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노트북 자료를 바로 불러올 수도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1AD24C-7FF4-48EE-8054-A1AE9FE2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673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있습니다 (마지막 모듈에서)</a:t>
            </a:r>
          </a:p>
        </p:txBody>
      </p:sp>
    </p:spTree>
    <p:extLst>
      <p:ext uri="{BB962C8B-B14F-4D97-AF65-F5344CB8AC3E}">
        <p14:creationId xmlns:p14="http://schemas.microsoft.com/office/powerpoint/2010/main" val="2093384510"/>
      </p:ext>
    </p:extLst>
  </p:cSld>
  <p:transition spd="slow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817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D45CD-D0E9-4561-870C-EDAB056A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1D3D8-46F3-4CAD-80B8-FA579EDD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MODULE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7094C-9649-4FF8-B52C-D6C264D9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06BBF-8659-4609-8594-2395D896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120DE-B29D-4878-96A8-51DBF74C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8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B2E45-B3CB-492F-88FB-A36E3DE3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10668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화면은 세 칸,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시작은 소스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3EE7C-CCA0-427C-9F69-DC5970C0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0" i="0">
                <a:solidFill>
                  <a:srgbClr val="CFC8B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 i="0">
                <a:solidFill>
                  <a:srgbClr val="CFC8BF"/>
                </a:solidFill>
                <a:latin typeface="Noto Sans KR"/>
                <a:ea typeface="Noto Sans KR"/>
                <a:cs typeface="Noto Sans KR"/>
              </a:rPr>
              <a:t>왼쪽에 자료를 넣고, 가운데에서 묻고, 오른쪽에서 배포물을 만듭니다.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2E3C8-7493-43EF-B5DC-3F33BC17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1847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47651637"/>
      </p:ext>
    </p:extLst>
  </p:cSld>
  <p:transition spd="slow">
    <p:push dir="u"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D2075-8DEF-4A0D-AEC9-8A7BCC83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4012F-4E24-4F9C-ACA3-1C4747C2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5CA28-3137-4B09-9546-C8CE2893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B469A-B948-42E8-BF7F-FFC150C6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D8B92-B61C-4E47-934C-64BD4CE1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38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화면 구조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1e5b6d90004902"/>
          <a:stretch xmlns:a="http://schemas.openxmlformats.org/drawingml/2006/main"/>
        </p:blipFill>
        <p:spPr>
          <a:xfrm xmlns:a="http://schemas.openxmlformats.org/drawingml/2006/main">
            <a:off x="1120245" y="742950"/>
            <a:ext cx="9951509" cy="5600700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</p:spTree>
    <p:extLst>
      <p:ext uri="{BB962C8B-B14F-4D97-AF65-F5344CB8AC3E}">
        <p14:creationId xmlns:p14="http://schemas.microsoft.com/office/powerpoint/2010/main" val="1475686801"/>
      </p:ext>
    </p:extLst>
  </p:cSld>
  <p:transition spd="slow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624D5-5234-4B7E-91B1-4197D06C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DA375-381A-4F87-ABC2-2D0F5A4C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E66F0-6DB1-4DAF-AD71-977D7BB1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F98BC-ABD3-458D-B2E3-6AE681C0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13051-BF9C-4ADA-8B39-0AB5B1D9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38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1단계 · 노트북 만들기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CD81E-F573-476D-9B36-D3E44DA7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100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새 노트북을 만들고 자료를 올립니다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6D2C0-9985-4224-B526-EFE36685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2050"/>
            <a:ext cx="11353800" cy="4838700"/>
          </a:xfrm>
          <a:prstGeom xmlns:a="http://schemas.openxmlformats.org/drawingml/2006/main" prst="roundRect">
            <a:avLst>
              <a:gd name="adj" fmla="val 2756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19050">
            <a:solidFill>
              <a:srgbClr val="CC78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A8CBC-5BC4-49EB-AC37-6D217E10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19400"/>
            <a:ext cx="11353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950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실제 화면 캡처 자리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5FD65-7D7B-4074-81EF-6703BD34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71850"/>
            <a:ext cx="9448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7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캡처할 것 — ① 노트북 첫 화면(새로 만들기 버튼) ② 소스 업로드 대화상자(파일·드라이브·URL·유튜브·텍스트 선택지가 보이게)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127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강사 계정으로 '학교회계' 같은 담당 업무 이름의 노트북을 만든 화면이면 가장 좋습니다.</a:t>
            </a:r>
          </a:p>
        </p:txBody>
      </p:sp>
    </p:spTree>
    <p:extLst>
      <p:ext uri="{BB962C8B-B14F-4D97-AF65-F5344CB8AC3E}">
        <p14:creationId xmlns:p14="http://schemas.microsoft.com/office/powerpoint/2010/main" val="1681114019"/>
      </p:ext>
    </p:extLst>
  </p:cSld>
  <p:transition spd="slow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874420-5997-4C16-8686-07F0A50B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DEF8E-8EC4-4D99-83C5-6FB97493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6C5E7-73FE-4940-BFBC-6F049942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A6788-E00B-46E0-BFCF-0CE1D52F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ADF74-D9C8-47C7-B0A0-97020DCF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소스 5종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65911-8FE2-4DF5-9AB8-4593C5A2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소스로 넣을 수 있는 것 — 다섯 갈래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972BC-B536-4635-B7C3-D3D656BF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6E6BC-85E0-410B-9E40-22FF6454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형식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AA9C3-4D07-48E4-B654-0CB6F75A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47850"/>
            <a:ext cx="457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07922-ABD1-4400-82CD-679E8537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43100"/>
            <a:ext cx="434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무엇을 넣나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09A01-F460-4276-9678-912F3B4E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47850"/>
            <a:ext cx="4724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0676A-FA54-4A40-9F1A-452931D2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4310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실무 요령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B9E240-4EB1-41F1-B305-8293BC62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38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86DFD6-FD2E-4E42-9976-84E7B5C2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파일 업로드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D14564-2CD7-4538-B5AB-F6A5DCFC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38400"/>
            <a:ext cx="457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6F213E-732A-415B-9B9A-93C1376C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24125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PDF · docx · pptx · txt · md · csv · 이미지 · 오디오 · ePub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A1326-799A-4C8E-B9B1-27526544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38400"/>
            <a:ext cx="4724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17B432-44FC-43B7-97E8-9AC58EC3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24125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표·텍스트가 살아 있는 PDF가 가장 정확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D9DD30-DEF8-406A-9B22-3C5224D0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289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F1E416-F0DE-408C-AC76-5CA2F2EE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구글 드라이브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0B9E9A-10DD-4512-B54E-285CD78F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28950"/>
            <a:ext cx="457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316F7C-4A94-4D92-84A2-99E49604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14675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문서 · 슬라이드(100장까지) · 시트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62ABED-E5C9-4724-A4D6-F6245DE0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28950"/>
            <a:ext cx="4724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7E19DF-DC14-4AC3-9599-44CBE284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14675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내려받지 않고 바로 연결. 원본 수정 시 동기화 버튼 필수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1F0943-5F69-4644-ADA4-C4897F85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8CFAB2-83F4-4785-A7AA-0CB9E9AD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웹사이트 URL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CBE7A3-F886-442A-B71F-04FA9A5E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19500"/>
            <a:ext cx="457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29C955-E5F3-45C2-871E-40CA18BE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05225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교육부·교육청 공지, 법령 페이지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8076B8-875E-43A8-A731-61B1C515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19500"/>
            <a:ext cx="4724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E72C6A-9BFF-4BBF-813B-F5BE0223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05225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주소만 넣으면 본문만 추출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572BE1-2C99-40F6-996E-36D4E8A4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100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9EF147-C290-46CB-A797-BA631751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유튜브 링크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FA26E8-1AED-457B-BE25-B593101A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10050"/>
            <a:ext cx="457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A60834-79ED-4437-B337-BA4F38CF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95775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공개 영상의 자막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25C1A0-443B-4E5B-9818-77E0CD61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10050"/>
            <a:ext cx="4724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76B4BD-02BD-49F5-8447-925CE5D3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95775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1시간 연수 영상도 핵심만. 영어 영상도 한글로 물으면 한글로 답함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E60B0F-6CA5-44DD-871D-2F25A21D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006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B97749-C4B5-413D-A3EB-A5B913F2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붙여넣은 텍스트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2D99B3-8E95-4957-B31A-EDF9FF7D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00600"/>
            <a:ext cx="457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E86F43-0E09-4741-87E1-EB45853C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86325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메신저 회의록 · 메일 본문 · 제미나이 대화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895D2F-B6C3-42F9-AF6B-12C0AF9E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00600"/>
            <a:ext cx="4724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5E2E71-C43E-49B2-883D-B3630C89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86325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형식이 깨진 자료는 그냥 복붙이 빠름</a:t>
            </a:r>
          </a:p>
        </p:txBody>
      </p:sp>
    </p:spTree>
    <p:extLst>
      <p:ext uri="{BB962C8B-B14F-4D97-AF65-F5344CB8AC3E}">
        <p14:creationId xmlns:p14="http://schemas.microsoft.com/office/powerpoint/2010/main" val="442422354"/>
      </p:ext>
    </p:extLst>
  </p:cSld>
  <p:transition spd="slow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7B4849-DEF7-45D8-AB6E-279CD01C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30790-850E-4C2A-96C8-6CB48215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9A45E-360B-49B7-95E0-8FAA3F23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2CBB4-F641-49E7-BD57-C39D58C7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81F86-B999-45A3-B9BA-9EDB209C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⚠ 반드시 지킬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9008B-B4B5-422C-9AB1-DD320179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소스 준비에서 결과의 절반이 결정됩니다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489CD-4AEA-482C-B981-ACA87B93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A9C334-4124-4DC3-9EAB-33ED637F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⚠ 한글(.hwp/.hwpx)은 지원 목록에 없습니다 — 한글에서 'PDF로 저장' 후 올립니다.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C6EF4D-698F-4EBA-BB4C-94008556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0EA0A-8726-4BB5-89FF-0ED641AA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098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⚠ 복사 금지가 걸린 PDF는 실패합니다. 스캔 이미지 PDF도 정확도가 떨어집니다.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A18A9-4CA8-4B10-AD89-792A5F3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15FAE-B681-4CDF-B12D-C95C7CF0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147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담당별로 노트북을 나눕니다. 한 노트북에 다 넣으면 엉뚱한 조항이 섞입니다.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5D11FE-CFA8-4DA2-A9FB-7B50E6D2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1BDEE-6F77-4FE3-B247-7442B911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195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GIGO — 소스의 숫자가 틀리면 결과도 틀립니다. 개정 최신본인지 먼저 확인합니다.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A91BA-3680-4DE0-801F-8178211E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5850F8-6602-4332-A0A4-81A190BB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244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⚠ 진행 중인 사안(학교폭력·행정심판)의 구체 내용은 넣지 않습니다. 규정 문서만 올립니다.</a:t>
            </a:r>
          </a:p>
        </p:txBody>
      </p:sp>
    </p:spTree>
    <p:extLst>
      <p:ext uri="{BB962C8B-B14F-4D97-AF65-F5344CB8AC3E}">
        <p14:creationId xmlns:p14="http://schemas.microsoft.com/office/powerpoint/2010/main" val="1959001620"/>
      </p:ext>
    </p:extLst>
  </p:cSld>
  <p:transition spd="slow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3AE8D2-EE11-4B3C-852F-5F083C9F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C1896-4DB0-46E3-8DDB-77E5E9FB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55A8F-8069-4A6A-A0F0-282ACACC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40C11-12D4-48F8-9F5D-BE8E80CA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4E22F-4084-47DF-B701-7304162A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소스 준비의 기초 공사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EB0B2-4E01-4A23-A373-29C7885A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AI가 잘 찾게 만드는 정리 습관 세 가지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D7E8A-F365-4528-BB47-4CD1C72F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3629025" cy="3848100"/>
          </a:xfrm>
          <a:prstGeom xmlns:a="http://schemas.openxmlformats.org/drawingml/2006/main" prst="roundRect">
            <a:avLst>
              <a:gd name="adj" fmla="val 3675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9026F-5498-46D9-8350-38533891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36290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92C0A-CC63-47A5-922A-B6DE16D1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파일 이름에 날짜를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C9FFA-44A2-4F8C-9F29-BBF81A68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260811_학교회계지침_개정본.pdf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EBE81-458D-4C68-8258-FA0F6F90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3432B-21D2-4BB6-992E-A878ED70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앞에 YYMMDD를 붙이면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C934F-E8B3-428C-9323-6776DC00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시간순으로 저절로 정렬되고,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9271D-BAC7-42B8-8F89-5FF270AB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최신본이 무엇인지 한눈에 보입니다.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6EA8B-0CE5-4A51-9FDB-63CD0CDF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47850"/>
            <a:ext cx="3629025" cy="3848100"/>
          </a:xfrm>
          <a:prstGeom xmlns:a="http://schemas.openxmlformats.org/drawingml/2006/main" prst="roundRect">
            <a:avLst>
              <a:gd name="adj" fmla="val 3675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93F06-56DF-48B7-A763-3022633E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47850"/>
            <a:ext cx="36290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E97EF2-685B-4FAA-8D4A-C9DDB660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95500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공백 대신 언더바(_)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FCA602-AA2D-4F75-A0F5-633D1FDA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813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학교 회계 지침.pdf  →  학교회계_지침.pdf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7E73DE-3480-4F88-A267-25AD73F4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2385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BF0F98-557D-4E15-A4CF-3CCDC263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6957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공백이 든 파일명은 시스템이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3BE607-6DF0-442A-A50A-5443A0D2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1529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경로를 끊어 읽는 일이 생깁니다.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A2F7E9-CDA5-4745-AA08-1AB3228B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6101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AI·자동화 도구 어디서든 안전합니다.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110325-7419-40A9-AE7C-98DA83BA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47850"/>
            <a:ext cx="3629025" cy="3848100"/>
          </a:xfrm>
          <a:prstGeom xmlns:a="http://schemas.openxmlformats.org/drawingml/2006/main" prst="roundRect">
            <a:avLst>
              <a:gd name="adj" fmla="val 3675"/>
            </a:avLst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5C98A5-2E77-4EE1-A204-460D76FA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47850"/>
            <a:ext cx="36290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043E1B-7F6E-4E3B-831D-87BBBBC7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폴더 앞에 번호를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A6404C-C5D7-4C06-9B34-93C2D861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00_원본  01_변환PDF  02_결과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3E8C55-FE33-4CC3-BEDC-32377CE8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DCBF96-EC8C-4248-AAD7-992317D9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정렬 순서가 고정되고,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4928BE-8FB6-464E-952F-428EF8BC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529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오전 Cowork 실습의 폴더 규칙과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A2A5E0-7B86-461B-83F8-718931EE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그대로 이어집니다.</a:t>
            </a:r>
          </a:p>
        </p:txBody>
      </p:sp>
    </p:spTree>
    <p:extLst>
      <p:ext uri="{BB962C8B-B14F-4D97-AF65-F5344CB8AC3E}">
        <p14:creationId xmlns:p14="http://schemas.microsoft.com/office/powerpoint/2010/main" val="432066286"/>
      </p:ext>
    </p:extLst>
  </p:cSld>
  <p:transition spd="slow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817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58803-C845-493D-8D54-0E04C98B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F0847-462B-40FB-B8B3-D98718CA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MODULE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364A7-E177-4525-BBE8-0F41F508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3A5F6-27E5-426B-88E1-0B19556C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BA643-ACE3-4BC4-A35C-1B479EEC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8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ASKING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1B0BE-080B-476E-BA09-AF085DE2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10668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"요약해 줘"는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초보의 질문입니다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06EFA-EDD5-4E02-8DCD-7ECE3BF1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0" i="0">
                <a:solidFill>
                  <a:srgbClr val="CFC8B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 i="0">
                <a:solidFill>
                  <a:srgbClr val="CFC8BF"/>
                </a:solidFill>
                <a:latin typeface="Noto Sans KR"/>
                <a:ea typeface="Noto Sans KR"/>
                <a:cs typeface="Noto Sans KR"/>
              </a:rPr>
              <a:t>질문의 구조를 바꾸면 답의 수준이 달라집니다. R-T-F와 세 가지 치트키를 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B8F7D-0AB1-4F55-B667-50BD4F8B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1847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74366858"/>
      </p:ext>
    </p:extLst>
  </p:cSld>
  <p:transition spd="slow">
    <p:push dir="u"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0F7C6D-170A-4A28-866F-260DBEF2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00CC1-D47E-4883-8ED3-2244DDA5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3E538-601A-400C-ABE3-125D6AB6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3ECB0-D9C9-4AC0-881D-4EA0B274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C97D3-FEA2-4D99-B517-43C35270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질문의 구조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ABA67-4B90-45E1-973E-AE871F7B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R-T-F — 질문을 세 덩어리로 나눕니다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0DA0F-24CF-41FB-9202-41A8B1AC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3629025" cy="3848100"/>
          </a:xfrm>
          <a:prstGeom xmlns:a="http://schemas.openxmlformats.org/drawingml/2006/main" prst="roundRect">
            <a:avLst>
              <a:gd name="adj" fmla="val 3675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4214D-C6C2-447B-8DCA-8811D1F9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36290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1138B-350E-40A6-A046-8A3D5B02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R · 역할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1D83E-92CA-4D3C-8C1D-75323D1D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누구의 머리를 빌릴 것인가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09F3B3-D3BF-4E10-98F5-094A1C5E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역할이 없으면 가장 평균적인 답이 옵니다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33BC1-E53F-4E4D-BA15-E3451E2F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"당신은 학교회계를 15년 담당한 주무관입니다"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845233-8290-402D-BB85-085BE52D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역할을 정하는 순간 그 분야 지식을 우선 씁니다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5C75B-3C4B-4214-B940-4C5AA394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47850"/>
            <a:ext cx="3629025" cy="3848100"/>
          </a:xfrm>
          <a:prstGeom xmlns:a="http://schemas.openxmlformats.org/drawingml/2006/main" prst="roundRect">
            <a:avLst>
              <a:gd name="adj" fmla="val 3675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6D1505-B7F1-4FCF-B68E-D7BE1C9A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47850"/>
            <a:ext cx="36290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7A193B-F497-40E8-A20C-4589B656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95500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T · 작업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Task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7BA60C-9E4D-4EA7-9F9E-BC0E89A0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8130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네 가지를 적습니다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A77238-C54E-47BF-B53D-1129DFF7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21945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대상 — 누구에게 줄 답인가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60CFAE-2EE7-483D-A32E-A7A451F7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65760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주제 — 무엇을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416AB0-1437-477F-A02F-F71D1D9C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09575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목적 — 왜 필요한가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830EFD-A7A0-4E93-B3E7-329D32D8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53390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조건 — 무엇은 하지 말아야 하는가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EBEA89-717B-4232-A9D5-EB7B3DC0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47850"/>
            <a:ext cx="3629025" cy="3848100"/>
          </a:xfrm>
          <a:prstGeom xmlns:a="http://schemas.openxmlformats.org/drawingml/2006/main" prst="roundRect">
            <a:avLst>
              <a:gd name="adj" fmla="val 3675"/>
            </a:avLst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9A750E-3262-472A-B66C-661FF8E6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47850"/>
            <a:ext cx="36290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F6EB73-435C-47DF-9B2F-C1B73427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F · 형식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Format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55FE21-C274-41F1-932C-B6BC8C08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형식을 안 주면 줄글로 옵니다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6622E0-B979-4F5F-94B5-A089AE06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1945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표 — 비교·대조에 최적, 시트로 바로 붙여넣기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768586-F8C3-4947-9B29-3BC8255C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5760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체크리스트 — 실무 점검·안내문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C69507-08DA-4FE3-93D9-8226B9EA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"조항 번호를 별도 열로" 같은 지정이 결정적</a:t>
            </a:r>
          </a:p>
        </p:txBody>
      </p:sp>
    </p:spTree>
    <p:extLst>
      <p:ext uri="{BB962C8B-B14F-4D97-AF65-F5344CB8AC3E}">
        <p14:creationId xmlns:p14="http://schemas.microsoft.com/office/powerpoint/2010/main" val="1402488516"/>
      </p:ext>
    </p:extLst>
  </p:cSld>
  <p:transition spd="slow">
    <p:fade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B1331-EE77-46AA-AEC5-36C45FD1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9DDA8-6682-471F-BAED-2D83F2F8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2C4FC-B9FB-4834-B368-64F0157D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0913D-D32B-4F5E-8205-C1C6D5D0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E20E1-7E83-4CD2-9AC9-7E9A6D23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질문 업그레이드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B3846-ED81-4216-BEEA-83F5A017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프로는 이렇게 묻습니다 — 전략적 질문 3형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7D5AB-7B53-47EA-9655-58454E90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C62F1-6061-4A6D-A560-9E9C7888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리스크 추출형 — "이 지침에서 학교 현장과 충돌할 수 있는 지점 3가지만 근거와 함께 뽑아 줘."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400EC-67DF-40F3-A465-6C504FAD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E25AC-0EBF-4895-AD19-32C35EE1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설득 논리형 — "이 변경에 반대할 학교 담당자를 설득할 논리 3가지를 지침 원문에 근거해 짜 줘."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42596-1B88-4862-B2BC-A55B7DB3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F87E9E-5FE7-43A6-BCED-323F1E35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528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비교 표형 — "개정 전후의 달라진 조항을 [조항 번호 · 변경 전 · 변경 후 · 현장 영향] 표로 비교해 줘."</a:t>
            </a:r>
          </a:p>
        </p:txBody>
      </p:sp>
    </p:spTree>
    <p:extLst>
      <p:ext uri="{BB962C8B-B14F-4D97-AF65-F5344CB8AC3E}">
        <p14:creationId xmlns:p14="http://schemas.microsoft.com/office/powerpoint/2010/main" val="1863320360"/>
      </p:ext>
    </p:extLst>
  </p:cSld>
  <p:transition spd="slow">
    <p:fade/>
  </p:transition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2F237C-B817-4BCC-A423-FCCD0F31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B94D5-89B1-4F0F-802E-40053E83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D62DE-06D1-41AE-8FC8-35EA07BE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C7914-C83D-480E-B742-91DA0BEC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C7BEF-1F1A-4F79-83DB-33BC671D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질문을 잘 못하겠을 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FE4BE-A708-4100-8502-0D793B05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치트키 세 가지 — 이건 꼭 써 보십시오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1B714-FCFE-4285-87B8-E690720F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3629025" cy="3848100"/>
          </a:xfrm>
          <a:prstGeom xmlns:a="http://schemas.openxmlformats.org/drawingml/2006/main" prst="roundRect">
            <a:avLst>
              <a:gd name="adj" fmla="val 3675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0FEA9-06AD-4941-BC2C-E7575C56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36290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9477C-C0E2-4087-98CB-D67969E7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① 메타 프롬프트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되묻게 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67010-2AB6-42A2-8CB1-8C64DD6C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"최고의 결과물을 만들기 위해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2E676-741D-4320-B148-20194A8E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 나에게 필요한 정보를 먼저 질문해 줘"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D877E-6822-4EAA-B5DD-50CDC89F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1F03F7-1363-4124-A57D-7CF18169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AI가 역으로 물어봅니다.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470417-9D2F-4AC5-82CD-2053870A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답만 하면 좋은 프롬프트가 완성됩니다.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5A320D-4364-48A5-8F2B-B0237CC7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프롬프트를 못 쓰겠을 때 가장 빠른 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DFB7FA-B028-4CE5-92F0-E42F784B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47850"/>
            <a:ext cx="3629025" cy="3848100"/>
          </a:xfrm>
          <a:prstGeom xmlns:a="http://schemas.openxmlformats.org/drawingml/2006/main" prst="roundRect">
            <a:avLst>
              <a:gd name="adj" fmla="val 3675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D76A2-9C5C-4C9D-8885-AD4677B5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47850"/>
            <a:ext cx="36290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E512BE-187B-4467-A878-8BA1ED2D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95500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② 반박 요청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무료 컨설팅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203858-1A97-451D-9F8B-01C9F5F0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81300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"칭찬은 생략하고,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9B0BC9-32DE-4ED3-AB92-1582EB44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81350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 이 계획의 논리적 문제점 3가지를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A20EBD-B711-400C-9338-9BB13214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581400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 근거와 함께 반박해 줘"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DC54C2-7A45-4346-A446-13CC66E1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981450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B9C661-DD52-4E1B-A3FD-E0B48C9C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381500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AI는 기본적으로 칭찬합니다.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8CC2DD-6400-4092-9519-3E170C90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781550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반박을 시켜야 검토가 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6BBD68-919A-42E6-BC9C-51F4D95D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47850"/>
            <a:ext cx="3629025" cy="3848100"/>
          </a:xfrm>
          <a:prstGeom xmlns:a="http://schemas.openxmlformats.org/drawingml/2006/main" prst="roundRect">
            <a:avLst>
              <a:gd name="adj" fmla="val 3675"/>
            </a:avLst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76754E-8906-44A3-97A5-977BAFE3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47850"/>
            <a:ext cx="36290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980332-3895-4C31-B109-74100EEA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③ 프롬프트 코칭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매일 성장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64A6A4-7388-40F3-A406-0253123A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설정에 한 번 넣어 둡니다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07A2BE-4629-4631-8032-3D25115C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81350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28BE5D-50B4-4581-98B2-AB804AB8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81400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"내 요청에 답하고 나면,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07FC2B-885C-4424-A11A-D9ACB92F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81450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 마지막에 프롬프트 개선 제안을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27AB8E-BEB4-4386-AD60-A3FC9786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81500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 항상 해 줘"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5A3845-827F-4E20-9C9B-DD2F0E1F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81550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D63252-14E7-4021-9E9E-2A18DDC3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81600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쓸수록 질문이 좋아집니다.</a:t>
            </a:r>
          </a:p>
        </p:txBody>
      </p:sp>
    </p:spTree>
    <p:extLst>
      <p:ext uri="{BB962C8B-B14F-4D97-AF65-F5344CB8AC3E}">
        <p14:creationId xmlns:p14="http://schemas.microsoft.com/office/powerpoint/2010/main" val="1686355887"/>
      </p:ext>
    </p:extLst>
  </p:cSld>
  <p:transition spd="slow">
    <p:fade/>
  </p:transition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817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AA00B-38EF-4433-BE32-648F597F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E07B2-B133-4864-8D99-C12BE108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MODULE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53155-8B19-4B2E-AA7F-A70CFFB1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9D62D-7601-475F-8EC5-45E38FA4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2A150-4535-46BD-920F-84BE6118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3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그대로 복사해 쓰는 지침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DAB8F-5AF7-4E80-908C-B1F531E4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21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규정 비서 지침 — 채팅 설정 → 맞춤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E192B-8C82-46E0-B820-8BD1F768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19200"/>
            <a:ext cx="11353800" cy="47625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252320"/>
          </a:solidFill>
          <a:ln xmlns:a="http://schemas.openxmlformats.org/drawingml/2006/main" w="19050">
            <a:solidFill>
              <a:srgbClr val="CC78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755D6-A7A1-4792-951C-E9B272C5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43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당신은 춘천시교육지원청 [담당 업무] 규정 비서입니다.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답변은 반드시 현재 선택된 소스만 사용하고, 다음 순서로 작성하세요.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 1) 결론 : 3문장 이내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 2) 근거 : 문서명 · 조항 번호 · 페이지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 3) 실무 처리 순서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 4) 주의할 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소스에 없는 내용은 "소스에 없음"이라고 답하고 추측하지 마세요.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규정이 서로 충돌하면 발행일과 적용 범위를 비교해 알려 주세요.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확실하지 않은 부분은 "확인 필요"라고 표시해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──────────── 질문할 때 쓰는 형식 ────────────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[상황] 우리 학교 교사가 (구체적 상황)입니다.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[질문] 이 경우 (무엇을) 어떻게 처리해야 합니까?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[요구] 근거 조항 번호와 함께 처리 절차를 순서대로 알려 주세요.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AF9F5"/>
                </a:solidFill>
                <a:latin typeface="Consolas"/>
                <a:ea typeface="Consolas"/>
                <a:cs typeface="Consolas"/>
              </a:rPr>
              <a:t>      규정에 명확히 없는 부분은 "규정에 없음"이라고 표시해 주세요.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EFBA6-4473-4EEA-809B-791F79A8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0"/>
            <a:ext cx="1120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88" b="0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실습 가이드 「실습 자료실」의 카드에서 복사 버튼으로 가져옵니다 · 실습 파일 「프롬프트/07_규정비서.md」 에도 있습니다.</a:t>
            </a:r>
          </a:p>
        </p:txBody>
      </p:sp>
    </p:spTree>
    <p:extLst>
      <p:ext uri="{BB962C8B-B14F-4D97-AF65-F5344CB8AC3E}">
        <p14:creationId xmlns:p14="http://schemas.microsoft.com/office/powerpoint/2010/main" val="898680187"/>
      </p:ext>
    </p:extLst>
  </p:cSld>
  <p:transition spd="slow">
    <p:fade/>
  </p:transition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A22504-60AD-483D-86CE-3DA59CDE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84795-E700-49BE-8C55-48EE79B9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08F96-DC09-4ACC-8533-2E8FA9FF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793DC-0A70-4F65-8C3F-6E520F87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EC0BA-4905-4F47-A0A5-44062367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Pin → 재구성 → 내보내기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B2FB9-A6C2-4B39-88C6-7E599233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쓸 만한 답은 저장합니다 — 노트가 보고서가 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44AD5-2BC6-4BB5-B29E-9CC5426B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3629025" cy="3848100"/>
          </a:xfrm>
          <a:prstGeom xmlns:a="http://schemas.openxmlformats.org/drawingml/2006/main" prst="roundRect">
            <a:avLst>
              <a:gd name="adj" fmla="val 3675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537A4-9245-4CE8-B8CF-9556882E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36290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9D2DB-F343-4641-AF91-52F52053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① 답변을 노트로 저장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265A5-3003-4F80-9C23-F98F14F3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좋은 답변이 나오면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4D55A-7FFD-4478-9A34-C5E9D1FE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저장(Pin) 버튼을 누릅니다.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3DC79-99BC-4F7A-9AB1-0A09FA8D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7E369-86C2-49D8-9DFD-D3CE0DA8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오른쪽 '저장된 노트'에 쌓입니다.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ADF9E-CDA5-4376-8D5F-2CF0E7AF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대화가 흘러가도 사라지지 않습니다.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AD4CCB-E807-41ED-8AF6-12506D02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47850"/>
            <a:ext cx="3629025" cy="3848100"/>
          </a:xfrm>
          <a:prstGeom xmlns:a="http://schemas.openxmlformats.org/drawingml/2006/main" prst="roundRect">
            <a:avLst>
              <a:gd name="adj" fmla="val 3675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042D1D-3FC5-4DA9-B2D0-6F8CE20D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47850"/>
            <a:ext cx="36290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4E4FE-D6D6-4E35-BA6C-420E2649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95500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② 노트를 골라 재구성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5430DE-DFE7-49DD-9A9A-84A68DC6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8130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저장된 노트 여러 개를 선택하고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87F13B-C002-483A-96CE-6264652C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21945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656EA7-2E18-4ED3-B8A2-A527C488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65760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"이 내용들로 부장회의 보고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6D8126-8EBB-47A6-8CA6-30C08A45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09575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 스크립트를 써 줘"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3592C7-6F3D-4A65-9522-8E1CEB95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53390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853D40-DAC1-48A2-AAF8-FC82E1DD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7205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흩어진 답변이 한 편의 글이 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73EFE7-7102-4485-A6F5-723321A0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47850"/>
            <a:ext cx="3629025" cy="3848100"/>
          </a:xfrm>
          <a:prstGeom xmlns:a="http://schemas.openxmlformats.org/drawingml/2006/main" prst="roundRect">
            <a:avLst>
              <a:gd name="adj" fmla="val 3675"/>
            </a:avLst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199C78-083D-4B68-94E4-B730CE0F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47850"/>
            <a:ext cx="36290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0E4E07-02AB-49DD-B5A0-742D4168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171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③ 문서로 내보내기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0D6F73-15BF-4F3D-A428-AF2A66DD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완성된 결과물을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26F9A9-2E97-4313-815D-76B4440A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1945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구글 문서로 내보냅니다.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A209E6-8ECC-4359-9ACC-527A2C84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5760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8607C5-EB60-40E1-91B5-E2EAA4B5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보고서 초안의 80%가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BB6D53-DC2E-42C6-8DEE-78762CE2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3390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여기서 끝납니다.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ED543C-B035-4453-AEC1-78A2C3E2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7205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나머지 20%가 사람의 검토입니다.</a:t>
            </a:r>
          </a:p>
        </p:txBody>
      </p:sp>
    </p:spTree>
    <p:extLst>
      <p:ext uri="{BB962C8B-B14F-4D97-AF65-F5344CB8AC3E}">
        <p14:creationId xmlns:p14="http://schemas.microsoft.com/office/powerpoint/2010/main" val="412726827"/>
      </p:ext>
    </p:extLst>
  </p:cSld>
  <p:transition spd="slow">
    <p:fade/>
  </p:transition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FB849-95CD-46D5-B20E-5BB7DD69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8F3D9-0E5F-47CE-AE73-16F31DA1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1D79E-359D-429E-A4CC-49068EE3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68A35-B706-4F4D-8B7D-1367369D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F8753-6D95-4351-A3DF-122E4EC5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38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3단계 · 질문과 근거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EFBA7-3903-43DA-9DA3-185997F3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100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실제 규정 질의 — 인용 번호가 붙은 답변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4FF6B-6ABE-4B85-A011-F3206412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2050"/>
            <a:ext cx="11353800" cy="4838700"/>
          </a:xfrm>
          <a:prstGeom xmlns:a="http://schemas.openxmlformats.org/drawingml/2006/main" prst="roundRect">
            <a:avLst>
              <a:gd name="adj" fmla="val 2756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19050">
            <a:solidFill>
              <a:srgbClr val="CC78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E6F79-36F5-4469-8ECE-82B6E2B9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19400"/>
            <a:ext cx="11353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950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실제 화면 캡처 자리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B3A21-4473-434F-9C1B-297DA5D8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71850"/>
            <a:ext cx="9448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7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캡처할 것 — 강사 담당 규정을 올린 노트북에서 실제 질문을 던진 화면.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127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답변 문장마다 붙은 인용 번호(작은 숫자)와, 번호를 클릭해 원문이 열린 모습 2장이면 가장 좋습니다.</a:t>
            </a:r>
          </a:p>
        </p:txBody>
      </p:sp>
    </p:spTree>
    <p:extLst>
      <p:ext uri="{BB962C8B-B14F-4D97-AF65-F5344CB8AC3E}">
        <p14:creationId xmlns:p14="http://schemas.microsoft.com/office/powerpoint/2010/main" val="1772744787"/>
      </p:ext>
    </p:extLst>
  </p:cSld>
  <p:transition spd="slow">
    <p:fade/>
  </p:transition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8C6CB9-BF6C-4FAA-A92E-53EB699A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9204E-5FD3-4C41-92B8-5223F36F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137B3-28D7-400B-84DF-EA40F658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6994A-EE0D-47F3-AC1A-F5463588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F8F5D-B4B9-425E-842D-7B0EAA8E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⚠ 정보보호 · 보안 철칙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44D04-1E6F-427C-AABF-B45F6992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⚠ 개인정보는 굳이 올릴 필요가 없습니다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12148-C390-4C18-BDC2-ECD9751F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974E4-4BA0-41CC-B666-4892B8BE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규정과 지침만 올립니다. 사람 이름과 사안 내용은 넣지 않습니다.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84DD7-744C-4B03-9087-6D129838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D7F4E-D41F-4B42-B3D0-A0253821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098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사안은 질문에서 익명으로 설명합니다 — "A교사가 B상황일 때".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2EFF7-7DB5-4B5E-8E29-8300A4C3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E01B0-1912-4C93-8AAE-CC4B9CCB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147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학교폭력 · 행정심판 · 인사·감사 자료는 어떤 형태로도 올리지 않습니다.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EC6D7F-0D89-490C-82EE-FA403C7E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EC35B-4B6E-4CF2-8157-A1EC2D8F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195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부서 공유 전에는 소스 안에 실명·연락처가 없는지 한 번 더 확인합니다.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F0CA95-B121-458E-B655-A5B2B7F8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B52317-708F-4962-A72D-0B2E47B9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244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개인 계정이 아니라 기관 계정으로 작업합니다 — 업무 자료의 소유와 관리가 분명해집니다.</a:t>
            </a:r>
          </a:p>
        </p:txBody>
      </p:sp>
    </p:spTree>
    <p:extLst>
      <p:ext uri="{BB962C8B-B14F-4D97-AF65-F5344CB8AC3E}">
        <p14:creationId xmlns:p14="http://schemas.microsoft.com/office/powerpoint/2010/main" val="1452947534"/>
      </p:ext>
    </p:extLst>
  </p:cSld>
  <p:transition spd="slow">
    <p:fade/>
  </p:transition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DB54B-6C28-4770-801B-6A3E1485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A8F50-44E3-4CEE-BF1F-9B02FA1F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9878E-0BD1-462C-9A92-ED33C1FC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8E890-8B43-4643-BAD0-335E68CC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49CE4-27FC-4B9D-8F59-63A74182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검증 기준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AED94-2F33-4469-97D1-A9E1F1F0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답변보다 인용을 먼저 확인합니다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7B6E3-3230-4412-BBBB-4C4FA1F3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00383-D976-4A87-974C-9A6660AE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인용 번호를 눌러 실제 문장이 그 결론을 지지하는지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ED211-5464-4CCD-A461-CA846BF0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56635-FA26-4888-9ECA-64B3CB4C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098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시행일 · 개정일 · 대상 학교급이 지금 사안과 맞는지 확인합니다.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BC660-3271-437E-A8B9-76AB14EF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71334-EEFC-4392-A1A1-6FB5EAED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147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법령 · 교육부 지침 · 시도교육청 지침이 충돌하면 담당자가 우선순위를 판단합니다.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DD3E22-81D0-478B-B7A4-E4C53234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54B5E-13C9-4C36-AD1F-00918E69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195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⚠ 소스 기반이라도 '해석'은 AI가 합니다. 조항을 옮겨 온 것과 해석한 것을 구분해 읽습니다.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1F6547-581E-47D2-9B44-DF697EB6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A8224E-82C9-40BB-94DD-D0549EC9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244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최종 행정 판단과 공문 발송은 사람이 책임집니다.</a:t>
            </a:r>
          </a:p>
        </p:txBody>
      </p:sp>
    </p:spTree>
    <p:extLst>
      <p:ext uri="{BB962C8B-B14F-4D97-AF65-F5344CB8AC3E}">
        <p14:creationId xmlns:p14="http://schemas.microsoft.com/office/powerpoint/2010/main" val="895696916"/>
      </p:ext>
    </p:extLst>
  </p:cSld>
  <p:transition spd="slow">
    <p:fade/>
  </p:transition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6EC3A2-97B3-4837-814E-BBCEA393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E798F-7A13-49EE-A7BF-860F1C6A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00701-FEF3-48DC-9761-CE0BB5E8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A5E4E-7D09-4581-AFB7-B19947DF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2D78B-4D51-4D33-BE31-B6714BB1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67F56-7EEA-40F7-B26C-AA2D4DCD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🖐  실습 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961A1-CD87-4065-BF84-83E5B06A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77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350" b="1" i="0">
                <a:solidFill>
                  <a:srgbClr val="FBE7D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FBE7DF"/>
                </a:solidFill>
                <a:latin typeface="Noto Sans KR"/>
                <a:ea typeface="Noto Sans KR"/>
                <a:cs typeface="Noto Sans KR"/>
              </a:rPr>
              <a:t>25분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D8CFA-6B7E-485D-8987-F206A93E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76350"/>
            <a:ext cx="1120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4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우리 부서 규정 비서 만들기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96B7D-718C-4838-8438-C8E2C2FE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1120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목표  내 담당 업무 질문에 조항 번호까지 답하는 노트북 만들기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00378-CBC4-40FC-A0E7-0B20292A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0"/>
            <a:ext cx="723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87C7D-CB08-44C6-A455-890FBB91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1" i="0">
                <a:solidFill>
                  <a:srgbClr val="6C6A6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6C6A64"/>
                </a:solidFill>
                <a:latin typeface="Noto Sans KR"/>
                <a:ea typeface="Noto Sans KR"/>
                <a:cs typeface="Noto Sans KR"/>
              </a:rPr>
              <a:t>이렇게 진행합니다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E6824-2452-4AD4-B10D-74FB1956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672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1.  담당 업무 규정 3~5개를 준비합니다 (한글은 PDF로 저장)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AE584-1A3A-4EA9-9211-05A6DA2B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672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2.  새 노트북을 만들고 소스로 올립니다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409D9-6905-4229-8D28-1EADB3C2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672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3.  채팅 설정 → 맞춤 → 규정 비서 지침을 붙여 넣습니다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AC9B09-91E8-44BC-B4AB-D36D43F6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672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4.  최근 학교에서 실제로 받았던 질문을 그대로 물어봅니다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E8A73-603E-4EB7-95D3-9B1C72C6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672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5.  인용 번호를 눌러 원문을 확인합니다 ← 이걸 안 하면 실습이 무의미합니다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04CFF4-9FA2-4769-AB3D-EB30C7BE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672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6.  좋은 답변은 저장(Pin)해 두고, 질문을 좁혀 다시 묻습니다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9A2AA-CF34-4D86-A7A0-9347E477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36957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9125F7-2CCD-4115-AF25-67F31800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손에 남는 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8B9C89-B57A-41C2-94B1-C7848F8B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19400"/>
            <a:ext cx="3200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부서 규정 비서 노트북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B176C2-D64E-4CF7-A676-73B444B9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76750"/>
            <a:ext cx="320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125" b="0" i="0">
                <a:solidFill>
                  <a:srgbClr val="B8B1A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B8B1A8"/>
                </a:solidFill>
                <a:latin typeface="Noto Sans KR"/>
                <a:ea typeface="Noto Sans KR"/>
                <a:cs typeface="Noto Sans KR"/>
              </a:rPr>
              <a:t>질문·답·확인한 조항을 실습 가이드 게시판에 '실습 6'으로 올립니다.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283AD0-17F5-461E-8D6B-A74CD700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76900"/>
            <a:ext cx="1120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실습 가이드 웹페이지 → 「실습 결과 공유」 게시판</a:t>
            </a:r>
          </a:p>
        </p:txBody>
      </p:sp>
    </p:spTree>
    <p:extLst>
      <p:ext uri="{BB962C8B-B14F-4D97-AF65-F5344CB8AC3E}">
        <p14:creationId xmlns:p14="http://schemas.microsoft.com/office/powerpoint/2010/main" val="1845885467"/>
      </p:ext>
    </p:extLst>
  </p:cSld>
  <p:transition spd="slow">
    <p:fade/>
  </p:transition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817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CCEA93-D083-4671-ADA7-3909410B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6ED09-328A-462B-9F49-095741D8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MODULE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438F5-F999-4C21-B928-EAF395D6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C788E-0E83-4585-A3B9-ED786074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C705C-5F1C-427C-86F5-7DC76FED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8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STUDIO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41C33-9F84-4201-8C9C-7A2E3163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10668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하나의 근거를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여러 배포물로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1CFCF-721F-49BF-A484-604449C0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0" i="0">
                <a:solidFill>
                  <a:srgbClr val="CFC8B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 i="0">
                <a:solidFill>
                  <a:srgbClr val="CFC8BF"/>
                </a:solidFill>
                <a:latin typeface="Noto Sans KR"/>
                <a:ea typeface="Noto Sans KR"/>
                <a:cs typeface="Noto Sans KR"/>
              </a:rPr>
              <a:t>같은 소스에서 FAQ·인포그래픽·슬라이드·퀴즈·오디오가 나옵니다. 서로 어긋나지 않습니다.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94742-5158-4D84-8579-F87BA86F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1847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10795570"/>
      </p:ext>
    </p:extLst>
  </p:cSld>
  <p:transition spd="slow">
    <p:push dir="u"/>
  </p:transition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EE631-7915-444F-90D2-1B69C09A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DE75E-70DC-4F1B-A019-BC25A646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19A22-909D-4A5A-A1A1-0C2ED4E2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216BA-CD61-43AF-9CD6-24FBA3BD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FE71D-029B-480A-9B3C-2CB5BB11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38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스튜디오 개념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4d25cb1eb4f0a"/>
          <a:stretch xmlns:a="http://schemas.openxmlformats.org/drawingml/2006/main"/>
        </p:blipFill>
        <p:spPr>
          <a:xfrm xmlns:a="http://schemas.openxmlformats.org/drawingml/2006/main">
            <a:off x="1120245" y="742950"/>
            <a:ext cx="9951509" cy="5600700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</p:spTree>
    <p:extLst>
      <p:ext uri="{BB962C8B-B14F-4D97-AF65-F5344CB8AC3E}">
        <p14:creationId xmlns:p14="http://schemas.microsoft.com/office/powerpoint/2010/main" val="1331350726"/>
      </p:ext>
    </p:extLst>
  </p:cSld>
  <p:transition spd="slow">
    <p:fade/>
  </p:transition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1D5AA5A-EAD9-4809-BB89-95CE6482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2DDC6-749C-4BA6-AED0-DA270554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B72C0-CCCA-48D3-B171-0F93F231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38520-7669-48E1-986A-E23DFE72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5C449-88F4-42CB-915F-423262E3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메뉴 지도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0246E-2380-4773-AD6E-0EBD4F1C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스튜디오 메뉴 — 무엇을 언제 쓰나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8F952-7401-412D-B7EB-50B957EB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4E4E2-0A03-4726-AB5B-4EC37972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메뉴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F3B5E-0793-4D6E-9AF8-6D032419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478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0F44F-F0CE-4F46-92D1-FE63D253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43100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무엇이 나오나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9EC8C-A439-4623-BAF4-F7620378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47850"/>
            <a:ext cx="520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F099A-5877-4E1F-BC66-DE114468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43100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이럴 때 씁니다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0F506E-33F0-4039-8206-6B540237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236B9-20D0-464E-9844-658AA1E6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보고서 · FAQ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47761-80CD-46E2-9CFF-AC17ECBF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622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0540A2-F1B4-4997-9CC3-B78698CB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47925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흩어진 정보를 주제별로 재배치한 초안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AE5B6B-FB3D-4AF1-BF21-DABA070B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62200"/>
            <a:ext cx="520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81F6BA-FF40-4661-A29F-9A8B03EC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479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학교 배포용 안내문 · 질의응답집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DD2214-64CB-4AE5-B0A8-E7C6FD61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7655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7895CF-D36B-419B-88EC-0EE20E61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인포그래픽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3F922F-DF61-4B1D-BB36-0F0ED1EA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765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DDD333-3BFA-438C-8FBA-FAB3CEC5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62275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데이터를 시각 레이아웃으로 변환한 이미지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CF6734-94E5-4122-B086-CF8DB862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76550"/>
            <a:ext cx="520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FF72AA-D961-429E-B3C3-092AFE4A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6227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게시용 · 공문 첨부 · SNS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5F9E73-1A3D-429C-B49A-8E99E73B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9090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6D2AB2-B657-4D2B-8CED-D3AB3204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슬라이드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CC7F1F-2F1F-4542-854C-01939DB2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909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959352-10D7-4484-8728-E5EFCC25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476625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장표별 핵심 메시지 설계도 (PPTX 내려받기)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FD6180-87E1-40E9-B2E4-048332A7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90900"/>
            <a:ext cx="520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942AA3-9332-4C2E-8248-4E58EFB9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766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연수·설명회 자료의 뼈대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1A8066-2DDA-48EE-AEE9-AEE810ED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8B3FCD-4177-4E16-AE0C-7DC5A9F3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마인드맵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CB39B0-876C-4641-9617-D1E293B5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052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612116-EF6A-4A42-88C0-5AF399C3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90975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정보 관계를 방사형으로 시각화 · 이미지 저장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938C57-E029-47DA-9C92-99039088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520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C67AFB-A789-4207-BC23-DE8F5865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9097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복잡한 지침의 구조를 내가 먼저 파악할 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343454-A8B7-4049-BF1F-A17018DE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1960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B637D8-FC6D-41AD-B4E5-DE32BEC1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오디오 개요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743754-A7EB-4E55-B661-2BA1EDE5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196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F41A42-7FB3-4775-B83E-A14C99E9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05325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두 진행자가 대화하는 팟캐스트 (한국어 지원)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9EB67A-4BCD-4B20-A56C-7A2502B9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19600"/>
            <a:ext cx="520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FC32EC-EC55-4EFF-B4F8-B2464A55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053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출퇴근길 · 사전 학습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4268E5-234C-4A6E-9D0D-415844EC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3395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0FDE6C-1274-4C27-94C0-D26E1850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동영상 개요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7A8DD6-C67F-4F75-81BC-CB7CB1AF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339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AF1CDE-F74C-41D5-A98B-0FA967BB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019675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나레이션 + 슬라이드 영상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5EBE8C-737F-4304-8C7E-0B4724F3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520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AB5296-9ECB-4355-91B9-737555C9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1967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읽기 싫어하는 대상에게 브리핑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1FCEF9-C842-4A3E-BCAC-6E3F6B68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4830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290569-3BD3-4EA2-BBEF-B588D68C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플래시카드 · 퀴즈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A93270-1A25-488C-B76B-FBE1DA82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483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F5C62ED-F986-4780-9083-0CDDBEBE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534025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용어 카드 · 객관식/서술형 문항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169554-78AC-47FD-9A6C-E443F29C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48300"/>
            <a:ext cx="520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E6DF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1DF6C7A-FC59-47DD-BADC-FE483603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5340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담당자 사전 점검 · 연수 이해도 확인</a:t>
            </a:r>
          </a:p>
        </p:txBody>
      </p:sp>
    </p:spTree>
    <p:extLst>
      <p:ext uri="{BB962C8B-B14F-4D97-AF65-F5344CB8AC3E}">
        <p14:creationId xmlns:p14="http://schemas.microsoft.com/office/powerpoint/2010/main" val="1582175653"/>
      </p:ext>
    </p:extLst>
  </p:cSld>
  <p:transition spd="slow">
    <p:fade/>
  </p:transition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B101A2-2B17-4656-A3DC-C5BD1EA4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25337-C516-4A7F-903C-54075CA7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DF31C-718E-4B66-8FD2-94F4443D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5B0E6-A48D-48A9-A58A-7BE9982B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6FE70-DE1E-423A-BE0C-2C5DFE51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결정적인 한 클릭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913CF-6579-424C-B499-7995BEA4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★ 맞춤 설정(연필 아이콘)을 안 쓰면 절반만 쓰는 겁니다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D1783-0EA3-429C-8CB1-D023D9E2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524500" cy="38481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B9005-00DC-4740-AC2B-C16F0E96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52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2C8F2-9437-44D9-8196-80E2B651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그냥 생성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495F2-461F-4490-8BA8-D75A38A0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생성 버튼만 누르면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6EC59-7F4F-4C34-86DB-4ED06E97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가장 무난한 형태로 나옵니다.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C0D0C-8B86-4ACB-87F3-9E93B5E7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0F9089-6E13-41D5-BB22-7B1146EF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대상도, 분량도, 용어 수준도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80B783-11A2-4DF8-AE1F-2726F057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AI 마음대로입니다.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197808-B1B2-4D10-A731-F575DE23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C3442F-8F8C-4B13-AACD-E84950A6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대부분 여기서 멈추고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1799A6-E280-4C24-AAE2-DA803B1E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"별로네" 하고 돌아섭니다.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618218-1358-40EC-B6A5-2F8B340B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524500" cy="38481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05D540-FC56-4D07-94A9-11D2C3BE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52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F92DE8-753D-41CE-9170-D6A07318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연필 아이콘 → 맞춤 설정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3B0A3C-D359-4286-A4E1-194A4F0B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각 메뉴 옆 연필 아이콘을 누르면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9A5F47-6035-4885-8CDC-6F187BF4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"어떻게 만들지"를 직접 적습니다.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63929D-78F3-410D-A5FC-F2DA9E51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43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5A02DF-05FF-4700-A0F8-1360BDA8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24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"학교 담당자가 처음 읽는다는 전제로,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99BB16-F77A-45D1-AE95-3CA77F76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05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 전문 용어는 풀어서"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98FB53-81FB-4FF3-AF27-E3B1E576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86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"표는 반드시 조항 번호 열을 포함"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413AC5-8BA5-42FA-908A-0A398E54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"텍스트 최소화, 5장 분량으로"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8FA24A-1628-41E3-B924-5CAD3D5D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48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E39D0B-65DB-4141-A1DB-C8B6CC11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829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앞에서 배운 R-T-F를 그대로 씁니다.</a:t>
            </a:r>
          </a:p>
        </p:txBody>
      </p:sp>
    </p:spTree>
    <p:extLst>
      <p:ext uri="{BB962C8B-B14F-4D97-AF65-F5344CB8AC3E}">
        <p14:creationId xmlns:p14="http://schemas.microsoft.com/office/powerpoint/2010/main" val="284128003"/>
      </p:ext>
    </p:extLst>
  </p:cSld>
  <p:transition spd="slow">
    <p:fade/>
  </p:transition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757966-592B-46A6-A340-920E535A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4FE3B-4D40-4189-AAE7-797CBF5A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D5932-F530-4779-A7A0-A2BF0A21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D94E5-D6AA-4A13-A167-0A9F9D8D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CF71A-97D8-46CA-BD36-898C0ADE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오디오 · 플래시카드 · 퀴즈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E4FF3-5CA5-4FCC-A40A-E502C0A8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귀로 듣고, 문제로 풀게 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73480-1EE1-4FE5-BC30-16879AF7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524500" cy="38481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F9AFA-AA4E-494D-8959-4586789A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52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3980D-6F41-43EB-8585-8310909F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오디오 개요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A4F1C-D1CA-4CCD-A477-7A781655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06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두 AI 진행자가 내 자료로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743E6B-FFF4-4CC1-8FD6-FA162549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506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토론하는 팟캐스트를 만듭니다.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D8AC9-0E9B-4451-A1E4-79F9A064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506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한국어 소스 → 한국어 방송.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AF339-5E23-4352-8B9F-88D36F60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506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C741C7-3A99-4704-816F-6C992F07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506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맞춤 설정으로 형식 선택 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44B273-1BFA-41DC-B212-61D837B1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506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심층분석 · 요약 · 비평 · 토론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E7053-B1EE-43F4-A89E-F9FCEF78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506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29BCE8-D6CE-4843-9798-3F23F053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506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"출장 이동 시간이 학습 시간이 됩니다"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0A7650-1E92-4B6C-BBE3-F6635ED9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524500" cy="38481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5379A3-EA2D-4FEA-9B56-0719150B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52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036AA0-6457-477B-A58A-CD63E940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플래시카드 · 퀴즈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D1122E-20EB-4B30-A46C-BC87C578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506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앞면 용어 + 뒷면 설명 카드,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5EE952-3E08-42DB-90A5-5A89C2D3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81350"/>
            <a:ext cx="506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객관식·서술형 문항을 자동 생성.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32896C-4506-4996-87BF-23896C93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1400"/>
            <a:ext cx="506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25EC5B-9601-4761-856D-431ACB95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81450"/>
            <a:ext cx="506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새 지침 배포 전 — 학교 담당자용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44BC6C-8213-4897-8B91-EAFFFA59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81500"/>
            <a:ext cx="506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사전 점검 퀴즈로 만들면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21E091-E41C-44D9-ABAD-4894C38F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81550"/>
            <a:ext cx="506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무엇을 헷갈리는지 바로 보입니다.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3556D4-BB04-4A9C-87C0-A3C7AC02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81600"/>
            <a:ext cx="506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2D37D6-C14F-4487-B727-3558CB57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81650"/>
            <a:ext cx="506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연필 아이콘으로 문항 수·난이도·주제를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2377D2-DE85-4B67-A6C2-50D8879A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981700"/>
            <a:ext cx="506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직접 정할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666782673"/>
      </p:ext>
    </p:extLst>
  </p:cSld>
  <p:transition spd="slow">
    <p:fade/>
  </p:transition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E74A2F-84CE-4EAF-9FF3-43B5EA13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A2413-0AFF-426E-9F86-F2F21AAF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96402-0EED-4777-90D9-929CFF5B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20E0C-19FD-4815-933A-BA744D27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3C33B-B39F-4B2C-930D-80447147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배포 전 점검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67E81-16A7-4664-A399-1F92C70C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생성된 배포물도 다시 검증해야 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B95C7-6B48-4725-89C6-7F57476C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769CC-43B7-4B22-92B0-4B143554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4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FAQ의 숫자 · 조항 · 기한을 원문과 대조합니다.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86D50-DFB5-4A0D-9401-AD3138CE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FF457-3BD1-4A86-91F0-7384FD7E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336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4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슬라이드는 제목 길이 · 한글 줄바꿈 · 이미지 출처를 손봅니다 — "뼈대는 여기서, 다듬기는 파워포인트에서".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A264CE-98CA-49C1-8957-C3F538C6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A164BB-85FF-43BD-9B28-AF04D5B6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623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4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인포그래픽은 예쁜지가 아니라 구조가 정확한지를 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33172-B343-4073-A8C3-07A5B5CE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F1B16-5F7F-4F3D-AB5F-3051B441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90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4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⚠ 인포그래픽 · 슬라이드 · 딥리서치 등 일부 기능은 만 18세 이상 계정 전용입니다.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664659-1914-41FC-B18A-7C860CE9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4AA0D-727D-420B-AF0C-A0267619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4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공개 링크가 막히면 Docs · PNG · PPTX 다운로드를 기본 경로로 둡니다.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E04AE-90AF-4633-8A13-FCA74A2C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E5E3BF-8738-4552-AB7F-12D0B7D7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482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4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고친 내용을 기록해 두면 다음에는 그 내용을 미리 맞춤 설정에 넣을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241743098"/>
      </p:ext>
    </p:extLst>
  </p:cSld>
  <p:transition spd="slow">
    <p:fade/>
  </p:transition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A3EFEA-498D-46AE-9B6F-4A74E73F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32B6B-7B69-45F4-9907-A844E974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5724A-CAF2-4EFE-B87C-E055C470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4F4AA-A7BA-4E64-AA47-C6865572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49F62-03B8-46B6-8E9A-C8AD9146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59189-35E5-41F4-92A5-A929908E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🖐  실습 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D0C96-D6EF-4C22-A9DF-4AA7298B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77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350" b="1" i="0">
                <a:solidFill>
                  <a:srgbClr val="FBE7D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FBE7DF"/>
                </a:solidFill>
                <a:latin typeface="Noto Sans KR"/>
                <a:ea typeface="Noto Sans KR"/>
                <a:cs typeface="Noto Sans KR"/>
              </a:rPr>
              <a:t>25분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B73D4-6F90-4CBC-AC89-AC33226C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76350"/>
            <a:ext cx="1120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4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업무 도움자료 패키지 만들기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DA13B-3C6D-453F-83C8-072A0A6E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1120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목표  같은 근거에서 나온 배포물 3종 만들기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A2913-719B-4F50-98F6-8E7D1587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0"/>
            <a:ext cx="723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1091D-CFD6-47B4-8D61-6823DE8C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1" i="0">
                <a:solidFill>
                  <a:srgbClr val="6C6A6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6C6A64"/>
                </a:solidFill>
                <a:latin typeface="Noto Sans KR"/>
                <a:ea typeface="Noto Sans KR"/>
                <a:cs typeface="Noto Sans KR"/>
              </a:rPr>
              <a:t>이렇게 진행합니다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2EF85D-6E3F-4F60-A188-409B31F5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672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1.  실습 6에서 만든 노트북을 그대로 씁니다 (새로 만들지 않습니다)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18739-CC24-46BF-AF85-193D0B51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672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2.  스튜디오 → 보고서 → 연필 아이콘으로 맞춤 설정 → FAQ 생성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C6EAF-36C4-4437-B3CA-CD0959F3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672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3.  스튜디오 → 인포그래픽 (세로 방향) 생성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83901-3C4B-4030-B5E5-9878C911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672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4.  스튜디오 → 슬라이드 생성 후 PPTX 내려받기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8A52D5-5BEC-43CF-B495-F5C7FB42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672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5.  세 결과물의 숫자·조항·기한을 원문과 대조합니다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2D1D1D-1254-4040-AC98-013F3894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672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6.  고친 내용을 메모해 둡니다 → 다음에 맞춤 설정에 미리 넣습니다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498864-E56F-46F6-B7E7-6D609EA2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36957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E90532-6C40-4913-88F4-5EB0D310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손에 남는 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2F5721-E8C4-493E-83F7-86D47308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19400"/>
            <a:ext cx="3200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FAQ 문서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인포그래픽 PNG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슬라이드 PPTX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C104D3-D344-46BA-8891-EC461460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76750"/>
            <a:ext cx="320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125" b="0" i="0">
                <a:solidFill>
                  <a:srgbClr val="B8B1A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B8B1A8"/>
                </a:solidFill>
                <a:latin typeface="Noto Sans KR"/>
                <a:ea typeface="Noto Sans KR"/>
                <a:cs typeface="Noto Sans KR"/>
              </a:rPr>
              <a:t>완성한 배포물 3종을 실습 가이드 게시판에 '실습 7'로 올립니다.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AD64D2-7982-4EB9-B599-A6D09DAB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76900"/>
            <a:ext cx="1120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실습 가이드 웹페이지 → 「실습 결과 공유」 게시판</a:t>
            </a:r>
          </a:p>
        </p:txBody>
      </p:sp>
    </p:spTree>
    <p:extLst>
      <p:ext uri="{BB962C8B-B14F-4D97-AF65-F5344CB8AC3E}">
        <p14:creationId xmlns:p14="http://schemas.microsoft.com/office/powerpoint/2010/main" val="933995187"/>
      </p:ext>
    </p:extLst>
  </p:cSld>
  <p:transition spd="slow">
    <p:fade/>
  </p:transition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817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87224-597D-4425-BC62-C2519309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5B87F-AA67-49D0-9F15-BA55EE68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MODULE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9FF61-E5DE-44A4-B8EF-C71E50EF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EC73B-E90A-4491-ACD4-4BFA5258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4AD5B-0659-422D-8F47-D33B1915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8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CONNECT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A5180-47CD-47DE-BC83-BF9A375F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10668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노트북과 제미나이를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390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이어 붙이기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35571-89A7-430E-A7F0-2D4B116D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0" i="0">
                <a:solidFill>
                  <a:srgbClr val="CFC8B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 i="0">
                <a:solidFill>
                  <a:srgbClr val="CFC8BF"/>
                </a:solidFill>
                <a:latin typeface="Noto Sans KR"/>
                <a:ea typeface="Noto Sans KR"/>
                <a:cs typeface="Noto Sans KR"/>
              </a:rPr>
              <a:t>내부 근거는 노트북에서, 바깥 정보는 제미나이에서. 둘을 한 대화로 합칩니다.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DFE42-3291-4438-B8D3-BC985702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1847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10038495"/>
      </p:ext>
    </p:extLst>
  </p:cSld>
  <p:transition spd="slow">
    <p:push dir="u"/>
  </p:transition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CDD774-01D9-4465-A46F-60254FD0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BF1F0-1708-48A0-8676-64B3FE57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2DF46-4186-4FD6-9E46-A06D90A5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8BF04-D763-4EAA-B1D3-91705605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25024-2C2B-4080-8D2F-5A928A68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언제 무엇을 쓰나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1AE09-A060-407D-B3FD-3EDA9C7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두 가지 확장 경로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D5942-C0EB-440F-B513-AFDE951B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524500" cy="38481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EF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EFF88-CEFB-4073-952B-C9BA26D4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52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1FC70-0C14-42EB-BE1A-A5928533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141413"/>
                </a:solidFill>
                <a:latin typeface="Noto Sans KR"/>
                <a:ea typeface="Noto Sans KR"/>
                <a:cs typeface="Noto Sans KR"/>
              </a:rPr>
              <a:t>① 제미나이에서 노트북 불러오기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EB6B5-1640-4699-AC57-3E855D64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제미나이 대화창 하단 [+] → 파일 소스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BC6A1-7398-47AF-8D3E-0319690B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→ NotebookLM(노트북)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7A7B4-ABA4-4D07-AE68-2A2018CD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2EFEE-E392-4AA6-ACB6-46AE0E06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내 노트북 내용을 제미나이 대화로 호출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A7417-E89B-4ABC-A0FA-3CA109B7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= 내부 근거 + 실시간 정보력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105C20-BD0F-4F2F-8A29-EE232B0A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2E365-5D5E-4C1E-98FB-9C3CC1ED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예: "우리 규정으로는 이렇게 되는데,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E6A4C-F866-42A5-806D-03AE2CED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   타 시도는 어떻게 하고 있는지 조사해 줘"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48F37-5D9D-4560-A567-5660AEE0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524500" cy="38481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18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4E7FD0-84EC-4400-B742-8B1B0D8E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52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5652FB-32BB-43D6-B58C-0BBC6C43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FAF9F5"/>
                </a:solidFill>
                <a:latin typeface="Noto Sans KR"/>
                <a:ea typeface="Noto Sans KR"/>
                <a:cs typeface="Noto Sans KR"/>
              </a:rPr>
              <a:t>② 심층 리서치 (Deep Research)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A49A35-A59C-4C96-9AE4-AAF677EA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제미나이 입력창 [도구] → [심층 리서치]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DA77B1-8E52-468B-BA54-E1C42F50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9FDB19-AE28-44E7-BF2E-5DF2712D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43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AI가 수십 개 웹사이트를 직접 조사해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AA9B0F-C14A-4523-8386-F7ECFEC1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24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보고서를 작성합니다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C5D021-8DD5-4CC5-B142-935E5C27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05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45B132-A89E-48A5-9FB2-6631D550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86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리서치 계획을 먼저 보여 줍니다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B7E3E1-19FD-4423-863D-C361C41B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→ 계획을 고쳐 조사 방향을 바꿀 수 있습니다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4530D9-B681-4ABB-82E9-FEFCE94A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48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4B7C76-DF78-4DE2-B9B5-DA8A7B67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8293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EADFD7"/>
                </a:solidFill>
                <a:latin typeface="Noto Sans KR"/>
                <a:ea typeface="Noto Sans KR"/>
                <a:cs typeface="Noto Sans KR"/>
              </a:rPr>
              <a:t>⚠ 웹으로 나가므로 근거 확인은 별도로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C56E82-58EC-4634-BD35-9EFAA6CE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67400"/>
            <a:ext cx="112014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8E0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A08833-F18F-4AE4-BBEC-54208B23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912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노트북 = 통제된 근거 · 심층 리서치 = 넓은 조사. 둘을 섞을 때는 어느 쪽 근거인지 구분해서 읽습니다.</a:t>
            </a:r>
          </a:p>
        </p:txBody>
      </p:sp>
    </p:spTree>
    <p:extLst>
      <p:ext uri="{BB962C8B-B14F-4D97-AF65-F5344CB8AC3E}">
        <p14:creationId xmlns:p14="http://schemas.microsoft.com/office/powerpoint/2010/main" val="1660054413"/>
      </p:ext>
    </p:extLst>
  </p:cSld>
  <p:transition spd="slow">
    <p:fade/>
  </p:transition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805941-DA53-48D9-AB13-3FC0FB00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4571D-8375-46A4-89F4-DDAEBC2C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MODULE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17CB3-41CF-42FE-8FAD-39D37B68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5E546-C534-4DA8-A640-5AA06C2E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A5A099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B4CF1-95FA-466D-8C42-03C6F9AE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A9583E"/>
                </a:solidFill>
                <a:latin typeface="Noto Sans KR"/>
                <a:ea typeface="Noto Sans KR"/>
                <a:cs typeface="Noto Sans KR"/>
              </a:rPr>
              <a:t>부서 확장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536B1-1E20-4BFA-B0D5-F95667AC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defRPr>
            </a:pPr>
            <a:r>
              <a:rPr sz="2775" b="0" i="0">
                <a:solidFill>
                  <a:srgbClr val="141413"/>
                </a:solidFill>
                <a:latin typeface="Noto Serif KR"/>
                <a:ea typeface="Noto Serif KR"/>
                <a:cs typeface="Noto Serif KR"/>
              </a:rPr>
              <a:t>노트북을 공유하면 부서 전용 챗봇이 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3A119-8A31-4483-985F-BA076874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5846D-BC40-461D-971D-3571D48B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노트북 상단 [공유] → 부서원 이메일 추가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23DC0-3F53-4D1D-946E-CBB90778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0F464-6B29-42BE-9634-E8690A29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098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부서원은 자기 질문만 하고, 소스 자료 자체는 그대로 보호됩니다.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02E54-7D39-4CFB-BA91-75541923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F8E62-3CB4-443D-8C27-3FEBD182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147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"이거 규정 어떻게 돼요?" 문의가 줄어듭니다 — 링크만 주면 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4233F-E8DF-44F1-BCD7-7507462B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18518-0AAC-4DB4-8900-30C6E9AB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195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⚠ 원본 드라이브 파일을 고쳤으면 반드시 동기화 버튼을 눌러 소스를 최신화합니다.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CF6C2-4BEC-42BD-AC46-6F6F3E8B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142A0E-7E74-4DEE-A570-568CB11D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244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3D3D3A"/>
                </a:solidFill>
                <a:latin typeface="Noto Sans KR"/>
                <a:ea typeface="Noto Sans KR"/>
                <a:cs typeface="Noto Sans KR"/>
              </a:rPr>
              <a:t>⚠ 교육 계정은 외부 공유가 제한될 수 있습니다. 배포 전 확인하십시오.</a:t>
            </a:r>
          </a:p>
        </p:txBody>
      </p:sp>
    </p:spTree>
    <p:extLst>
      <p:ext uri="{BB962C8B-B14F-4D97-AF65-F5344CB8AC3E}">
        <p14:creationId xmlns:p14="http://schemas.microsoft.com/office/powerpoint/2010/main" val="1280666489"/>
      </p:ext>
    </p:extLst>
  </p:cSld>
  <p:transition spd="slow">
    <p:fade/>
  </p:transition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817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4B2BD-97F9-4A92-A98A-C41062E6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9FC2F-3A6B-4BB6-B3A4-DCA3014E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CLOSING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A51DE-74C7-4822-98BB-5691E7EE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7D107-32DE-4DDD-977B-9685D154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819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0" i="0">
                <a:solidFill>
                  <a:srgbClr val="7C766E"/>
                </a:solidFill>
                <a:latin typeface="Noto Sans KR"/>
                <a:ea typeface="Noto Sans KR"/>
                <a:cs typeface="Noto Sans KR"/>
              </a:rPr>
              <a:t>춘천시교육지원청 · AI 기반 디지털 교육혁신 전문성 신장 연수 · 2부 제미나이 노트북 · 2026.8.11.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230BA-8917-4B91-8378-610FB0A4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550" b="0" i="0">
                <a:solidFill>
                  <a:srgbClr val="CFC8BF"/>
                </a:solidFill>
                <a:latin typeface="Noto Serif KR"/>
                <a:ea typeface="Noto Serif KR"/>
                <a:cs typeface="Noto Serif KR"/>
              </a:defRPr>
            </a:pPr>
            <a:r>
              <a:rPr sz="2550" b="0" i="0">
                <a:solidFill>
                  <a:srgbClr val="CFC8BF"/>
                </a:solidFill>
                <a:latin typeface="Noto Serif KR"/>
                <a:ea typeface="Noto Serif KR"/>
                <a:cs typeface="Noto Serif KR"/>
              </a:rPr>
              <a:t>이 도구는 답을 주는 도구가 아니라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45616-EAFA-4994-8EB0-8F259F9C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defRPr>
            </a:pPr>
            <a:r>
              <a:rPr sz="3750" b="0" i="0">
                <a:solidFill>
                  <a:srgbClr val="FAF9F5"/>
                </a:solidFill>
                <a:latin typeface="Noto Serif KR"/>
                <a:ea typeface="Noto Serif KR"/>
                <a:cs typeface="Noto Serif KR"/>
              </a:rPr>
              <a:t>근거를 빨리 찾아 주는 도구입니다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9B524-F123-4BB7-BCE0-00AE2368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CC785C"/>
                </a:solidFill>
                <a:latin typeface="Noto Sans KR"/>
                <a:ea typeface="Noto Sans KR"/>
                <a:cs typeface="Noto Sans KR"/>
              </a:rPr>
              <a:t>판단은 여전히 담당자의 몫입니다. 그래서 인용을 확인하는 습관이 실력입니다.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FF602-C1EA-48E9-8413-94DDDA7A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0" i="0">
                <a:solidFill>
                  <a:srgbClr val="D6CEC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D6CEC5"/>
                </a:solidFill>
                <a:latin typeface="Noto Sans KR"/>
                <a:ea typeface="Noto Sans KR"/>
                <a:cs typeface="Noto Sans KR"/>
              </a:rPr>
              <a:t>내일 아침, 지금 담당하는 규정 하나를 노트북에 올려 보십시오.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0" i="0">
                <a:solidFill>
                  <a:srgbClr val="D6CEC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D6CEC5"/>
                </a:solidFill>
                <a:latin typeface="Noto Sans KR"/>
                <a:ea typeface="Noto Sans KR"/>
                <a:cs typeface="Noto Sans KR"/>
              </a:rPr>
              <a:t>질문 세 개만 던져 보면 이 도구가 내 업무에 맞는지 바로 판단이 섭니다.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E56D4-6937-4E79-890C-BCF8A32A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8E8B8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8E8B82"/>
                </a:solidFill>
                <a:latin typeface="Noto Sans KR"/>
                <a:ea typeface="Noto Sans KR"/>
                <a:cs typeface="Noto Sans KR"/>
              </a:rPr>
              <a:t>실습 자료 · 결과물  ·  실습 가이드 웹페이지 「실습 결과 공유」</a:t>
            </a:r>
          </a:p>
        </p:txBody>
      </p:sp>
    </p:spTree>
    <p:extLst>
      <p:ext uri="{BB962C8B-B14F-4D97-AF65-F5344CB8AC3E}">
        <p14:creationId xmlns:p14="http://schemas.microsoft.com/office/powerpoint/2010/main" val="273110141"/>
      </p:ext>
    </p:extLst>
  </p:cSld>
  <p:transition spd="slow">
    <p:push dir="u"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2026-08-10T07:01:11.8210000Z</dcterms:created>
  <dcterms:modified xsi:type="dcterms:W3CDTF">2026-08-10T07:01:11.8220000Z</dcterms:modified>
</coreProperties>
</file>