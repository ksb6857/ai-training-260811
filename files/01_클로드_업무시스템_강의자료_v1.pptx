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f5add683d49af" /><Relationship Type="http://schemas.openxmlformats.org/officeDocument/2006/relationships/extended-properties" Target="/docProps/app.xml" Id="R370fa5712f5d4931" /><Relationship Type="http://schemas.openxmlformats.org/officeDocument/2006/relationships/officeDocument" Target="/ppt/presentation.xml" Id="R4aa900f90eb3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76afed27d14143"/>
  </p:sldMasterIdLst>
  <p:notesMasterIdLst>
    <p:notesMasterId xmlns:r="http://schemas.openxmlformats.org/officeDocument/2006/relationships" r:id="Rc688e51313d74b5b"/>
  </p:notesMasterIdLst>
  <p:sldIdLst>
    <p:sldId xmlns:r="http://schemas.openxmlformats.org/officeDocument/2006/relationships" id="256" r:id="Rcfdade36347f453a"/>
    <p:sldId xmlns:r="http://schemas.openxmlformats.org/officeDocument/2006/relationships" id="257" r:id="R9e464cf118b24fab"/>
    <p:sldId xmlns:r="http://schemas.openxmlformats.org/officeDocument/2006/relationships" id="258" r:id="Re716c99dbfcf4917"/>
    <p:sldId xmlns:r="http://schemas.openxmlformats.org/officeDocument/2006/relationships" id="259" r:id="R374cd33481b44368"/>
    <p:sldId xmlns:r="http://schemas.openxmlformats.org/officeDocument/2006/relationships" id="260" r:id="R9afbb2deba874e67"/>
    <p:sldId xmlns:r="http://schemas.openxmlformats.org/officeDocument/2006/relationships" id="261" r:id="Rd6d63031228f4673"/>
    <p:sldId xmlns:r="http://schemas.openxmlformats.org/officeDocument/2006/relationships" id="262" r:id="R2dfecf1b183e43e0"/>
    <p:sldId xmlns:r="http://schemas.openxmlformats.org/officeDocument/2006/relationships" id="263" r:id="Rb7cc3cbfab6b4a79"/>
    <p:sldId xmlns:r="http://schemas.openxmlformats.org/officeDocument/2006/relationships" id="264" r:id="R9f493c130d0d4cd3"/>
    <p:sldId xmlns:r="http://schemas.openxmlformats.org/officeDocument/2006/relationships" id="265" r:id="R60501653a887462c"/>
    <p:sldId xmlns:r="http://schemas.openxmlformats.org/officeDocument/2006/relationships" id="266" r:id="R794d907ad806479d"/>
    <p:sldId xmlns:r="http://schemas.openxmlformats.org/officeDocument/2006/relationships" id="267" r:id="Raf7a2d6fa6a845ca"/>
    <p:sldId xmlns:r="http://schemas.openxmlformats.org/officeDocument/2006/relationships" id="268" r:id="Rf3598033cb804a3c"/>
    <p:sldId xmlns:r="http://schemas.openxmlformats.org/officeDocument/2006/relationships" id="269" r:id="Rb47a1fee268d4a9a"/>
    <p:sldId xmlns:r="http://schemas.openxmlformats.org/officeDocument/2006/relationships" id="270" r:id="Rba91bcf2308a4d22"/>
    <p:sldId xmlns:r="http://schemas.openxmlformats.org/officeDocument/2006/relationships" id="271" r:id="R6a94a2b4c96c4cb9"/>
    <p:sldId xmlns:r="http://schemas.openxmlformats.org/officeDocument/2006/relationships" id="272" r:id="R8cc9d4ee721d4ee1"/>
    <p:sldId xmlns:r="http://schemas.openxmlformats.org/officeDocument/2006/relationships" id="273" r:id="Rf9f6274a6a6e4b9a"/>
    <p:sldId xmlns:r="http://schemas.openxmlformats.org/officeDocument/2006/relationships" id="274" r:id="Re2de649c111742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7d5a675a334ae6" /><Relationship Type="http://schemas.openxmlformats.org/officeDocument/2006/relationships/slideMaster" Target="/ppt/slideMasters/slideMaster1.xml" Id="R2c76afed27d14143" /><Relationship Type="http://schemas.openxmlformats.org/officeDocument/2006/relationships/notesMaster" Target="/ppt/notesMasters/notesMaster1.xml" Id="Rc688e51313d74b5b" /><Relationship Type="http://schemas.openxmlformats.org/officeDocument/2006/relationships/presProps" Target="/ppt/presProps.xml" Id="R3c4a71b6a3ec4c65" /><Relationship Type="http://schemas.openxmlformats.org/officeDocument/2006/relationships/tableStyles" Target="/ppt/tableStyles.xml" Id="Rbf735cd59a624934" /><Relationship Type="http://schemas.openxmlformats.org/officeDocument/2006/relationships/slide" Target="/ppt/slides/slide1.xml" Id="Rcfdade36347f453a" /><Relationship Type="http://schemas.openxmlformats.org/officeDocument/2006/relationships/slide" Target="/ppt/slides/slide2.xml" Id="R9e464cf118b24fab" /><Relationship Type="http://schemas.openxmlformats.org/officeDocument/2006/relationships/slide" Target="/ppt/slides/slide3.xml" Id="Re716c99dbfcf4917" /><Relationship Type="http://schemas.openxmlformats.org/officeDocument/2006/relationships/slide" Target="/ppt/slides/slide4.xml" Id="R374cd33481b44368" /><Relationship Type="http://schemas.openxmlformats.org/officeDocument/2006/relationships/slide" Target="/ppt/slides/slide5.xml" Id="R9afbb2deba874e67" /><Relationship Type="http://schemas.openxmlformats.org/officeDocument/2006/relationships/slide" Target="/ppt/slides/slide6.xml" Id="Rd6d63031228f4673" /><Relationship Type="http://schemas.openxmlformats.org/officeDocument/2006/relationships/slide" Target="/ppt/slides/slide7.xml" Id="R2dfecf1b183e43e0" /><Relationship Type="http://schemas.openxmlformats.org/officeDocument/2006/relationships/slide" Target="/ppt/slides/slide8.xml" Id="Rb7cc3cbfab6b4a79" /><Relationship Type="http://schemas.openxmlformats.org/officeDocument/2006/relationships/slide" Target="/ppt/slides/slide9.xml" Id="R9f493c130d0d4cd3" /><Relationship Type="http://schemas.openxmlformats.org/officeDocument/2006/relationships/slide" Target="/ppt/slides/slide10.xml" Id="R60501653a887462c" /><Relationship Type="http://schemas.openxmlformats.org/officeDocument/2006/relationships/slide" Target="/ppt/slides/slide11.xml" Id="R794d907ad806479d" /><Relationship Type="http://schemas.openxmlformats.org/officeDocument/2006/relationships/slide" Target="/ppt/slides/slide12.xml" Id="Raf7a2d6fa6a845ca" /><Relationship Type="http://schemas.openxmlformats.org/officeDocument/2006/relationships/slide" Target="/ppt/slides/slide13.xml" Id="Rf3598033cb804a3c" /><Relationship Type="http://schemas.openxmlformats.org/officeDocument/2006/relationships/slide" Target="/ppt/slides/slide14.xml" Id="Rb47a1fee268d4a9a" /><Relationship Type="http://schemas.openxmlformats.org/officeDocument/2006/relationships/slide" Target="/ppt/slides/slide15.xml" Id="Rba91bcf2308a4d22" /><Relationship Type="http://schemas.openxmlformats.org/officeDocument/2006/relationships/slide" Target="/ppt/slides/slide16.xml" Id="R6a94a2b4c96c4cb9" /><Relationship Type="http://schemas.openxmlformats.org/officeDocument/2006/relationships/slide" Target="/ppt/slides/slide17.xml" Id="R8cc9d4ee721d4ee1" /><Relationship Type="http://schemas.openxmlformats.org/officeDocument/2006/relationships/slide" Target="/ppt/slides/slide18.xml" Id="Rf9f6274a6a6e4b9a" /><Relationship Type="http://schemas.openxmlformats.org/officeDocument/2006/relationships/slide" Target="/ppt/slides/slide19.xml" Id="Re2de649c1117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19af0b7b943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e1b0f45e284c7a" /><Relationship Type="http://schemas.openxmlformats.org/officeDocument/2006/relationships/notesMaster" Target="/ppt/notesMasters/notesMaster1.xml" Id="R10da7fe6f7c1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8d3e72d7f3443d" /><Relationship Type="http://schemas.openxmlformats.org/officeDocument/2006/relationships/notesMaster" Target="/ppt/notesMasters/notesMaster1.xml" Id="Rb637ebcf31d74e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62962aa9e447ed" /><Relationship Type="http://schemas.openxmlformats.org/officeDocument/2006/relationships/notesMaster" Target="/ppt/notesMasters/notesMaster1.xml" Id="Rc584ca290bcf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66a4790e24946" /><Relationship Type="http://schemas.openxmlformats.org/officeDocument/2006/relationships/notesMaster" Target="/ppt/notesMasters/notesMaster1.xml" Id="R182bf947be154b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b464e95674597" /><Relationship Type="http://schemas.openxmlformats.org/officeDocument/2006/relationships/notesMaster" Target="/ppt/notesMasters/notesMaster1.xml" Id="Rd08b2b83d2e947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1b749bf1904ac9" /><Relationship Type="http://schemas.openxmlformats.org/officeDocument/2006/relationships/notesMaster" Target="/ppt/notesMasters/notesMaster1.xml" Id="Rc1ff13f1e9ce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6ea99b1b754b18" /><Relationship Type="http://schemas.openxmlformats.org/officeDocument/2006/relationships/notesMaster" Target="/ppt/notesMasters/notesMaster1.xml" Id="R438f3eb5bbdc49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006f38f7c54ea8" /><Relationship Type="http://schemas.openxmlformats.org/officeDocument/2006/relationships/notesMaster" Target="/ppt/notesMasters/notesMaster1.xml" Id="Rc72f2629cc2142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5b46e4cec74cf9" /><Relationship Type="http://schemas.openxmlformats.org/officeDocument/2006/relationships/notesMaster" Target="/ppt/notesMasters/notesMaster1.xml" Id="Rccdb3dffcb3145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79d8ce287043f0" /><Relationship Type="http://schemas.openxmlformats.org/officeDocument/2006/relationships/notesMaster" Target="/ppt/notesMasters/notesMaster1.xml" Id="Rd8f5c12bed0e4c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87fd869a3b47d1" /><Relationship Type="http://schemas.openxmlformats.org/officeDocument/2006/relationships/notesMaster" Target="/ppt/notesMasters/notesMaster1.xml" Id="R80302da0170a47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cbeea5a86a4f54" /><Relationship Type="http://schemas.openxmlformats.org/officeDocument/2006/relationships/notesMaster" Target="/ppt/notesMasters/notesMaster1.xml" Id="Rcc5dd432569944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e63410333b4d35" /><Relationship Type="http://schemas.openxmlformats.org/officeDocument/2006/relationships/notesMaster" Target="/ppt/notesMasters/notesMaster1.xml" Id="R058dbd476b8b4c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a89d8fb00048a5" /><Relationship Type="http://schemas.openxmlformats.org/officeDocument/2006/relationships/notesMaster" Target="/ppt/notesMasters/notesMaster1.xml" Id="R3510ba307e3c4e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d11a51aa904afd" /><Relationship Type="http://schemas.openxmlformats.org/officeDocument/2006/relationships/notesMaster" Target="/ppt/notesMasters/notesMaster1.xml" Id="R701e6b428e4447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b74711f9b34408" /><Relationship Type="http://schemas.openxmlformats.org/officeDocument/2006/relationships/notesMaster" Target="/ppt/notesMasters/notesMaster1.xml" Id="Rd014cabdb7e242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fad18756d242e6" /><Relationship Type="http://schemas.openxmlformats.org/officeDocument/2006/relationships/notesMaster" Target="/ppt/notesMasters/notesMaster1.xml" Id="Rc308434c6c7448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71ed03e61e4ee1" /><Relationship Type="http://schemas.openxmlformats.org/officeDocument/2006/relationships/notesMaster" Target="/ppt/notesMasters/notesMaster1.xml" Id="R374fc906b3b94f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2d18825031c42aa" /><Relationship Type="http://schemas.openxmlformats.org/officeDocument/2006/relationships/notesMaster" Target="/ppt/notesMasters/notesMaster1.xml" Id="R339d4c74cb9f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도입 질문: 어제 만든 자동화 도구를 오늘 다시 쓰려면 무엇을 찾아야 했는지 손들어 보게 한다. 오늘 목표는 코딩을 배우는 것이 아니라, 다시 쓸 수 있는 업무 시스템 하나를 완성하는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파일을 하나씩 주고받는 반응형 사용, 오른쪽은 경계를 정한 폴더에서 여러 단계를 이어 가는 에이전틱 사용을 보여 준다. 인포그래픽은 설명을 위한 개념 이미지이며 실제 제품 화면이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GPT Image generated project asset: assets/infographics/01_채팅에서_업무시스템으로.png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CHAT·PROJECT·SKILL·CODE를 기능 목록으로 외우게 하지 말고, ‘질문인가, 반복 업무인가, 실행이 필요한가’라는 선택 기준으로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  <a:p xmlns:a="http://schemas.openxmlformats.org/drawingml/2006/main">
            <a:r>
              <a:t>- https://code.claude.com/docs/en/desktop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자료의 터미널 설치 흐름을 버리고 데스크톱 앱의 Code 탭부터 시작한다. Windows 로컬 세션에서는 Git 설치가 필요할 수 있으므로 연수 전 사전 점검 항목으로 안내한다.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  <a:p xmlns:a="http://schemas.openxmlformats.org/drawingml/2006/main">
            <a:r>
              <a:t>- https://code.claude.com/docs/en/desktop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데스크톱 문서는 첫 메시지를 보내기 전에 환경, 프로젝트 폴더, 모델, 권한 모드 네 가지를 설정하도록 안내한다. 오늘 실습은 로컬 환경과 별도 실습 폴더를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https://code.claude.com/docs/en/desktop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원격/클라우드 세션은 오래 걸리는 작업을 이어 가기 좋지만, 오늘 실습은 내 폴더와 구글 로그인 승인이 필요하므로 로컬로 고정한다.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  <a:p xmlns:a="http://schemas.openxmlformats.org/drawingml/2006/main">
            <a:r>
              <a:t>- https://code.claude.com/docs/en/desktop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참가자가 탐색기에서 미리 만든 실습 폴더를 선택하게 한다. 실제 업무 폴더를 바로 열지 말고, 샘플 자료와 복사본만 둔 안전한 폴더를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  <a:p xmlns:a="http://schemas.openxmlformats.org/drawingml/2006/main">
            <a:r>
              <a:t>- https://code.claude.com/docs/en/desktop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‘어떤 AI가 안전한가’보다 먼저 ‘어떤 폴더를 열어 주었는가’를 점검한다. 오늘은 개인정보가 전혀 없는 가상 데이터만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참가자에게 역할·위임 범위·사람 몫의 세 문장을 소리 내어 읽게 한다. 이것이 긴 프롬프트를 외우는 것보다 재사용 가능하다.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요청문은 강의용 축약본이다. 참가자 안내서에는 복사 버튼이 있는 전체 프롬프트를 제공한다. ‘배포 후 가상자료로 저장·조회 확인’이 완료 조건임을 강조한다.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permissions 모드에서 시작한다. 자동 모드는 범위와 작업을 이해한 뒤 켠다. 삭제·외부 전송·권한 부여는 의미를 확인한 후 승인한다.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  <a:p xmlns:a="http://schemas.openxmlformats.org/drawingml/2006/main">
            <a:r>
              <a:t>- https://code.claude.com/docs/en/desktop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낯선 명령어가 보여도 참가자는 터미널을 직접 다루지 않는다. 계획, 중간 질문, 완료 보고를 읽는 법에 집중한다.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  <a:p xmlns:a="http://schemas.openxmlformats.org/drawingml/2006/main">
            <a:r>
              <a:t>- https://code.claude.com/docs/en/desktop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원고의 독서 기록장 예시를 통해 ‘화면만 예쁘게 뜨는 것’이 아니라 실제로 저장되고 조회되는지 확인해야 완성임을 설명한다. 오늘 실습은 같은 구조를 학교별 제출 현황으로 바꾼다.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원고의 실제 사례다. AI가 통독·교차 확인·형식 점검·산출물 제작을 이어 갔고, 담당자는 공식 출처와 원문을 대조해 최종 판단했다. 시간 수치는 이 사례의 경험값이지 일반 성능 보장이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가상 시트 사본을 배포한 뒤 진행한다. 시간이 부족하면 Claude가 코드를 만든 상태까지만 보고, 배포와 권한 승인은 강사 시연으로 전환한다.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연수\00_연수설계안_v1.md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중간중간 전체 화면을 멈추고 같은 지점을 함께 확인한다. 개인별 진도 차이를 줄이고 승인 실수를 막는 장치다.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참가자는 대시보드의 숫자를 믿기 전에 원본 시트와 대조한다. 데이터가 바뀌지 않아야 하는 실습이므로 쓰기 권한이나 수정 기능이 생기지 않았는지도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연수\00_연수설계안_v1.md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직접 수행하는 부분과 사람에게 남는 책임을 분리한다. 실제 학교 자료를 쓰기 전에 학교 절차, 개인정보, 법적 책임을 별도로 확인해야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첫날 만든 단발 도구를 둘째 날 ‘이어 쓰는 시스템’으로 바꾸었다는 점을 회수한다. 참가자가 자기 업무에 적용할 다음 한 문장을 적고 마무리한다.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연수\참고자료\클로드\(원고_V1) 학교에서 바로 쓰는 클로드 AI.docx</a:t>
            </a:r>
          </a:p>
          <a:p xmlns:a="http://schemas.openxmlformats.org/drawingml/2006/main">
            <a:r>
              <a:t>- C:\Users\경남교육청\OneDrive - 감계초등학교\00 강의\260811 AI 기반 디지털 교육혁신 전문성 신장 연수\00_연수설계안_v1.md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e6218794c4c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1efb0d008a4ae5" /><Relationship Type="http://schemas.openxmlformats.org/officeDocument/2006/relationships/slideLayout" Target="/ppt/slideLayouts/slideLayout1.xml" Id="Rf49d375495db48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9d375495db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ebc66e23248c8" /><Relationship Type="http://schemas.openxmlformats.org/officeDocument/2006/relationships/notesSlide" Target="/ppt/notesSlides/notesSlide1.xml" Id="R8a828f2fb13f4f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b01a3cab44e9c" /><Relationship Type="http://schemas.openxmlformats.org/officeDocument/2006/relationships/image" Target="/ppt/media/image.png" Id="R8a9ac23755824a79" /><Relationship Type="http://schemas.openxmlformats.org/officeDocument/2006/relationships/notesSlide" Target="/ppt/notesSlides/notesSlide2.xml" Id="R1a05995002fa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16ae4034b4fdb" /><Relationship Type="http://schemas.openxmlformats.org/officeDocument/2006/relationships/notesSlide" Target="/ppt/notesSlides/notesSlide3.xml" Id="Raf956b065fab45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5567c00d24a95" /><Relationship Type="http://schemas.openxmlformats.org/officeDocument/2006/relationships/image" Target="/ppt/media/image2.png" Id="R13d518151cdc4519" /><Relationship Type="http://schemas.openxmlformats.org/officeDocument/2006/relationships/notesSlide" Target="/ppt/notesSlides/notesSlide4.xml" Id="R5a1e4185d8b045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5a696c1de4885" /><Relationship Type="http://schemas.openxmlformats.org/officeDocument/2006/relationships/notesSlide" Target="/ppt/notesSlides/notesSlide5.xml" Id="R6187828575ac40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f346648ca43b8" /><Relationship Type="http://schemas.openxmlformats.org/officeDocument/2006/relationships/image" Target="/ppt/media/image3.png" Id="R6b8c04b78f834428" /><Relationship Type="http://schemas.openxmlformats.org/officeDocument/2006/relationships/notesSlide" Target="/ppt/notesSlides/notesSlide6.xml" Id="R8cb0e076165c49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ecb42bd99483b" /><Relationship Type="http://schemas.openxmlformats.org/officeDocument/2006/relationships/image" Target="/ppt/media/image4.png" Id="Rf14495154e2845c1" /><Relationship Type="http://schemas.openxmlformats.org/officeDocument/2006/relationships/image" Target="/ppt/media/image5.png" Id="Ra3fec30c468f4131" /><Relationship Type="http://schemas.openxmlformats.org/officeDocument/2006/relationships/notesSlide" Target="/ppt/notesSlides/notesSlide7.xml" Id="R7518b18c5064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302065c174463" /><Relationship Type="http://schemas.openxmlformats.org/officeDocument/2006/relationships/notesSlide" Target="/ppt/notesSlides/notesSlide8.xml" Id="Rcf5d269ce1a049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0faa4eee54c8f" /><Relationship Type="http://schemas.openxmlformats.org/officeDocument/2006/relationships/notesSlide" Target="/ppt/notesSlides/notesSlide9.xml" Id="Ra742d7260e2c44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ebd7fdbb44cc1" /><Relationship Type="http://schemas.openxmlformats.org/officeDocument/2006/relationships/notesSlide" Target="/ppt/notesSlides/notesSlide10.xml" Id="Rd9f6151ed99a47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a9b399aa24e58" /><Relationship Type="http://schemas.openxmlformats.org/officeDocument/2006/relationships/image" Target="/ppt/media/image6.png" Id="R1c634cd65cfc41da" /><Relationship Type="http://schemas.openxmlformats.org/officeDocument/2006/relationships/image" Target="/ppt/media/image7.png" Id="R3fd832bf64b24c47" /><Relationship Type="http://schemas.openxmlformats.org/officeDocument/2006/relationships/notesSlide" Target="/ppt/notesSlides/notesSlide11.xml" Id="Rd90cb14e4f4d4a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2541cfdeb40ad" /><Relationship Type="http://schemas.openxmlformats.org/officeDocument/2006/relationships/image" Target="/ppt/media/image8.png" Id="R27c11e83bc174a56" /><Relationship Type="http://schemas.openxmlformats.org/officeDocument/2006/relationships/notesSlide" Target="/ppt/notesSlides/notesSlide12.xml" Id="Ra9c797778d1848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3207b2e8f40d7" /><Relationship Type="http://schemas.openxmlformats.org/officeDocument/2006/relationships/image" Target="/ppt/media/image9.png" Id="Rb6e9b318c5964c5d" /><Relationship Type="http://schemas.openxmlformats.org/officeDocument/2006/relationships/image" Target="/ppt/media/image10.png" Id="R9b1416d42e44402d" /><Relationship Type="http://schemas.openxmlformats.org/officeDocument/2006/relationships/notesSlide" Target="/ppt/notesSlides/notesSlide13.xml" Id="Rc6aa1655bc7b41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0f405e0e4ea4" /><Relationship Type="http://schemas.openxmlformats.org/officeDocument/2006/relationships/notesSlide" Target="/ppt/notesSlides/notesSlide14.xml" Id="R346c96d3c3584a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cea0d3be74116" /><Relationship Type="http://schemas.openxmlformats.org/officeDocument/2006/relationships/notesSlide" Target="/ppt/notesSlides/notesSlide15.xml" Id="Rbe15b8d29a7341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4892b4dc74566" /><Relationship Type="http://schemas.openxmlformats.org/officeDocument/2006/relationships/notesSlide" Target="/ppt/notesSlides/notesSlide16.xml" Id="R804d601e7fef46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101a30c184965" /><Relationship Type="http://schemas.openxmlformats.org/officeDocument/2006/relationships/notesSlide" Target="/ppt/notesSlides/notesSlide17.xml" Id="R8171496d4cec4c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588b46d7c46e4" /><Relationship Type="http://schemas.openxmlformats.org/officeDocument/2006/relationships/notesSlide" Target="/ppt/notesSlides/notesSlide18.xml" Id="Rcc22288c06724b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2425363824a54" /><Relationship Type="http://schemas.openxmlformats.org/officeDocument/2006/relationships/notesSlide" Target="/ppt/notesSlides/notesSlide19.xml" Id="R0d9c1e3649394c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D44A3-A833-4DFC-8478-4CD04FEE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PART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63C1F-74E1-47BF-86FB-03DC2B6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895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어제 만든 그 도구,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 아침에도 쓰셨습니까?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C693F-9B88-46D3-94E5-0B04317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2E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8D2E1"/>
                </a:solidFill>
                <a:latin typeface="Malgun Gothic"/>
                <a:ea typeface="Malgun Gothic"/>
                <a:cs typeface="Malgun Gothic"/>
              </a:rPr>
              <a:t>Claude 데스크톱 앱으로 ‘한 번의 답변’을 ‘반복 가능한 업무 시스템’으로 바꾸기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1F249-8B5D-4E2B-9DAD-467F402C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23950"/>
            <a:ext cx="1733550" cy="1733550"/>
          </a:xfrm>
          <a:prstGeom xmlns:a="http://schemas.openxmlformats.org/drawingml/2006/main" prst="roundRect">
            <a:avLst>
              <a:gd name="adj" fmla="val 19780"/>
            </a:avLst>
          </a:prstGeom>
          <a:solidFill xmlns:a="http://schemas.openxmlformats.org/drawingml/2006/main">
            <a:srgbClr val="E8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09B11-D7F6-4309-8910-FE530071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00175"/>
            <a:ext cx="1257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일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68EB4-CD7F-4156-B8D1-2BC55519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2026. 8. 11. · 김상백</a:t>
            </a:r>
          </a:p>
        </p:txBody>
      </p:sp>
    </p:spTree>
    <p:extLst>
      <p:ext uri="{BB962C8B-B14F-4D97-AF65-F5344CB8AC3E}">
        <p14:creationId xmlns:p14="http://schemas.microsoft.com/office/powerpoint/2010/main" val="1183082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43C35-BF98-4D78-BEC8-CED09806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ac23755824a79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DA8CA-7597-4207-840D-C6CCAC3C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191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채팅은 답을 줍니다.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시스템은 일을 끝냅니다.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F273D-8FC6-4FCF-AEEA-73EB5B1E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981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C8D2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8D2E1"/>
                </a:solidFill>
                <a:latin typeface="Malgun Gothic"/>
                <a:ea typeface="Malgun Gothic"/>
                <a:cs typeface="Malgun Gothic"/>
              </a:rPr>
              <a:t>업로드 → 답변 → 다운로드를 반복하던 흐름을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C8D2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8D2E1"/>
                </a:solidFill>
                <a:latin typeface="Malgun Gothic"/>
                <a:ea typeface="Malgun Gothic"/>
                <a:cs typeface="Malgun Gothic"/>
              </a:rPr>
              <a:t>폴더 → 계획 → 실행 → 검증으로 바꿉니다.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1CEE1-EA69-4014-ADFA-46B66E4A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오늘의 전환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23E93-449D-4343-AC96-47329C7F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2561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ECA8B-1CD2-4125-93DD-EE7AA6D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3DDDF-F673-4EB8-B021-7ABED68C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F62A4-6EB5-4767-8156-84CC8442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업무의 크기에 맞춰 표면을 고릅니다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E116B-E113-41C5-B46C-ADE4BEAC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도구보다 중요한 것은 ‘어디에 일을 맡기는가’입니다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491F0-A972-4968-8369-9136A50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CHAT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77042-A5D9-435D-B7C1-0EDDCACE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질문·아이디어·짧은 초안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44B34-37A1-46A8-BE9C-B0714FA1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>
                <a:solidFill>
                  <a:srgbClr val="D9DEE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9DEE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7AE3C-6FB0-42F5-9FC1-440A1302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24344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344E"/>
                </a:solidFill>
                <a:latin typeface="Malgun Gothic"/>
                <a:ea typeface="Malgun Gothic"/>
                <a:cs typeface="Malgun Gothic"/>
              </a:rPr>
              <a:t>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4AD06-62D3-4BF3-AE92-1E340CF3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한 업무의 맥락과 자료 기억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D0AC2-0DD7-49C6-A947-5DEEC93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>
                <a:solidFill>
                  <a:srgbClr val="D9DEE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9DEE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875E9-76BD-4E36-BEF7-B2D5C727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8E0F1-09BE-421B-9201-B1036703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반복 절차와 검토 기준 재사용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F0409-F269-4C8F-91D0-846E440A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>
                <a:solidFill>
                  <a:srgbClr val="D9DEE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9DEE7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C4654-62ED-4808-8713-39E2F59F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30160-08D2-441C-8687-93A0A9B2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파일·도구·실행·검증까지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7CAEE-7025-4AB0-BED4-445E1FE4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066800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0" tIns="133350" rIns="190500" bIns="95250" anchor="ctr">
            <a:normAutofit fontScale="984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오늘은 CODE를 중심으로 배우되, 결과를 PROJECT와 SKILL에 남겨 다음 업무로 이어 갑니다.</a:t>
            </a:r>
          </a:p>
        </p:txBody>
      </p:sp>
    </p:spTree>
    <p:extLst>
      <p:ext uri="{BB962C8B-B14F-4D97-AF65-F5344CB8AC3E}">
        <p14:creationId xmlns:p14="http://schemas.microsoft.com/office/powerpoint/2010/main" val="188253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A47A3-716A-4525-BAD0-BF66C68F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6101E-723C-4F07-80D9-524AAA5B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13F50-2DF3-4ECD-9F9E-87DF997A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Claude Desktop · Code 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7BD9A-DD6B-4390-B121-F18AEA73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까만 터미널을 열지 않습니다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518151cdc4519"/>
          <a:stretch xmlns:a="http://schemas.openxmlformats.org/drawingml/2006/main"/>
        </p:blipFill>
        <p:spPr>
          <a:xfrm xmlns:a="http://schemas.openxmlformats.org/drawingml/2006/main">
            <a:off x="747183" y="1733550"/>
            <a:ext cx="7992533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3637A-4642-4532-B8E4-7DE7607D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왼쪽 위에서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Code를 누르고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A8E3F-7BFF-482B-AD87-ED0CC842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아래 입력창에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한국어로 일을 맡깁니다.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9DE53-891B-4D1D-806F-A2A86EAD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577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GUI로 시작</a:t>
            </a:r>
          </a:p>
        </p:txBody>
      </p:sp>
    </p:spTree>
    <p:extLst>
      <p:ext uri="{BB962C8B-B14F-4D97-AF65-F5344CB8AC3E}">
        <p14:creationId xmlns:p14="http://schemas.microsoft.com/office/powerpoint/2010/main" val="474424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39130-6F60-4AAD-8004-F65B26A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4D6AD-BAB6-4874-9C5B-2ACC95E8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EDEB0-69ED-4200-9031-EB50B754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입력창 주변에서 모두 선택합니다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09095-EB54-489D-8ECB-9C1536D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첫 세션은 네 가지만 정하면 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42841-B3AD-4FF5-92D1-2207A738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5115D-7E69-4CCC-A195-9263CB12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716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64B63-6C2E-4D1A-87BD-0378FFE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내 PC에서 작업하려면 로컬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4B266-D562-4EEA-AF98-23E294E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EF8A1-BE57-49A5-9A47-E6320173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79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폴더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68D56-A681-4619-8E43-CFD68FF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Claude가 읽고 쓸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1CF44-3A95-4145-81BB-F5A08678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2BFEB-499B-4BD9-9200-832002B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50806-6A7C-465E-B377-D626F696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814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작업 난도에 맞는 모델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A0561-BFF7-4DB0-BCE6-A6679C04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C8B6B-D7D0-439C-9426-D6ADE767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005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EEC03-7CB0-417F-911D-655D58CF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577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묻고 진행할지, 자동으로 갈지</a:t>
            </a:r>
          </a:p>
        </p:txBody>
      </p:sp>
    </p:spTree>
    <p:extLst>
      <p:ext uri="{BB962C8B-B14F-4D97-AF65-F5344CB8AC3E}">
        <p14:creationId xmlns:p14="http://schemas.microsoft.com/office/powerpoint/2010/main" val="1921100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C5CD5-7AB5-47CC-B4F6-CD08837B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E606B-3F71-4BF4-8CE4-68AD2BD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B6250-A78B-480B-BA16-AA56C591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STEP 1 · 실행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E206B-E798-42EE-8D7C-42727E98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내 폴더와 브라우저를 써야 한다면 ‘로컬’을 고릅니다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c04b78f834428"/>
          <a:stretch xmlns:a="http://schemas.openxmlformats.org/drawingml/2006/main"/>
        </p:blipFill>
        <p:spPr>
          <a:xfrm xmlns:a="http://schemas.openxmlformats.org/drawingml/2006/main">
            <a:off x="819598" y="1905000"/>
            <a:ext cx="6971403" cy="385762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3180A-8729-4FCC-8BCC-9B51A03B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로컬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3C6DC-BBAF-4987-B50C-8999F1B4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65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내 컴퓨터의 작업 폴더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65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브라우저 로그인·승인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65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로컬 도구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DF41B-BEE7-4F40-8CF1-E4BE02B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571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95250" rIns="133350" bIns="76200" anchor="ctr">
            <a:normAutofit fontScale="749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실습에서는 로컬 세션을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878480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39417-595D-41FC-8CB6-A830018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CD29-31D1-4061-AF43-7BBE0D51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4AB50-7CFE-437C-B35F-208718A2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STEP 2 · 작업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32D3B-426F-4C64-A1F9-B69F2DF1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작업 폴더를 지정하면 준비가 끝납니다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495154e2845c1"/>
          <a:stretch xmlns:a="http://schemas.openxmlformats.org/drawingml/2006/main"/>
        </p:blipFill>
        <p:spPr>
          <a:xfrm xmlns:a="http://schemas.openxmlformats.org/drawingml/2006/main">
            <a:off x="666750" y="2198416"/>
            <a:ext cx="4762500" cy="2137317"/>
          </a:xfrm>
          <a:prstGeom xmlns:a="http://schemas.openxmlformats.org/drawingml/2006/main" prst="roundRect">
            <a:avLst>
              <a:gd name="adj" fmla="val 5806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ec30c468f4131"/>
          <a:stretch xmlns:a="http://schemas.openxmlformats.org/drawingml/2006/main"/>
        </p:blipFill>
        <p:spPr>
          <a:xfrm xmlns:a="http://schemas.openxmlformats.org/drawingml/2006/main">
            <a:off x="6043083" y="1790700"/>
            <a:ext cx="5249333" cy="2952750"/>
          </a:xfrm>
          <a:prstGeom xmlns:a="http://schemas.openxmlformats.org/drawingml/2006/main" prst="roundRect">
            <a:avLst>
              <a:gd name="adj" fmla="val 580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A929F-4334-40D4-90F3-CCB2B11B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① 폴더 단추 → 폴더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CEF11-929A-4CF3-B51A-9FF33798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10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② 별도의 실습 폴더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235F1-3084-436A-AF56-F47CE3C0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처음에는 실제 업무 폴더가 아니라 복사본·가상자료 폴더로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612167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62DDF-4C80-4574-86C2-71A8CBB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F3D02-8449-4829-9811-491A89FB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EC66-F464-418C-9C00-9B35212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보안의 출발점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AEF19-8842-4EC7-A183-E988946F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폴더 선택은 곧 접근 범위 선택입니다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74F87-747C-4022-BB7D-0C6608D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보여 줄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2B7BF-6907-42D3-9CFF-79CC5BB7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714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가상 공문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양식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익명화된 예시 데이터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배포 가능한 참고자료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25B93-CEED-4B8F-A436-F6281CFD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보여 주지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525F5-AA82-4D4D-A3EA-E26E8362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학생 이름·연락처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인사·감사 자료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중인 민감 사안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원본 업무 폴더 전체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08AC0-38D6-49DD-8151-F36FA5EA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작업 범위는 Claude가 아니라 내가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443322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85847-4384-49A0-B952-EE9FF72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E8639-FECE-4B1B-94B5-B0F8BBEA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023A5-E418-47DE-A0DE-B22354D9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STEP 3 · 첫 프롬프트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99756-66BB-47AC-A36F-2E6B0387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요청은 세 덩어리면 충분합니다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D62D5-0FC5-49E7-A9B3-D7FB7C0B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3BC00-0997-46E5-8D68-24240FC0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역할 선언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6DDB9-FD06-458C-A630-4502D3AC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너는 내 개발 에이전트야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3C76D-B81C-4A38-9C5E-5A503B6E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4BEC1-977E-4925-8B37-E925E220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위임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C082B-B945-4195-9F7E-F4C10B73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생성부터 배포·검증까지 직접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B33B1-BB1E-4937-A9FF-40C2170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66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DB016-F8D5-4D1C-B591-F9E4A77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사람 몫 한정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7488C-9B38-477B-93D7-BD0B4C3C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로그인·권한처럼 내 손이 필요할 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42FA7-75E5-4734-AF25-40E9C581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코드를 어떻게 짤지 말하지 않아도 됩니다. 원하는 결과와 완료 조건을 말합니다.</a:t>
            </a:r>
          </a:p>
        </p:txBody>
      </p:sp>
    </p:spTree>
    <p:extLst>
      <p:ext uri="{BB962C8B-B14F-4D97-AF65-F5344CB8AC3E}">
        <p14:creationId xmlns:p14="http://schemas.microsoft.com/office/powerpoint/2010/main" val="376244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2E699-D018-4EBB-B0C8-30526E6A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70275-FD51-46ED-A452-D65BED88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EF33B-DBBF-4304-97E4-38610682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복사해서 쓰는 기본형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F606B-548C-4E17-9D75-1390A98A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첫 요청은 ‘코드’보다 ‘완료 조건’을 말합니다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6B915-AB02-472F-B0F4-4EDBACA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1010900" cy="4000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02F48"/>
          </a:solidFill>
          <a:ln xmlns:a="http://schemas.openxmlformats.org/drawingml/2006/main" w="9525">
            <a:solidFill>
              <a:srgbClr val="4151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4C767-1222-488E-8EED-1CC3C442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03632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너는 내 개발 에이전트야.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학교별 제출 현황을 보여 주는 웹앱을 만들어 줘.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구글 시트를 데이터베이스로 연결하고, 모바일에서도 읽기 쉽게 구성해.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프로젝트 생성부터 배포·작동 확인까지 네가 직접 진행해.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 로그인이 꼭 필요한 순간에만 무엇을 눌러야 하는지 알려 줘.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완성 후에는 주소를 열어 가상자료로 저장·조회가 되는지 시험해 줘.</a:t>
            </a:r>
          </a:p>
        </p:txBody>
      </p:sp>
    </p:spTree>
    <p:extLst>
      <p:ext uri="{BB962C8B-B14F-4D97-AF65-F5344CB8AC3E}">
        <p14:creationId xmlns:p14="http://schemas.microsoft.com/office/powerpoint/2010/main" val="947601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82D0D-EF7A-4F8D-8C41-CAD27B1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87C25-C8DD-4E06-9EB2-916F58C7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EB87C-24CE-4F57-BC10-E9A3626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STEP 4 · 승인과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38A05-6B79-4506-A137-B59B1F6C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권한 요청은 멈춤이 아니라 안전장치입니다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34cd65cfc41da"/>
          <a:stretch xmlns:a="http://schemas.openxmlformats.org/drawingml/2006/main"/>
        </p:blipFill>
        <p:spPr>
          <a:xfrm xmlns:a="http://schemas.openxmlformats.org/drawingml/2006/main">
            <a:off x="609600" y="1955602"/>
            <a:ext cx="5238750" cy="2946797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832bf64b24c47"/>
          <a:stretch xmlns:a="http://schemas.openxmlformats.org/drawingml/2006/main"/>
        </p:blipFill>
        <p:spPr>
          <a:xfrm xmlns:a="http://schemas.openxmlformats.org/drawingml/2006/main">
            <a:off x="6267450" y="1859886"/>
            <a:ext cx="5238750" cy="3138229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0F2CE-7737-4572-88B1-894E2A31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처음에는 ‘묻고 진행’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ACC2C-450A-46AA-9E39-C8E317F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익숙해진 뒤 필요한 범위만 자동</a:t>
            </a:r>
          </a:p>
        </p:txBody>
      </p:sp>
    </p:spTree>
    <p:extLst>
      <p:ext uri="{BB962C8B-B14F-4D97-AF65-F5344CB8AC3E}">
        <p14:creationId xmlns:p14="http://schemas.microsoft.com/office/powerpoint/2010/main" val="11706536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A4BFF-A43B-4D21-A98B-CD6019E7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1F298-03FC-45A3-826C-8EE4CF82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7B158-6B90-4C05-B8A9-988428AD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실행 → 오류 수정 → 재실행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31819-34E9-450A-8955-7B2C7259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화면 속 명령어는 Claude가 다룹니다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1e83bc174a56"/>
          <a:stretch xmlns:a="http://schemas.openxmlformats.org/drawingml/2006/main"/>
        </p:blipFill>
        <p:spPr>
          <a:xfrm xmlns:a="http://schemas.openxmlformats.org/drawingml/2006/main">
            <a:off x="687917" y="1809750"/>
            <a:ext cx="7196667" cy="4048125"/>
          </a:xfrm>
          <a:prstGeom xmlns:a="http://schemas.openxmlformats.org/drawingml/2006/main" prst="roundRect">
            <a:avLst>
              <a:gd name="adj" fmla="val 423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1346C-9602-479A-9D3D-CD843D94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우리가 볼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7C8A5-6B17-4AAA-B13A-8BA0719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857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• 계획이 맞는가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• 요구사항이 빠지지 않았는가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• 오류를 고쳐 다시 확인했는가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374F1-2F4C-42C7-80F5-5B32BC51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28003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14300" rIns="133350" bIns="76200" anchor="ctr">
            <a:normAutofit fontScale="813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터미널 조작은 실습 목표가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1133683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BE2AF-DF5E-4EF5-90B1-2C6D311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77C46-6525-4CF5-A640-62C289D2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6E32B-B807-473E-8C86-F5CCC4EC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결과물보다 작동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ADE98-604A-46FC-8A51-37A51F50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완성은 ‘주소가 열리고 데이터가 쌓일 때’입니다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9b318c5964c5d"/>
          <a:stretch xmlns:a="http://schemas.openxmlformats.org/drawingml/2006/main"/>
        </p:blipFill>
        <p:spPr>
          <a:xfrm xmlns:a="http://schemas.openxmlformats.org/drawingml/2006/main">
            <a:off x="609600" y="2100263"/>
            <a:ext cx="5334000" cy="3000375"/>
          </a:xfrm>
          <a:prstGeom xmlns:a="http://schemas.openxmlformats.org/drawingml/2006/main" prst="roundRect">
            <a:avLst>
              <a:gd name="adj" fmla="val 4737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416d42e44402d"/>
          <a:stretch xmlns:a="http://schemas.openxmlformats.org/drawingml/2006/main"/>
        </p:blipFill>
        <p:spPr>
          <a:xfrm xmlns:a="http://schemas.openxmlformats.org/drawingml/2006/main">
            <a:off x="6286500" y="2100263"/>
            <a:ext cx="5334000" cy="3000375"/>
          </a:xfrm>
          <a:prstGeom xmlns:a="http://schemas.openxmlformats.org/drawingml/2006/main" prst="roundRect">
            <a:avLst>
              <a:gd name="adj" fmla="val 47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FA455-07EF-4276-B25E-8222578D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학생·사용자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ACB27-93D6-4941-B3C9-29DEA2E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관리자 데이터</a:t>
            </a:r>
          </a:p>
        </p:txBody>
      </p:sp>
    </p:spTree>
    <p:extLst>
      <p:ext uri="{BB962C8B-B14F-4D97-AF65-F5344CB8AC3E}">
        <p14:creationId xmlns:p14="http://schemas.microsoft.com/office/powerpoint/2010/main" val="13845242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5DEDF-8ABB-40C2-8288-537CFDB2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DD6E9-83FC-426A-8307-851083A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41A75-264A-421B-848D-AE77A32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교육지원청 업무 사례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02184-230E-442E-BDA2-998BF5D0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며칠짜리 검토도 하나의 세션으로 묶을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8EB05-A460-454C-9386-6B7AAB9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100쪽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23567-F625-427D-B04F-C2F93666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지역자원 자료집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9AB1C-8E5B-4E52-A273-2DCFC2C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150" b="1">
                <a:solidFill>
                  <a:srgbClr val="8DA0B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8DA0B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CA8E4-5101-4F99-B5BC-F755BDE5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4종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61D62-FB40-41A7-B7CF-393EDC7E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71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정오표 · 보고서 · 분석 · PPT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8FA97-875F-46D8-84AD-465F2F4D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생성 약 40분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6699C-A139-404E-BA42-C034F5E3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053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 검토 약 3시간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5CB1D-E751-4C00-B132-268D6A29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AI의 답도 검증 대상입니다.</a:t>
            </a:r>
          </a:p>
        </p:txBody>
      </p:sp>
    </p:spTree>
    <p:extLst>
      <p:ext uri="{BB962C8B-B14F-4D97-AF65-F5344CB8AC3E}">
        <p14:creationId xmlns:p14="http://schemas.microsoft.com/office/powerpoint/2010/main" val="12064928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E4229-BD0F-4A33-9EAD-EE4E3D9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A1E28-94BE-4B02-A11B-8AC179D4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8D8D6-BD7A-4A10-8568-635BD54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가상 데이터로 완성하는 첫 업무 도구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6B91F-20CA-47C5-8112-14BF8C8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오늘 실습: 학교별 제출 현황 대시보드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28B94-FC82-4C78-8EF0-0026F69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F62A7-1D65-4846-AA84-E85E133D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학교명 · 학교급 · 담당자 · 제출 여부 · 제출일 · 비고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D3A4B-F3F8-403E-8A78-BAF86AB9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775EE-61D6-4FD1-B652-0928C555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051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전체 제출률 · 학교급별 현황 · 미제출 필터 · 학교 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3E703-2914-46C9-9C91-6764C171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0C96D-592C-4426-86BC-C0348695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웹앱 주소 열림 · 모바일 확인 · 가상자료 조회 · 숫자 대조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5657B-C76A-4936-8741-08CD3C4A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4775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BE8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실제 학교·학생 개인정보는 넣지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15583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F854E-A31F-458B-A103-666D0EC1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D4737-5973-425A-B07E-A5BF526A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19D2D-8C80-40F1-ABBF-E11CF7F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빠르게 만드는 것보다 틀리지 않게 만드는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D3DA8-9EA9-4A02-86F7-EA2EC48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실습은 네 번 멈춰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2D8A9-4BE8-43D8-B8B8-A8465D9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1AE9F-E852-457A-8E5D-1E58D37A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859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5A202-1603-475D-806A-D6A3E4F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3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무엇을 만들지 다시 말하게 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754FF-E47E-4361-BF99-01A6CC2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03E61-8A29-4866-A9A6-8F27EBC7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575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8198A-3149-4414-9EA6-726857CE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폴더와 데이터가 안전한지 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0F036-669A-48DA-8FBB-6776B2CA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21967-12CF-4E23-919F-7A25AF8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B5548-BC42-441C-9BAC-FAD2017E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766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로그인·권한의 의미 확인하기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23777-7FEA-40AE-8103-34EA0D86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A367C-FA28-49BD-88EF-207D791D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D02BB-2899-4EEC-B7E0-54A0FBF1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482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숫자·검색·필터·모바일 대조하기</a:t>
            </a:r>
          </a:p>
        </p:txBody>
      </p:sp>
    </p:spTree>
    <p:extLst>
      <p:ext uri="{BB962C8B-B14F-4D97-AF65-F5344CB8AC3E}">
        <p14:creationId xmlns:p14="http://schemas.microsoft.com/office/powerpoint/2010/main" val="9035161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CB7C9-E7B6-4436-AA3E-DCBD3A52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EB765-2D5A-4B48-80E4-65321A63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4DA1E-B303-4619-86C8-88A01FAF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검증 체크리스트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6EA9C-4B65-4F05-A354-11ADEBC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‘보인다’가 아니라 ‘맞다’를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660E8-A592-4407-B541-A7619DB6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36277-D684-41CA-8825-5ED1A9E4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383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숫자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44C9E-C789-4876-865C-F7A14915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669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전체 학교 수와 제출률을 원본 시트와 대조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A0F08-D3F2-4906-98A9-814E745D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A432B-19A4-4C2C-8760-F67B0640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7A0AB-7147-4041-B50D-BE464A20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4795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미제출만 골랐을 때 대상 학교가 정확한지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80088-15EE-4469-AF7D-12777BB0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DAF07-7E77-439C-A32D-5294F978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04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55AE3-69A5-4679-BBF7-976BB5E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학교명 일부만 입력해도 원하는 학교가 나오는지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1C518-73B2-471E-96E5-D67C4D6D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CF4F4-4925-4887-8F7B-3AD4A22A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814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모바일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BE302-6838-4854-84AA-FCE3A2B6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1005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작은 화면에서 표와 버튼이 잘리지 않는지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8CB7A-54D0-483D-A40B-046B9C40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EC167-E335-4552-B8F5-746424F2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625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43A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42B46-AEAC-47E7-B836-AFB40AA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911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235"/>
                </a:solidFill>
                <a:latin typeface="Malgun Gothic"/>
                <a:ea typeface="Malgun Gothic"/>
                <a:cs typeface="Malgun Gothic"/>
              </a:rPr>
              <a:t>웹앱이 데이터를 읽기만 하고 원본을 바꾸지 않는지</a:t>
            </a:r>
          </a:p>
        </p:txBody>
      </p:sp>
    </p:spTree>
    <p:extLst>
      <p:ext uri="{BB962C8B-B14F-4D97-AF65-F5344CB8AC3E}">
        <p14:creationId xmlns:p14="http://schemas.microsoft.com/office/powerpoint/2010/main" val="14972745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63C3F-0FA7-4498-9F95-A0854505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AFC0D7"/>
                </a:solidFill>
                <a:latin typeface="Malgun Gothic"/>
                <a:ea typeface="Malgun Gothic"/>
                <a:cs typeface="Malgun Gothic"/>
              </a:rPr>
              <a:t>춘천교육지원청 · AI 기반 디지털 교육혁신 전문성 신장 연수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A819E-932F-414B-8209-2F663103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C5530-FAB0-4E4E-854A-C6919237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학교 업무에서 지켜야 할 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F5702-373C-4CD0-9097-2DA32AA9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코드는 맡겨도 책임은 맡기지 않습니다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2ABBD-0393-43B1-B8AF-F7D07C2F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Claude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71551-DC87-46CA-A957-169B00AC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계획 · 작성 · 실행 · 오류 수정 · 테스트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7BC70-E3AA-4EEF-9FE1-B1898512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EADDE-6498-4E93-8E7A-154547C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194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범위 · 승인 · 사실 확인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개인정보 · 최종 배포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5E4E5-3279-49E7-A07F-7548B6CA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판단권을 남겨 두는 것이 가장 중요한 자동화입니다.</a:t>
            </a:r>
          </a:p>
        </p:txBody>
      </p:sp>
    </p:spTree>
    <p:extLst>
      <p:ext uri="{BB962C8B-B14F-4D97-AF65-F5344CB8AC3E}">
        <p14:creationId xmlns:p14="http://schemas.microsoft.com/office/powerpoint/2010/main" val="1698211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484EA-7E30-4092-8792-3CAE469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6B4A"/>
                </a:solidFill>
                <a:latin typeface="Malgun Gothic"/>
                <a:ea typeface="Malgun Gothic"/>
                <a:cs typeface="Malgun Gothic"/>
              </a:rPr>
              <a:t>오늘의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D2BC0-4A4D-4B06-A2B8-3F17B7F5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코드를 배운 것이 아니라,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다시 쓸 수 있는 업무 시스템 하나를 만들었습니다.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B4B8E-9F69-447F-9481-FBC65000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내일 이어 말해 보기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E69EF-33B9-43B2-822A-058BB642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D3DBE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3DBE7"/>
                </a:solidFill>
                <a:latin typeface="Malgun Gothic"/>
                <a:ea typeface="Malgun Gothic"/>
                <a:cs typeface="Malgun Gothic"/>
              </a:rPr>
              <a:t>“제출 마감일이 가까운 학교만 따로 보여 줘.”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D3DBE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3DBE7"/>
                </a:solidFill>
                <a:latin typeface="Malgun Gothic"/>
                <a:ea typeface="Malgun Gothic"/>
                <a:cs typeface="Malgun Gothic"/>
              </a:rPr>
              <a:t>“결과를 보고용 PPT 한 장으로 만들어 줘.”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D3DBE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3DBE7"/>
                </a:solidFill>
                <a:latin typeface="Malgun Gothic"/>
                <a:ea typeface="Malgun Gothic"/>
                <a:cs typeface="Malgun Gothic"/>
              </a:rPr>
              <a:t>“이 과정을 다음 달에도 쓰도록 스킬로 정리해 줘.”</a:t>
            </a:r>
          </a:p>
        </p:txBody>
      </p:sp>
    </p:spTree>
    <p:extLst>
      <p:ext uri="{BB962C8B-B14F-4D97-AF65-F5344CB8AC3E}">
        <p14:creationId xmlns:p14="http://schemas.microsoft.com/office/powerpoint/2010/main" val="813279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2026-08-09T13:47:56.4900000Z</dcterms:created>
  <dcterms:modified xsi:type="dcterms:W3CDTF">2026-08-09T13:47:56.4900000Z</dcterms:modified>
</coreProperties>
</file>