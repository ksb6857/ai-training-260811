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349ee29f75245ac" /><Relationship Type="http://schemas.openxmlformats.org/officeDocument/2006/relationships/extended-properties" Target="/docProps/app.xml" Id="R5bf7e7e6d2e64369" /><Relationship Type="http://schemas.openxmlformats.org/officeDocument/2006/relationships/officeDocument" Target="/ppt/presentation.xml" Id="Rf3046d23bcb64b3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116bf0ea2d04c82"/>
  </p:sldMasterIdLst>
  <p:notesMasterIdLst>
    <p:notesMasterId xmlns:r="http://schemas.openxmlformats.org/officeDocument/2006/relationships" r:id="R4ea7817dd4a241bb"/>
  </p:notesMasterIdLst>
  <p:sldIdLst>
    <p:sldId xmlns:r="http://schemas.openxmlformats.org/officeDocument/2006/relationships" id="256" r:id="R732a6b83a225450d"/>
    <p:sldId xmlns:r="http://schemas.openxmlformats.org/officeDocument/2006/relationships" id="257" r:id="R7f59a865c3844378"/>
    <p:sldId xmlns:r="http://schemas.openxmlformats.org/officeDocument/2006/relationships" id="258" r:id="R023b89a736ab4a6e"/>
    <p:sldId xmlns:r="http://schemas.openxmlformats.org/officeDocument/2006/relationships" id="259" r:id="R60975351e7074dc6"/>
    <p:sldId xmlns:r="http://schemas.openxmlformats.org/officeDocument/2006/relationships" id="260" r:id="R158124cce70b45d4"/>
    <p:sldId xmlns:r="http://schemas.openxmlformats.org/officeDocument/2006/relationships" id="261" r:id="R6f0e334d2a5c4ba9"/>
    <p:sldId xmlns:r="http://schemas.openxmlformats.org/officeDocument/2006/relationships" id="262" r:id="Rc114fcdf05d24b66"/>
    <p:sldId xmlns:r="http://schemas.openxmlformats.org/officeDocument/2006/relationships" id="263" r:id="R065002d9868a4e51"/>
    <p:sldId xmlns:r="http://schemas.openxmlformats.org/officeDocument/2006/relationships" id="264" r:id="R3773ae51ec1f4e1c"/>
    <p:sldId xmlns:r="http://schemas.openxmlformats.org/officeDocument/2006/relationships" id="265" r:id="R0cfa800338b444e0"/>
    <p:sldId xmlns:r="http://schemas.openxmlformats.org/officeDocument/2006/relationships" id="266" r:id="R014c0b7934ba487d"/>
    <p:sldId xmlns:r="http://schemas.openxmlformats.org/officeDocument/2006/relationships" id="267" r:id="R77ce0b0d247a4713"/>
    <p:sldId xmlns:r="http://schemas.openxmlformats.org/officeDocument/2006/relationships" id="268" r:id="Rcebe3ee2f2d64eba"/>
    <p:sldId xmlns:r="http://schemas.openxmlformats.org/officeDocument/2006/relationships" id="269" r:id="Rf998922fd5544a50"/>
    <p:sldId xmlns:r="http://schemas.openxmlformats.org/officeDocument/2006/relationships" id="270" r:id="Rd8074c95e9184a4b"/>
    <p:sldId xmlns:r="http://schemas.openxmlformats.org/officeDocument/2006/relationships" id="271" r:id="R5b8849e319ab491c"/>
    <p:sldId xmlns:r="http://schemas.openxmlformats.org/officeDocument/2006/relationships" id="272" r:id="Rdc329331c0874ed8"/>
    <p:sldId xmlns:r="http://schemas.openxmlformats.org/officeDocument/2006/relationships" id="273" r:id="R4801ce3d93bb4dce"/>
    <p:sldId xmlns:r="http://schemas.openxmlformats.org/officeDocument/2006/relationships" id="274" r:id="Ra657877db8b047d9"/>
    <p:sldId xmlns:r="http://schemas.openxmlformats.org/officeDocument/2006/relationships" id="275" r:id="R8904223d6ff14558"/>
    <p:sldId xmlns:r="http://schemas.openxmlformats.org/officeDocument/2006/relationships" id="276" r:id="R629256df84584579"/>
    <p:sldId xmlns:r="http://schemas.openxmlformats.org/officeDocument/2006/relationships" id="277" r:id="Rc0004ea06dbc4605"/>
    <p:sldId xmlns:r="http://schemas.openxmlformats.org/officeDocument/2006/relationships" id="278" r:id="Rb01a5c8907f644ba"/>
    <p:sldId xmlns:r="http://schemas.openxmlformats.org/officeDocument/2006/relationships" id="279" r:id="Rc6650ed3aba74b6d"/>
    <p:sldId xmlns:r="http://schemas.openxmlformats.org/officeDocument/2006/relationships" id="280" r:id="R0d5acec87b6d4516"/>
    <p:sldId xmlns:r="http://schemas.openxmlformats.org/officeDocument/2006/relationships" id="281" r:id="R0d6c3356a5bd405c"/>
    <p:sldId xmlns:r="http://schemas.openxmlformats.org/officeDocument/2006/relationships" id="282" r:id="Ref75d4178dbd4a5a"/>
    <p:sldId xmlns:r="http://schemas.openxmlformats.org/officeDocument/2006/relationships" id="283" r:id="R4163c51c6afb49f0"/>
    <p:sldId xmlns:r="http://schemas.openxmlformats.org/officeDocument/2006/relationships" id="284" r:id="R0bb1985de9324700"/>
    <p:sldId xmlns:r="http://schemas.openxmlformats.org/officeDocument/2006/relationships" id="285" r:id="Rf18b9c1606784327"/>
    <p:sldId xmlns:r="http://schemas.openxmlformats.org/officeDocument/2006/relationships" id="286" r:id="R8406e78f3b6640e7"/>
    <p:sldId xmlns:r="http://schemas.openxmlformats.org/officeDocument/2006/relationships" id="287" r:id="R91237648bac3475d"/>
    <p:sldId xmlns:r="http://schemas.openxmlformats.org/officeDocument/2006/relationships" id="288" r:id="R3ac110aa3bc0474e"/>
    <p:sldId xmlns:r="http://schemas.openxmlformats.org/officeDocument/2006/relationships" id="289" r:id="R1987ec6021da45e6"/>
    <p:sldId xmlns:r="http://schemas.openxmlformats.org/officeDocument/2006/relationships" id="290" r:id="R4c8099fca95640ef"/>
    <p:sldId xmlns:r="http://schemas.openxmlformats.org/officeDocument/2006/relationships" id="291" r:id="R90c48b09c64a42a8"/>
    <p:sldId xmlns:r="http://schemas.openxmlformats.org/officeDocument/2006/relationships" id="292" r:id="R023cbcbcf98d4063"/>
    <p:sldId xmlns:r="http://schemas.openxmlformats.org/officeDocument/2006/relationships" id="293" r:id="R5b437f4101ba4425"/>
    <p:sldId xmlns:r="http://schemas.openxmlformats.org/officeDocument/2006/relationships" id="294" r:id="R1a72a511280945b7"/>
    <p:sldId xmlns:r="http://schemas.openxmlformats.org/officeDocument/2006/relationships" id="295" r:id="R46596c19815946a8"/>
    <p:sldId xmlns:r="http://schemas.openxmlformats.org/officeDocument/2006/relationships" id="296" r:id="R4c8b7c0413314d8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b43e0fbf0934613" /><Relationship Type="http://schemas.openxmlformats.org/officeDocument/2006/relationships/slideMaster" Target="/ppt/slideMasters/slideMaster1.xml" Id="R1116bf0ea2d04c82" /><Relationship Type="http://schemas.openxmlformats.org/officeDocument/2006/relationships/notesMaster" Target="/ppt/notesMasters/notesMaster1.xml" Id="R4ea7817dd4a241bb" /><Relationship Type="http://schemas.openxmlformats.org/officeDocument/2006/relationships/presProps" Target="/ppt/presProps.xml" Id="R6c0ee8ce383a4d80" /><Relationship Type="http://schemas.openxmlformats.org/officeDocument/2006/relationships/tableStyles" Target="/ppt/tableStyles.xml" Id="Rbede66f5d7784368" /><Relationship Type="http://schemas.openxmlformats.org/officeDocument/2006/relationships/slide" Target="/ppt/slides/slide1.xml" Id="R732a6b83a225450d" /><Relationship Type="http://schemas.openxmlformats.org/officeDocument/2006/relationships/slide" Target="/ppt/slides/slide2.xml" Id="R7f59a865c3844378" /><Relationship Type="http://schemas.openxmlformats.org/officeDocument/2006/relationships/slide" Target="/ppt/slides/slide3.xml" Id="R023b89a736ab4a6e" /><Relationship Type="http://schemas.openxmlformats.org/officeDocument/2006/relationships/slide" Target="/ppt/slides/slide4.xml" Id="R60975351e7074dc6" /><Relationship Type="http://schemas.openxmlformats.org/officeDocument/2006/relationships/slide" Target="/ppt/slides/slide5.xml" Id="R158124cce70b45d4" /><Relationship Type="http://schemas.openxmlformats.org/officeDocument/2006/relationships/slide" Target="/ppt/slides/slide6.xml" Id="R6f0e334d2a5c4ba9" /><Relationship Type="http://schemas.openxmlformats.org/officeDocument/2006/relationships/slide" Target="/ppt/slides/slide7.xml" Id="Rc114fcdf05d24b66" /><Relationship Type="http://schemas.openxmlformats.org/officeDocument/2006/relationships/slide" Target="/ppt/slides/slide8.xml" Id="R065002d9868a4e51" /><Relationship Type="http://schemas.openxmlformats.org/officeDocument/2006/relationships/slide" Target="/ppt/slides/slide9.xml" Id="R3773ae51ec1f4e1c" /><Relationship Type="http://schemas.openxmlformats.org/officeDocument/2006/relationships/slide" Target="/ppt/slides/slide10.xml" Id="R0cfa800338b444e0" /><Relationship Type="http://schemas.openxmlformats.org/officeDocument/2006/relationships/slide" Target="/ppt/slides/slide11.xml" Id="R014c0b7934ba487d" /><Relationship Type="http://schemas.openxmlformats.org/officeDocument/2006/relationships/slide" Target="/ppt/slides/slide12.xml" Id="R77ce0b0d247a4713" /><Relationship Type="http://schemas.openxmlformats.org/officeDocument/2006/relationships/slide" Target="/ppt/slides/slide13.xml" Id="Rcebe3ee2f2d64eba" /><Relationship Type="http://schemas.openxmlformats.org/officeDocument/2006/relationships/slide" Target="/ppt/slides/slide14.xml" Id="Rf998922fd5544a50" /><Relationship Type="http://schemas.openxmlformats.org/officeDocument/2006/relationships/slide" Target="/ppt/slides/slide15.xml" Id="Rd8074c95e9184a4b" /><Relationship Type="http://schemas.openxmlformats.org/officeDocument/2006/relationships/slide" Target="/ppt/slides/slide16.xml" Id="R5b8849e319ab491c" /><Relationship Type="http://schemas.openxmlformats.org/officeDocument/2006/relationships/slide" Target="/ppt/slides/slide17.xml" Id="Rdc329331c0874ed8" /><Relationship Type="http://schemas.openxmlformats.org/officeDocument/2006/relationships/slide" Target="/ppt/slides/slide18.xml" Id="R4801ce3d93bb4dce" /><Relationship Type="http://schemas.openxmlformats.org/officeDocument/2006/relationships/slide" Target="/ppt/slides/slide19.xml" Id="Ra657877db8b047d9" /><Relationship Type="http://schemas.openxmlformats.org/officeDocument/2006/relationships/slide" Target="/ppt/slides/slide20.xml" Id="R8904223d6ff14558" /><Relationship Type="http://schemas.openxmlformats.org/officeDocument/2006/relationships/slide" Target="/ppt/slides/slide21.xml" Id="R629256df84584579" /><Relationship Type="http://schemas.openxmlformats.org/officeDocument/2006/relationships/slide" Target="/ppt/slides/slide22.xml" Id="Rc0004ea06dbc4605" /><Relationship Type="http://schemas.openxmlformats.org/officeDocument/2006/relationships/slide" Target="/ppt/slides/slide23.xml" Id="Rb01a5c8907f644ba" /><Relationship Type="http://schemas.openxmlformats.org/officeDocument/2006/relationships/slide" Target="/ppt/slides/slide24.xml" Id="Rc6650ed3aba74b6d" /><Relationship Type="http://schemas.openxmlformats.org/officeDocument/2006/relationships/slide" Target="/ppt/slides/slide25.xml" Id="R0d5acec87b6d4516" /><Relationship Type="http://schemas.openxmlformats.org/officeDocument/2006/relationships/slide" Target="/ppt/slides/slide26.xml" Id="R0d6c3356a5bd405c" /><Relationship Type="http://schemas.openxmlformats.org/officeDocument/2006/relationships/slide" Target="/ppt/slides/slide27.xml" Id="Ref75d4178dbd4a5a" /><Relationship Type="http://schemas.openxmlformats.org/officeDocument/2006/relationships/slide" Target="/ppt/slides/slide28.xml" Id="R4163c51c6afb49f0" /><Relationship Type="http://schemas.openxmlformats.org/officeDocument/2006/relationships/slide" Target="/ppt/slides/slide29.xml" Id="R0bb1985de9324700" /><Relationship Type="http://schemas.openxmlformats.org/officeDocument/2006/relationships/slide" Target="/ppt/slides/slide30.xml" Id="Rf18b9c1606784327" /><Relationship Type="http://schemas.openxmlformats.org/officeDocument/2006/relationships/slide" Target="/ppt/slides/slide31.xml" Id="R8406e78f3b6640e7" /><Relationship Type="http://schemas.openxmlformats.org/officeDocument/2006/relationships/slide" Target="/ppt/slides/slide32.xml" Id="R91237648bac3475d" /><Relationship Type="http://schemas.openxmlformats.org/officeDocument/2006/relationships/slide" Target="/ppt/slides/slide33.xml" Id="R3ac110aa3bc0474e" /><Relationship Type="http://schemas.openxmlformats.org/officeDocument/2006/relationships/slide" Target="/ppt/slides/slide34.xml" Id="R1987ec6021da45e6" /><Relationship Type="http://schemas.openxmlformats.org/officeDocument/2006/relationships/slide" Target="/ppt/slides/slide35.xml" Id="R4c8099fca95640ef" /><Relationship Type="http://schemas.openxmlformats.org/officeDocument/2006/relationships/slide" Target="/ppt/slides/slide36.xml" Id="R90c48b09c64a42a8" /><Relationship Type="http://schemas.openxmlformats.org/officeDocument/2006/relationships/slide" Target="/ppt/slides/slide37.xml" Id="R023cbcbcf98d4063" /><Relationship Type="http://schemas.openxmlformats.org/officeDocument/2006/relationships/slide" Target="/ppt/slides/slide38.xml" Id="R5b437f4101ba4425" /><Relationship Type="http://schemas.openxmlformats.org/officeDocument/2006/relationships/slide" Target="/ppt/slides/slide39.xml" Id="R1a72a511280945b7" /><Relationship Type="http://schemas.openxmlformats.org/officeDocument/2006/relationships/slide" Target="/ppt/slides/slide40.xml" Id="R46596c19815946a8" /><Relationship Type="http://schemas.openxmlformats.org/officeDocument/2006/relationships/slide" Target="/ppt/slides/slide41.xml" Id="R4c8b7c0413314d8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4e59f6b85064d6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7f2fe689d5d48a9" /><Relationship Type="http://schemas.openxmlformats.org/officeDocument/2006/relationships/notesMaster" Target="/ppt/notesMasters/notesMaster1.xml" Id="R04905a70ae804ff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d9804245574309" /><Relationship Type="http://schemas.openxmlformats.org/officeDocument/2006/relationships/notesMaster" Target="/ppt/notesMasters/notesMaster1.xml" Id="Rbf4c62140624487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82d3c9aee5d40f9" /><Relationship Type="http://schemas.openxmlformats.org/officeDocument/2006/relationships/notesMaster" Target="/ppt/notesMasters/notesMaster1.xml" Id="Rd05db435c84a43e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305c3c56f5c4eed" /><Relationship Type="http://schemas.openxmlformats.org/officeDocument/2006/relationships/notesMaster" Target="/ppt/notesMasters/notesMaster1.xml" Id="R8cd679b7063e468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ca178ada0ab40c6" /><Relationship Type="http://schemas.openxmlformats.org/officeDocument/2006/relationships/notesMaster" Target="/ppt/notesMasters/notesMaster1.xml" Id="R92ac4fd6503549f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63cc0ff0ba54215" /><Relationship Type="http://schemas.openxmlformats.org/officeDocument/2006/relationships/notesMaster" Target="/ppt/notesMasters/notesMaster1.xml" Id="R127f104c01d1493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29b27c5f732418d" /><Relationship Type="http://schemas.openxmlformats.org/officeDocument/2006/relationships/notesMaster" Target="/ppt/notesMasters/notesMaster1.xml" Id="R2485b964d09a408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b0298ac69fb48c2" /><Relationship Type="http://schemas.openxmlformats.org/officeDocument/2006/relationships/notesMaster" Target="/ppt/notesMasters/notesMaster1.xml" Id="Re85c98ce1d4a492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07071956d3d46bb" /><Relationship Type="http://schemas.openxmlformats.org/officeDocument/2006/relationships/notesMaster" Target="/ppt/notesMasters/notesMaster1.xml" Id="R60dc77c7424f4f5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8d76402b95c4e15" /><Relationship Type="http://schemas.openxmlformats.org/officeDocument/2006/relationships/notesMaster" Target="/ppt/notesMasters/notesMaster1.xml" Id="R428f1d1e001c4c7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fb6e8b7cd0f4f6b" /><Relationship Type="http://schemas.openxmlformats.org/officeDocument/2006/relationships/notesMaster" Target="/ppt/notesMasters/notesMaster1.xml" Id="R0b5b547a188b403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6309141bd9448b6" /><Relationship Type="http://schemas.openxmlformats.org/officeDocument/2006/relationships/notesMaster" Target="/ppt/notesMasters/notesMaster1.xml" Id="Ra66ce295eb3d4bc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d364e5d55564426" /><Relationship Type="http://schemas.openxmlformats.org/officeDocument/2006/relationships/notesMaster" Target="/ppt/notesMasters/notesMaster1.xml" Id="Recb460e7928646c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377ccb23b144073" /><Relationship Type="http://schemas.openxmlformats.org/officeDocument/2006/relationships/notesMaster" Target="/ppt/notesMasters/notesMaster1.xml" Id="R0f196577191e474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67b54254ae94bb1" /><Relationship Type="http://schemas.openxmlformats.org/officeDocument/2006/relationships/notesMaster" Target="/ppt/notesMasters/notesMaster1.xml" Id="R7e6450b50c50417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e6f87195cc84209" /><Relationship Type="http://schemas.openxmlformats.org/officeDocument/2006/relationships/notesMaster" Target="/ppt/notesMasters/notesMaster1.xml" Id="R3383919a617e4c5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08d1add2fb546d0" /><Relationship Type="http://schemas.openxmlformats.org/officeDocument/2006/relationships/notesMaster" Target="/ppt/notesMasters/notesMaster1.xml" Id="Rcbc31b57eb36481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edb4f35392e410e" /><Relationship Type="http://schemas.openxmlformats.org/officeDocument/2006/relationships/notesMaster" Target="/ppt/notesMasters/notesMaster1.xml" Id="Reeb0f6cf1c974dd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089cfdf9d934a88" /><Relationship Type="http://schemas.openxmlformats.org/officeDocument/2006/relationships/notesMaster" Target="/ppt/notesMasters/notesMaster1.xml" Id="Re65dfc213417480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d559f1d633a4468" /><Relationship Type="http://schemas.openxmlformats.org/officeDocument/2006/relationships/notesMaster" Target="/ppt/notesMasters/notesMaster1.xml" Id="Rac8649529df7497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a4bcc8ec74e4ee9" /><Relationship Type="http://schemas.openxmlformats.org/officeDocument/2006/relationships/notesMaster" Target="/ppt/notesMasters/notesMaster1.xml" Id="Rec0ce1f946e24b7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b64ec132c7545f4" /><Relationship Type="http://schemas.openxmlformats.org/officeDocument/2006/relationships/notesMaster" Target="/ppt/notesMasters/notesMaster1.xml" Id="R1de28a514fc4479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00ae4735bae4bf4" /><Relationship Type="http://schemas.openxmlformats.org/officeDocument/2006/relationships/notesMaster" Target="/ppt/notesMasters/notesMaster1.xml" Id="R96cf6f5f3cd745d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49335d32f65479b" /><Relationship Type="http://schemas.openxmlformats.org/officeDocument/2006/relationships/notesMaster" Target="/ppt/notesMasters/notesMaster1.xml" Id="Ra76b05486625481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591754a0a634248" /><Relationship Type="http://schemas.openxmlformats.org/officeDocument/2006/relationships/notesMaster" Target="/ppt/notesMasters/notesMaster1.xml" Id="Ra940d37819b143c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1abe40a5eda48ff" /><Relationship Type="http://schemas.openxmlformats.org/officeDocument/2006/relationships/notesMaster" Target="/ppt/notesMasters/notesMaster1.xml" Id="R309cad1d7cb14a0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5a869b4395d405c" /><Relationship Type="http://schemas.openxmlformats.org/officeDocument/2006/relationships/notesMaster" Target="/ppt/notesMasters/notesMaster1.xml" Id="R6aeda33cbaf74fc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fdd08f623794098" /><Relationship Type="http://schemas.openxmlformats.org/officeDocument/2006/relationships/notesMaster" Target="/ppt/notesMasters/notesMaster1.xml" Id="R29a74d3c615e4508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557f8eacc8224149" /><Relationship Type="http://schemas.openxmlformats.org/officeDocument/2006/relationships/notesMaster" Target="/ppt/notesMasters/notesMaster1.xml" Id="R8aa61685a846416b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a040803fcdf1488e" /><Relationship Type="http://schemas.openxmlformats.org/officeDocument/2006/relationships/notesMaster" Target="/ppt/notesMasters/notesMaster1.xml" Id="R8ac1ceb999f241cb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6852fa8565314988" /><Relationship Type="http://schemas.openxmlformats.org/officeDocument/2006/relationships/notesMaster" Target="/ppt/notesMasters/notesMaster1.xml" Id="Radcfa5bd68af470e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0b4197b4cf4b462a" /><Relationship Type="http://schemas.openxmlformats.org/officeDocument/2006/relationships/notesMaster" Target="/ppt/notesMasters/notesMaster1.xml" Id="Ra3135707e4a9425d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7c9e29157620496f" /><Relationship Type="http://schemas.openxmlformats.org/officeDocument/2006/relationships/notesMaster" Target="/ppt/notesMasters/notesMaster1.xml" Id="Rc77cc9dfa6934895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fdcfb1b6aa874d39" /><Relationship Type="http://schemas.openxmlformats.org/officeDocument/2006/relationships/notesMaster" Target="/ppt/notesMasters/notesMaster1.xml" Id="R7c15b11a768f4947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9490fbbb6d9b4792" /><Relationship Type="http://schemas.openxmlformats.org/officeDocument/2006/relationships/notesMaster" Target="/ppt/notesMasters/notesMaster1.xml" Id="R31eddcb3b8254390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ee40b42d1a9e4d2f" /><Relationship Type="http://schemas.openxmlformats.org/officeDocument/2006/relationships/notesMaster" Target="/ppt/notesMasters/notesMaster1.xml" Id="R87e60bfc3eda47b3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ff118633dbeb4ad4" /><Relationship Type="http://schemas.openxmlformats.org/officeDocument/2006/relationships/notesMaster" Target="/ppt/notesMasters/notesMaster1.xml" Id="R910522a989674f72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bd998b3271d8441b" /><Relationship Type="http://schemas.openxmlformats.org/officeDocument/2006/relationships/notesMaster" Target="/ppt/notesMasters/notesMaster1.xml" Id="Rea699868d8d84833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71a3cbe064c742cb" /><Relationship Type="http://schemas.openxmlformats.org/officeDocument/2006/relationships/notesMaster" Target="/ppt/notesMasters/notesMaster1.xml" Id="R3b551bc5bb1d4d35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9a7c431335d840c9" /><Relationship Type="http://schemas.openxmlformats.org/officeDocument/2006/relationships/notesMaster" Target="/ppt/notesMasters/notesMaster1.xml" Id="R901e2892c1e54b51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000701b9c1d14780" /><Relationship Type="http://schemas.openxmlformats.org/officeDocument/2006/relationships/notesMaster" Target="/ppt/notesMasters/notesMaster1.xml" Id="R6d4bb2e22c6a48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3부입니다. 이미지와 영상을 다룹니다.</a:t>
            </a:r>
          </a:p>
          <a:p xmlns:a="http://schemas.openxmlformats.org/drawingml/2006/main">
            <a:r>
              <a:t>시작하기 전에 오늘 3부의 결론부터 말씀드리겠습니다 — 이미지 한 장은 누구나 만듭니다. 어려운 건 여덟 장을 같은 화풍으로 만드는 것입니다.</a:t>
            </a:r>
          </a:p>
          <a:p xmlns:a="http://schemas.openxmlformats.org/drawingml/2006/main">
            <a:r>
              <a:t>카드뉴스 세 장을 만들었는데 그림체가 다 다르면 못 씁니다. 홍보 영상 여덟 컷의 주인공 얼굴이 매 컷 달라지면 못 씁니다.</a:t>
            </a:r>
          </a:p>
          <a:p xmlns:a="http://schemas.openxmlformats.org/drawingml/2006/main">
            <a:r>
              <a:t>오늘 배울 것은 예쁜 그림 만드는 법이 아니라 '일관성을 만드는 규칙'입니다.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기본기부터 갑니다. 프롬프트 쓰는 법입니다.</a:t>
            </a:r>
          </a:p>
          <a:p xmlns:a="http://schemas.openxmlformats.org/drawingml/2006/main">
            <a:r>
              <a:t>많은 분이 "예쁘게 그려 줘"라고 씁니다. 그러면 매번 다른 게 나옵니다. 복불복입니다.</a:t>
            </a:r>
          </a:p>
          <a:p xmlns:a="http://schemas.openxmlformats.org/drawingml/2006/main">
            <a:r>
              <a:t>오늘 배울 다섯 단계를 쓰면 의도한 그림이 나오고, 고쳐 달라는 지시도 통합니다.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먼저 모델 지형도를 정리하겠습니다. '나노바나나'는 하나의 모델 이름이 아니라 네 개 모델의 통칭입니다.</a:t>
            </a:r>
          </a:p>
          <a:p xmlns:a="http://schemas.openxmlformats.org/drawingml/2006/main">
            <a:r>
              <a:t>표에서 두 번째 줄을 보십시오. 캐릭터 참조 — 인물 일관성을 유지하는 슬롯입니다. Lite에는 아예 없고, 기본은 4명, Pro는 5명까지입니다.</a:t>
            </a:r>
          </a:p>
          <a:p xmlns:a="http://schemas.openxmlformats.org/drawingml/2006/main">
            <a:r>
              <a:t>세 번째 줄이 오늘 자주 만나실 함정입니다. 스타일 레퍼런스 슬롯이 기본 모델에는 없습니다. "이 그림체로 그려 줘" 하고 참조 이미지를 넣었는데 무시당하는 이유가 이겁니다.</a:t>
            </a:r>
          </a:p>
          <a:p xmlns:a="http://schemas.openxmlformats.org/drawingml/2006/main">
            <a:r>
              <a:t>→ 해결책은 둘입니다. Pro로 바꾸거나, 이미지 대신 텍스트 스타일 블록으로 화풍을 서술하는 것. 오늘은 후자를 씁니다. 무료로도 되니까요.</a:t>
            </a:r>
          </a:p>
          <a:p xmlns:a="http://schemas.openxmlformats.org/drawingml/2006/main">
            <a:r>
              <a:t>※ 첫 줄이 재미있습니다. 사물은 많이 넣을 수 있는데 인물은 적습니다. 사람 얼굴을 유지하는 게 그만큼 어렵다는 뜻입니다.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[참고]</a:t>
            </a:r>
          </a:p>
          <a:p xmlns:a="http://schemas.openxmlformats.org/drawingml/2006/main">
            <a:r>
              <a:t>- https://cloud.google.com/blog/products/ai-machine-learning/ultimate-prompting-guide-for-nano-banana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여기서 오해 하나를 풀고 가겠습니다. "AI 이미지는 영어로 써야 잘 나온다"는 말, 많이 들어 보셨을 겁니다.</a:t>
            </a:r>
          </a:p>
          <a:p xmlns:a="http://schemas.openxmlformats.org/drawingml/2006/main">
            <a:r>
              <a:t>예전에는 맞는 말이었습니다. 구 모델의 공식 최적 언어 목록에 한국어가 없었습니다.</a:t>
            </a:r>
          </a:p>
          <a:p xmlns:a="http://schemas.openxmlformats.org/drawingml/2006/main">
            <a:r>
              <a:t>그런데 나노바나나 Pro부터 한국어가 공식 최적 언어 목록에 들어갔습니다. 지금은 한국어로 그냥 쓰시면 됩니다.</a:t>
            </a:r>
          </a:p>
          <a:p xmlns:a="http://schemas.openxmlformats.org/drawingml/2006/main">
            <a:r>
              <a:t>이게 왜 중요하냐면 — 영어로 쓰려고 번역기를 거치는 순간 뉘앙스가 뭉개집니다. "따뜻한 느낌으로"를 영어로 옮기면 다른 뜻이 됩니다.</a:t>
            </a:r>
          </a:p>
          <a:p xmlns:a="http://schemas.openxmlformats.org/drawingml/2006/main">
            <a:r>
              <a:t>오늘 나오는 모든 예시 프롬프트는 한국어입니다. 그대로 복사해 쓰시면 됩니다.</a:t>
            </a:r>
          </a:p>
          <a:p xmlns:a="http://schemas.openxmlformats.org/drawingml/2006/main">
            <a:r>
              <a:t>※ 예외 하나 — 음악 생성 도구의 스타일 태그는 영어로 씁니다. 문장이 아니라 태그 목록이기 때문입니다.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다섯 단계입니다. 하나만 기억하신다면 ①번입니다.</a:t>
            </a:r>
          </a:p>
          <a:p xmlns:a="http://schemas.openxmlformats.org/drawingml/2006/main">
            <a:r>
              <a:t>「이 그림을 어디에 쓸 건지」를 먼저 쓰십시오. "카드뉴스 첫 장으로 쓸 거야", "발표 슬라이드에 넣을 거야" — 이 한마디가 모델의 구도·여백·완성도 기준을 통째로 바꿉니다.</a:t>
            </a:r>
          </a:p>
          <a:p xmlns:a="http://schemas.openxmlformats.org/drawingml/2006/main">
            <a:r>
              <a:t>용도를 안 쓰면 AI는 '그냥 예쁜 그림'을 만듭니다. 카드뉴스로 쓰려는데 인물이 화면 정중앙을 꽉 채우고 있으면 글자 넣을 자리가 없습니다.</a:t>
            </a:r>
          </a:p>
          <a:p xmlns:a="http://schemas.openxmlformats.org/drawingml/2006/main">
            <a:r>
              <a:t>④번도 자주 빠뜨립니다. "오른쪽 상단은 글자 공간으로 비워 둘 것" 같은 지시를 넣으면 그대로 쓸 수 있는 그림이 나옵니다.</a:t>
            </a:r>
          </a:p>
          <a:p xmlns:a="http://schemas.openxmlformats.org/drawingml/2006/main">
            <a:r>
              <a:t>⑤번 제약은 긍정형으로 쓰는 게 요령입니다. 뒤에서 설명드립니다.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같은 텀블러를 그리는데 결과가 다릅니다.</a:t>
            </a:r>
          </a:p>
          <a:p xmlns:a="http://schemas.openxmlformats.org/drawingml/2006/main">
            <a:r>
              <a:t>왼쪽처럼 쓰면 매번 다른 게 나오고, 마음에 안 들어도 어디를 고쳐 달라고 해야 할지 모릅니다. 그래서 "다시"만 반복하게 됩니다.</a:t>
            </a:r>
          </a:p>
          <a:p xmlns:a="http://schemas.openxmlformats.org/drawingml/2006/main">
            <a:r>
              <a:t>오른쪽은 용도·주제·조명·디테일이 다 들어 있습니다. 결과가 의도에 가깝고, 무엇보다 "조명을 오른쪽에서"처럼 수정 지시를 콕 집어 할 수 있습니다.</a:t>
            </a:r>
          </a:p>
          <a:p xmlns:a="http://schemas.openxmlformats.org/drawingml/2006/main">
            <a:r>
              <a:t>※ 이 차이를 한 문장으로 — 프롬프트를 자세히 쓰는 이유는 좋은 결과 때문이기도 하지만, **고칠 수 있게 만들기 위해서**입니다.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구글이 공식 문서로 밝힌 네 가지 원칙입니다.</a:t>
            </a:r>
          </a:p>
          <a:p xmlns:a="http://schemas.openxmlformats.org/drawingml/2006/main">
            <a:r>
              <a:t>두 번째가 실무에서 제일 자주 틀리는 부분입니다. "사람 없이"라고 쓰면 오히려 사람이 나옵니다. 모델은 '없음'을 잘 처리하지 못합니다. "텅 빈 거리"라고 원하는 상태를 쓰십시오.</a:t>
            </a:r>
          </a:p>
          <a:p xmlns:a="http://schemas.openxmlformats.org/drawingml/2006/main">
            <a:r>
              <a:t>세 번째 — 카메라 용어를 쓰라는 건 영어를 쓰라는 게 아닙니다. "낮은 각도에서 올려다보는", "멀리서 전체가 보이게"처럼 한국어로 쓰셔도 됩니다.</a:t>
            </a:r>
          </a:p>
          <a:p xmlns:a="http://schemas.openxmlformats.org/drawingml/2006/main">
            <a:r>
              <a:t>다섯 번째가 결과 품질을 크게 올립니다. "옷"이 아니라 "네이비 트위드", "갑옷"이 아니라 "은잎 무늬가 새겨진 판금 갑옷". 재질 이름 하나로 그림이 달라집니다.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[참고]</a:t>
            </a:r>
          </a:p>
          <a:p xmlns:a="http://schemas.openxmlformats.org/drawingml/2006/main">
            <a:r>
              <a:t>- https://cloud.google.com/blog/products/ai-machine-learning/ultimate-prompting-guide-for-nano-banana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앞의 5단계와 함께 기억하실 다섯 요소입니다. 스타일·주체·배경·행동·구도.</a:t>
            </a:r>
          </a:p>
          <a:p xmlns:a="http://schemas.openxmlformats.org/drawingml/2006/main">
            <a:r>
              <a:t>가장 자주 빠뜨리는 것이 '구도'입니다. 이걸 넣으면 카드뉴스로 바로 쓸 수 있는 그림이 나옵니다.</a:t>
            </a:r>
          </a:p>
          <a:p xmlns:a="http://schemas.openxmlformats.org/drawingml/2006/main">
            <a:r>
              <a:t>그리고 한글 글자를 넣을 때 요령 두 가지 — 넣을 문구를 완성된 한국어로 따옴표 안에 그대로 쓰는 것, 그리고 "3단계 인포그래픽으로"처럼 정보 구조를 지정하는 것입니다.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[참고]</a:t>
            </a:r>
          </a:p>
          <a:p xmlns:a="http://schemas.openxmlformats.org/drawingml/2006/main">
            <a:r>
              <a:t>- assets/infographics/09_이미지프롬프트_5요소_Claude.png</a:t>
            </a:r>
          </a:p>
          <a:p xmlns:a="http://schemas.openxmlformats.org/drawingml/2006/main">
            <a:r>
              <a:t>- https://support.google.com/gemini/answer/14286560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그대로 복사해서 쓰시면 됩니다. 대괄호 안만 각자 사업으로 바꾸십시오.</a:t>
            </a:r>
          </a:p>
          <a:p xmlns:a="http://schemas.openxmlformats.org/drawingml/2006/main">
            <a:r>
              <a:t>[텍스트] 부분을 주목해 주십시오. "수수춘천이라고 써 줘"가 아니라 따옴표 안에 완성된 문구를 그대로 넣었습니다. 이렇게 해야 글자가 덜 깨집니다.</a:t>
            </a:r>
          </a:p>
          <a:p xmlns:a="http://schemas.openxmlformats.org/drawingml/2006/main">
            <a:r>
              <a:t>그래도 한글은 자주 깨집니다. 그때는 두 가지 방법이 있습니다.</a:t>
            </a:r>
          </a:p>
          <a:p xmlns:a="http://schemas.openxmlformats.org/drawingml/2006/main">
            <a:r>
              <a:t>① 생성 후 '더보기 → Redo with Pro'로 다시 만들기</a:t>
            </a:r>
          </a:p>
          <a:p xmlns:a="http://schemas.openxmlformats.org/drawingml/2006/main">
            <a:r>
              <a:t>② 글자 없이 그림만 만들고 글자는 파워포인트나 캔바에서 얹기</a:t>
            </a:r>
          </a:p>
          <a:p xmlns:a="http://schemas.openxmlformats.org/drawingml/2006/main">
            <a:r>
              <a:t>실무에서는 ②번이 훨씬 빠르고 확실합니다. 저도 대외 배포물은 대부분 ②로 만듭니다.</a:t>
            </a:r>
          </a:p>
          <a:p xmlns:a="http://schemas.openxmlformats.org/drawingml/2006/main">
            <a:r>
              <a:t>[▶ 웹가이드] 「이미지·영상」 섹션의 '16:9 인포그래픽 프롬프트' 카드로 전환 — [프롬프트 복사] 버튼을 눌러 제미나이에 붙여 넣고 실제 생성까지 시연합니다. 생성되는 동안 다음 슬라이드로 넘어가면 시간이 비지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[참고]</a:t>
            </a:r>
          </a:p>
          <a:p xmlns:a="http://schemas.openxmlformats.org/drawingml/2006/main">
            <a:r>
              <a:t>- https://support.google.com/gemini/answer/14286560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여기부터가 3부의 본론입니다.</a:t>
            </a:r>
          </a:p>
          <a:p xmlns:a="http://schemas.openxmlformats.org/drawingml/2006/main">
            <a:r>
              <a:t>한 장 만드는 건 쉽습니다. 문제는 두 번째, 세 번째 장입니다. 그림체가 달라지고 인물 얼굴이 달라집니다.</a:t>
            </a:r>
          </a:p>
          <a:p xmlns:a="http://schemas.openxmlformats.org/drawingml/2006/main">
            <a:r>
              <a:t>해결책은 딱 한 문장으로 정리됩니다 — 그림체와 인물 서술은 한 글자도 안 바꾸고 복사하고, 배경·행동·구도만 갈아끼운다.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구글 공식 가이드가 프롬프트를 다섯 축으로 나눕니다. 그림체·인물·배경·행동·구도.</a:t>
            </a:r>
          </a:p>
          <a:p xmlns:a="http://schemas.openxmlformats.org/drawingml/2006/main">
            <a:r>
              <a:t>일관성 작업에서는 앞의 두 개를 고정하고 뒤의 세 개만 바꿉니다. 이게 전부입니다.</a:t>
            </a:r>
          </a:p>
          <a:p xmlns:a="http://schemas.openxmlformats.org/drawingml/2006/main">
            <a:r>
              <a:t>여기서 헷갈리기 쉬운 게 있습니다. Subject는 '주제'가 아니라 '누가·무엇이 나오는가', 즉 인물·피사체입니다.</a:t>
            </a:r>
          </a:p>
          <a:p xmlns:a="http://schemas.openxmlformats.org/drawingml/2006/main">
            <a:r>
              <a:t>주인공은 여덟 컷 내내 같은 사람이므로 생김새·옷 서술을 한 글자도 바꾸지 않고 복사합니다. 컷마다 달라지는 건 그 인물이 어디서, 무엇을 하며, 어떻게 잡히는가입니다.</a:t>
            </a:r>
          </a:p>
          <a:p xmlns:a="http://schemas.openxmlformats.org/drawingml/2006/main">
            <a:r>
              <a:t>※ 실무 요령 — 고정 블록을 메모장에 저장해 두고 매 컷 복사하십시오. 기억에 의존하면 반드시 달라집니다.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이게 오늘 만들 가장 중요한 파일입니다. 파일이라고 해 봐야 메모장 한 장입니다.</a:t>
            </a:r>
          </a:p>
          <a:p xmlns:a="http://schemas.openxmlformats.org/drawingml/2006/main">
            <a:r>
              <a:t>네 줄로 되어 있습니다 — 그림체, 색과 빛, 질감, 화면.</a:t>
            </a:r>
          </a:p>
          <a:p xmlns:a="http://schemas.openxmlformats.org/drawingml/2006/main">
            <a:r>
              <a:t>'색·빛' 줄에서 "빛은 화면 왼쪽 위에서"라는 구절을 주목해 주십시오. 조명 방향 한 줄이 컷 사이 색 튐을 크게 줄입니다. 이걸 안 쓰면 어떤 컷은 밝고 어떤 컷은 어둡습니다.</a:t>
            </a:r>
          </a:p>
          <a:p xmlns:a="http://schemas.openxmlformats.org/drawingml/2006/main">
            <a:r>
              <a:t>'최대 6색'도 실전 요령입니다. 색 수를 제한하면 여러 장이 훨씬 잘 어울립니다.</a:t>
            </a:r>
          </a:p>
          <a:p xmlns:a="http://schemas.openxmlformats.org/drawingml/2006/main">
            <a:r>
              <a:t>※ 실습 순서 — 스타일 블록을 먼저 정하고, 그다음 첫 장을 만드십시오. 반대로 하면 세 장이 다 다른 그림이 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캐릭터 일관성 다섯 원칙입니다. 순서대로 지키면 됩니다.</a:t>
            </a:r>
          </a:p>
          <a:p xmlns:a="http://schemas.openxmlformats.org/drawingml/2006/main">
            <a:r>
              <a:t>①번이 의외로 결정적입니다. "그 아이", "주인공"이라고 쓰면 매번 다른 사람이 나옵니다. 고유한 이름을 붙이는 순간 모델이 그 이름과 외형을 연결합니다.</a:t>
            </a:r>
          </a:p>
          <a:p xmlns:a="http://schemas.openxmlformats.org/drawingml/2006/main">
            <a:r>
              <a:t>④번을 설명드리겠습니다. 지금 만드는 한 장면을 고치는 동안은 같은 대화에서 "여기서 이것만 바꿔 줘"로 이어 갑니다. 그런데 다음 장면으로 넘어갈 때는 캐릭터 시트를 다시 첨부하고 시작하십시오.</a:t>
            </a:r>
          </a:p>
          <a:p xmlns:a="http://schemas.openxmlformats.org/drawingml/2006/main">
            <a:r>
              <a:t>왜냐하면 일관성은 대화가 기억해 주는 게 아니라 기준 그림이 지키는 것이기 때문입니다. 대화가 길어질수록 얼굴이 조금씩 흘러갑니다. 이걸 드리프트라고 합니다.</a:t>
            </a:r>
          </a:p>
          <a:p xmlns:a="http://schemas.openxmlformats.org/drawingml/2006/main">
            <a:r>
              <a:t>⑤번은 다음 장에서 자세히 다루겠습니다.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[참고]</a:t>
            </a:r>
          </a:p>
          <a:p xmlns:a="http://schemas.openxmlformats.org/drawingml/2006/main">
            <a:r>
              <a:t>- https://cloud.google.com/blog/products/ai-machine-learning/ultimate-prompting-guide-for-nano-banana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 이미지는 아무 그림이나 되는 게 아닙니다. 네 조건을 지켜야 뒤에서 쓸 수 있습니다.</a:t>
            </a:r>
          </a:p>
          <a:p xmlns:a="http://schemas.openxmlformats.org/drawingml/2006/main">
            <a:r>
              <a:t>전신, 정면, 단색 배경, 중립 표정. 이 넷입니다.</a:t>
            </a:r>
          </a:p>
          <a:p xmlns:a="http://schemas.openxmlformats.org/drawingml/2006/main">
            <a:r>
              <a:t>왜 중립 표정이냐면 — 웃는 얼굴을 기준으로 삼으면 슬픈 장면에서도 자꾸 웃습니다. 중립에서 출발해야 감정 변형이 쉽습니다.</a:t>
            </a:r>
          </a:p>
          <a:p xmlns:a="http://schemas.openxmlformats.org/drawingml/2006/main">
            <a:r>
              <a:t>왜 단색 배경이냐면 — 배경이 복잡하면 모델이 인물과 배경을 헷갈립니다. 실루엣이 또렷해야 합니다.</a:t>
            </a:r>
          </a:p>
          <a:p xmlns:a="http://schemas.openxmlformats.org/drawingml/2006/main">
            <a:r>
              <a:t>※ 기준 이미지는 두 장입니다. 스타일 기준(화풍) 한 장, 캐릭터 기준(인물) 한 장. 둘을 나눠서 만드십시오.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 이미지를 만드는 가장 빠른 방법입니다. 탐색 → 선택 → 확정 3단계입니다.</a:t>
            </a:r>
          </a:p>
          <a:p xmlns:a="http://schemas.openxmlformats.org/drawingml/2006/main">
            <a:r>
              <a:t>1단계에서 후보 6개를 한 화면에 뽑습니다. 하나씩 만들어 보면 시간이 몇 배 걸립니다. 그리드로 뽑으면 한 번에 비교됩니다.</a:t>
            </a:r>
          </a:p>
          <a:p xmlns:a="http://schemas.openxmlformats.org/drawingml/2006/main">
            <a:r>
              <a:t>2단계는 선택 사항입니다. 6개 중 하나가 거의 마음에 드는데 세부만 아쉬울 때 씁니다.</a:t>
            </a:r>
          </a:p>
          <a:p xmlns:a="http://schemas.openxmlformats.org/drawingml/2006/main">
            <a:r>
              <a:t>3단계가 중요합니다. 그리드에서 잘라낸 이미지에는 번호가 남아 있습니다. 그 상태로 참조에 쓰면 번호까지 따라 그립니다. 반드시 번호 없는 단일 이미지로 다시 뽑으십시오.</a:t>
            </a:r>
          </a:p>
          <a:p xmlns:a="http://schemas.openxmlformats.org/drawingml/2006/main">
            <a:r>
              <a:t>확정한 파일은 `캐릭터기준_이름.png` 처럼 이름을 붙여 저장해 두십시오. 이후 모든 컷에서 이 파일을 첨부합니다.</a:t>
            </a:r>
          </a:p>
          <a:p xmlns:a="http://schemas.openxmlformats.org/drawingml/2006/main">
            <a:r>
              <a:t>※ 이미 마음에 드는 인물이 그려진 컷이 있다면 — 그 이미지를 첨부하고 "이 인물을 기준 이미지 형태로 다시 그려 줘"라고만 하면 됩니다. 훨씬 빠릅니다.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수정할 때 지킬 것입니다.</a:t>
            </a:r>
          </a:p>
          <a:p xmlns:a="http://schemas.openxmlformats.org/drawingml/2006/main">
            <a:r>
              <a:t>왼쪽 ①번이 가장 중요합니다. "옷만 파란색으로 바꿔 줘"라고 하면 배경까지 다 바뀝니다. "옷만 파란색으로 바꾸고, 얼굴·머리·배경·그림체는 원본과 똑같이 유지해 줘"라고 두 줄로 나눠 쓰십시오.</a:t>
            </a:r>
          </a:p>
          <a:p xmlns:a="http://schemas.openxmlformats.org/drawingml/2006/main">
            <a:r>
              <a:t>②번 — "앞서 말했듯이"는 통하지 않습니다. 유지 목록을 매번 다시 쓰셔야 합니다. 귀찮지만 이 반복이 드리프트를 막습니다.</a:t>
            </a:r>
          </a:p>
          <a:p xmlns:a="http://schemas.openxmlformats.org/drawingml/2006/main">
            <a:r>
              <a:t>오른쪽 3회 룰이 오늘 배울 것 중 가장 실용적인 기준입니다. 세 번 고쳤는데도 안 되면 더 고치지 마십시오. 오히려 나빠집니다.</a:t>
            </a:r>
          </a:p>
          <a:p xmlns:a="http://schemas.openxmlformats.org/drawingml/2006/main">
            <a:r>
              <a:t>가장 잘 나온 결과물을 들고 새 대화를 여십시오. 대화가 길어지면 모델이 앞의 지시에 눌려서 새 지시를 잘 못 듣습니다.</a:t>
            </a:r>
          </a:p>
          <a:p xmlns:a="http://schemas.openxmlformats.org/drawingml/2006/main">
            <a:r>
              <a:t>※ 이 기준이 없으면 한 컷에 30분을 씁니다. 실제로 그렇게 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증상별 처방전입니다. 실습 중에 막히면 이 표를 보시면 됩니다.</a:t>
            </a:r>
          </a:p>
          <a:p xmlns:a="http://schemas.openxmlformats.org/drawingml/2006/main">
            <a:r>
              <a:t>가장 자주 만나실 것은 첫 줄과 넷째 줄입니다.</a:t>
            </a:r>
          </a:p>
          <a:p xmlns:a="http://schemas.openxmlformats.org/drawingml/2006/main">
            <a:r>
              <a:t>마지막 줄은 앞에서 본 모델 지형도와 이어집니다. 스타일 참조가 무시되는 건 실력 문제가 아니라 모델에 그 슬롯이 없어서입니다. 이걸 모르면 계속 자기 프롬프트를 탓하게 됩니다.</a:t>
            </a:r>
          </a:p>
          <a:p xmlns:a="http://schemas.openxmlformats.org/drawingml/2006/main">
            <a:r>
              <a:t>※ 이 표는 실습 가이드 웹페이지에도 올려 두었습니다. 실습 중에 각자 화면에 열어 두게 하십시오.</a:t>
            </a:r>
          </a:p>
          <a:p xmlns:a="http://schemas.openxmlformats.org/drawingml/2006/main">
            <a:r>
              <a:t>[▶ 웹가이드] 여기서 가이드의 해당 표 위치를 한 번 보여 주고 넘어갑니다 — "막히면 이 표부터 보세요."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참조 이미지를 여러 장 넣을 때는 반드시 라벨을 붙이십시오. 안 그러면 섞입니다.</a:t>
            </a:r>
          </a:p>
          <a:p xmlns:a="http://schemas.openxmlformats.org/drawingml/2006/main">
            <a:r>
              <a:t>패턴 A는 역할로 부르는 방식입니다. "첫 번째 이미지는 인물 기준이야"라고 선언하고, 아래에서 그 이름으로 부릅니다.</a:t>
            </a:r>
          </a:p>
          <a:p xmlns:a="http://schemas.openxmlformats.org/drawingml/2006/main">
            <a:r>
              <a:t>패턴 B는 고유명사를 씁니다. 여러 컷을 만들 때 이쪽이 훨씬 편합니다. 컷 블록만 갈아끼우면 되니까요.</a:t>
            </a:r>
          </a:p>
          <a:p xmlns:a="http://schemas.openxmlformats.org/drawingml/2006/main">
            <a:r>
              <a:t>라벨 없이 그냥 이미지 세 장을 넣고 "이렇게 만들어 줘"라고 하면, 모델이 어느 이미지에서 무엇을 가져올지 스스로 정합니다. 결과가 복불복이 됩니다.</a:t>
            </a:r>
          </a:p>
          <a:p xmlns:a="http://schemas.openxmlformats.org/drawingml/2006/main">
            <a:r>
              <a:t>※ 예시의 이름은 예시일 뿐입니다. 각자 사업·인물로 바꿔 쓰십시오.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참조 이미지는 많이 넣을수록 좋을 것 같지만, 그렇지 않습니다.</a:t>
            </a:r>
          </a:p>
          <a:p xmlns:a="http://schemas.openxmlformats.org/drawingml/2006/main">
            <a:r>
              <a:t>슬롯이 늘어날수록 모델이 무엇을 우선할지 헷갈립니다. 꼭 지켜야 할 것만 넣으십시오 — 캐릭터 얼굴과 스타일. 나머지는 텍스트로 서술하는 게 낫습니다.</a:t>
            </a:r>
          </a:p>
          <a:p xmlns:a="http://schemas.openxmlformats.org/drawingml/2006/main">
            <a:r>
              <a:t>②번이 실전 요령입니다. 결과가 안 좋을 때 참조 이미지를 더 넣고 싶어집니다. 그전에 텍스트 서술을 먼저 정밀하게 다듬어 보십시오. 대개 그쪽에서 해결됩니다.</a:t>
            </a:r>
          </a:p>
          <a:p xmlns:a="http://schemas.openxmlformats.org/drawingml/2006/main">
            <a:r>
              <a:t>그리고 활용 아이디어 하나 — 춘천의 실제 장소 사진을 참조로 넣으면 지역성이 확 올라갑니다. 소양강, 공지천, 청평사 사진을 넣고 그 배경으로 그리게 하는 식입니다.</a:t>
            </a:r>
          </a:p>
          <a:p xmlns:a="http://schemas.openxmlformats.org/drawingml/2006/main">
            <a:r>
              <a:t>⚠ 단, 사진에 사람 얼굴이 나오지 않게 하십시오. 초상권 문제가 됩니다.</a:t>
            </a:r>
          </a:p>
          <a:p xmlns:a="http://schemas.openxmlformats.org/drawingml/2006/main">
            <a:r>
              <a:t>⚠ 그리고 오디오·영상은 참조로 넣을 수 없습니다. 이미지만 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실제로 만든 결과물을 두 장 나란히 보여 주는 자리입니다.</a:t>
            </a:r>
          </a:p>
          <a:p xmlns:a="http://schemas.openxmlformats.org/drawingml/2006/main">
            <a:r>
              <a:t>⚠ [이미지 교체 필요] — 앞의 스타일 블록으로 직접 만든 카드뉴스 2장을 넣어 주십시오. 같은 블록을 복사해 쓰면 화풍이 유지된다는 것을 보여 주는 것이 목적입니다.</a:t>
            </a:r>
          </a:p>
          <a:p xmlns:a="http://schemas.openxmlformats.org/drawingml/2006/main">
            <a:r>
              <a:t>멘트 — 두 장이 같은 화풍으로 보이는 이유는 같은 스타일 블록을 매번 복사해 붙였기 때문입니다. 특별한 기술이 없습니다.</a:t>
            </a:r>
          </a:p>
          <a:p xmlns:a="http://schemas.openxmlformats.org/drawingml/2006/main">
            <a:r>
              <a:t>그리고 이 정도 결과물이면 학교 배포용, 게시용으로 충분합니다. 완벽한 그림이 아니라 '쓸 수 있는' 그림이 목표입니다.</a:t>
            </a:r>
          </a:p>
          <a:p xmlns:a="http://schemas.openxmlformats.org/drawingml/2006/main">
            <a:r>
              <a:t>※ 자주 나오는 질문 — "글자가 깨졌는데요?" 답: 글자는 편집 프로그램에서 얹는 게 정석입니다. 다음 장에서 다시 말씀드립니다.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실습 8-A입니다. 30분 드립니다.</a:t>
            </a:r>
          </a:p>
          <a:p xmlns:a="http://schemas.openxmlformats.org/drawingml/2006/main">
            <a:r>
              <a:t>2번을 반드시 먼저 하십시오. 스타일 블록 없이 만들기 시작하면 3장이 다 다른 그림이 됩니다. 이게 오늘 실습의 성패를 가릅니다.</a:t>
            </a:r>
          </a:p>
          <a:p xmlns:a="http://schemas.openxmlformats.org/drawingml/2006/main">
            <a:r>
              <a:t>5번 — 글자가 깨지면 두 가지 길이 있다고 했습니다. 시간이 없으면 그냥 글자 없이 만들고 넘어가십시오. 파워포인트에서 얹으면 됩니다.</a:t>
            </a:r>
          </a:p>
          <a:p xmlns:a="http://schemas.openxmlformats.org/drawingml/2006/main">
            <a:r>
              <a:t>6번이 검수입니다. 세 장을 나란히 놓고 보십시오. 화풍이 다르면 스타일 블록이 제대로 안 붙은 겁니다.</a:t>
            </a:r>
          </a:p>
          <a:p xmlns:a="http://schemas.openxmlformats.org/drawingml/2006/main">
            <a:r>
              <a:t>※ 순회 포인트 — ① 스타일 블록을 안 만든 분 ② 매번 다른 말로 스타일을 설명하는 분 ③ 글자 깨짐에 30분을 쓰는 분. 이 셋입니다.</a:t>
            </a:r>
          </a:p>
          <a:p xmlns:a="http://schemas.openxmlformats.org/drawingml/2006/main">
            <a:r>
              <a:t>[▶ 웹가이드] 실습 시작 전에 「실습 9개」의 실습 8 칸을 띄워 목표·순서를 확인시키고, 완성본은 게시판에 '실습 8-A'로 올리게 합니다. 게시판에 올라오는 카드뉴스를 중간중간 화면에 띄우면 분위기가 올라갑니다.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이제 영상입니다. 오늘 쓸 방식은 하나입니다 — 만들어 둔 이미지를 첫 프레임으로 넣고 움직임만 지시하기.</a:t>
            </a:r>
          </a:p>
          <a:p xmlns:a="http://schemas.openxmlformats.org/drawingml/2006/main">
            <a:r>
              <a:t>백지에서 영상을 만드는 것보다 훨씬 안정적이고, 앞에서 만든 일관성이 그대로 이어집니다.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도구가 여러 개라 헷갈리실 텐데, 오늘 쓸 것은 셋째 줄 하나입니다.</a:t>
            </a:r>
          </a:p>
          <a:p xmlns:a="http://schemas.openxmlformats.org/drawingml/2006/main">
            <a:r>
              <a:t>Frames to Video — 만들어 둔 이미지를 시작 프레임으로 지정해서 영상을 만드는 기능입니다.</a:t>
            </a:r>
          </a:p>
          <a:p xmlns:a="http://schemas.openxmlformats.org/drawingml/2006/main">
            <a:r>
              <a:t>넷째 줄 에이전트는 최근에 좋아진 부분입니다. 예전에는 컷마다 기준 이미지를 다시 첨부해야 했는데, 이제 프로젝트에 한 번만 등록해 두면 됩니다. 뒤에서 설명드립니다.</a:t>
            </a:r>
          </a:p>
          <a:p xmlns:a="http://schemas.openxmlformats.org/drawingml/2006/main">
            <a:r>
              <a:t>⚠ 중요한 제약 하나 — Google Flow는 만 18세 이상만 쓸 수 있습니다. 학생과 함께 쓰는 상황이면 그대로 제약이 됩니다.</a:t>
            </a:r>
          </a:p>
          <a:p xmlns:a="http://schemas.openxmlformats.org/drawingml/2006/main">
            <a:r>
              <a:t>⚠ 그리고 자막·타이틀은 영상 생성 단계에서 넣지 마십시오. 편집기에서 얹는 게 정석입니다.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[참고]</a:t>
            </a:r>
          </a:p>
          <a:p xmlns:a="http://schemas.openxmlformats.org/drawingml/2006/main">
            <a:r>
              <a:t>- https://support.google.com/flow/answer/16352836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구글 공식 문서가 밝힌 네 가지 원칙입니다.</a:t>
            </a:r>
          </a:p>
          <a:p xmlns:a="http://schemas.openxmlformats.org/drawingml/2006/main">
            <a:r>
              <a:t>②번이 초보자가 제일 많이 틀리는 대목입니다. 공식 문서 원문을 그대로 옮기면 — "소스 이미지가 이미 주체·장면·스타일을 제공한다. 프롬프트는 원하는 움직임에 집중하라. 이미지에 있는 것을 다시 서술하면 모델이 혼란스러워지고 결과가 나빠진다."</a:t>
            </a:r>
          </a:p>
          <a:p xmlns:a="http://schemas.openxmlformats.org/drawingml/2006/main">
            <a:r>
              <a:t>즉, "쪽빛 한복을 입은 아이가 강가에 서 있다. 따뜻한 황금빛 조명"이라고 쓰면 안 됩니다. 그건 이미 이미지에 있습니다.</a:t>
            </a:r>
          </a:p>
          <a:p xmlns:a="http://schemas.openxmlformats.org/drawingml/2006/main">
            <a:r>
              <a:t>대신 "인물이 천천히 팔을 들어 지평선을 가리킨다. 카메라가 천천히 다가간다"라고 쓰십시오.</a:t>
            </a:r>
          </a:p>
          <a:p xmlns:a="http://schemas.openxmlformats.org/drawingml/2006/main">
            <a:r>
              <a:t>③번의 '두 개까지만'이 실전 기준입니다. 셋 다 넣으면 실패율이 급증합니다.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[참고]</a:t>
            </a:r>
          </a:p>
          <a:p xmlns:a="http://schemas.openxmlformats.org/drawingml/2006/main">
            <a:r>
              <a:t>- https://docs.cloud.google.com/vertex-ai/generative-ai/docs/video/best-practice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움직임을 세 종류로 나눠서 생각하십시오.</a:t>
            </a:r>
          </a:p>
          <a:p xmlns:a="http://schemas.openxmlformats.org/drawingml/2006/main">
            <a:r>
              <a:t>안정성 별점을 보십시오. 카메라 움직임과 환경 움직임이 별 셋, 인물 동작이 별 둘입니다. 인물이 크게 움직이면 얼굴이 녹아내리거나 손가락이 이상해집니다.</a:t>
            </a:r>
          </a:p>
          <a:p xmlns:a="http://schemas.openxmlformats.org/drawingml/2006/main">
            <a:r>
              <a:t>그래서 지도 원칙은 이겁니다 — "카메라 움직임 1개 + 피사체 동작 1개"까지만.</a:t>
            </a:r>
          </a:p>
          <a:p xmlns:a="http://schemas.openxmlformats.org/drawingml/2006/main">
            <a:r>
              <a:t>욕심내서 "인물이 걸어가면서 손을 흔들고 카메라는 회전하고 배경에 비가 온다"라고 쓰면 거의 실패합니다.</a:t>
            </a:r>
          </a:p>
          <a:p xmlns:a="http://schemas.openxmlformats.org/drawingml/2006/main">
            <a:r>
              <a:t>※ 가장 안전한 조합 — 카메라는 천천히 다가가고, 인물은 눈을 깜빡이거나 옷자락이 흔들리는 정도. 이것만으로도 정지 이미지가 살아납니다.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[참고]</a:t>
            </a:r>
          </a:p>
          <a:p xmlns:a="http://schemas.openxmlformats.org/drawingml/2006/main">
            <a:r>
              <a:t>- https://docs.cloud.google.com/vertex-ai/generative-ai/docs/video/best-practice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상황별 템플릿입니다. 그대로 복사해 쓰십시오.</a:t>
            </a:r>
          </a:p>
          <a:p xmlns:a="http://schemas.openxmlformats.org/drawingml/2006/main">
            <a:r>
              <a:t>가장 아래 것이 오늘 실습에 딱 맞습니다. 카드뉴스 같은 일러스트를 영상으로 바꿀 때 쓰는 프롬프트입니다.</a:t>
            </a:r>
          </a:p>
          <a:p xmlns:a="http://schemas.openxmlformats.org/drawingml/2006/main">
            <a:r>
              <a:t>"앞쪽 배경과 뒤쪽 배경이 서로 다른 속도로 밀리게" — 이걸 패럴랙스라고 하는데, 정지 그림을 살아 있게 만드는 가장 확실한 방법입니다.</a:t>
            </a:r>
          </a:p>
          <a:p xmlns:a="http://schemas.openxmlformats.org/drawingml/2006/main">
            <a:r>
              <a:t>맨 마지막 줄을 꼭 넣으십시오. "화면의 한글 문구는 바꾸거나 새로 생성하지 않는다." 이게 없으면 카드뉴스의 글자를 이상하게 다시 그립니다.</a:t>
            </a:r>
          </a:p>
          <a:p xmlns:a="http://schemas.openxmlformats.org/drawingml/2006/main">
            <a:r>
              <a:t>※ 첫 줄 기본 틀만 외우시면 됩니다. 카메라 → 인물 → 환경 → 소리 순서입니다.</a:t>
            </a:r>
          </a:p>
          <a:p xmlns:a="http://schemas.openxmlformats.org/drawingml/2006/main">
            <a:r>
              <a:t>[▶ 웹가이드] 「실습 자료실」의 '8초 영상 — 움직임만 지시하기' 카드로 전환해 복사 버튼을 시연합니다.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[참고]</a:t>
            </a:r>
          </a:p>
          <a:p xmlns:a="http://schemas.openxmlformats.org/drawingml/2006/main">
            <a:r>
              <a:t>- https://docs.cloud.google.com/vertex-ai/generative-ai/docs/video/best-practice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한 장면으로 정리하겠습니다.</a:t>
            </a:r>
          </a:p>
          <a:p xmlns:a="http://schemas.openxmlformats.org/drawingml/2006/main">
            <a:r>
              <a:t>왼쪽처럼 쓰면 안 됩니다. 이미지에 이미 있는 내용을 다시 설명한 겁니다. 구글 공식 문서가 명시적으로 권하지 않는다고 적어 둔 방식입니다.</a:t>
            </a:r>
          </a:p>
          <a:p xmlns:a="http://schemas.openxmlformats.org/drawingml/2006/main">
            <a:r>
              <a:t>오른쪽이 맞습니다. 움직임만 씁니다.</a:t>
            </a:r>
          </a:p>
          <a:p xmlns:a="http://schemas.openxmlformats.org/drawingml/2006/main">
            <a:r>
              <a:t>이 하나만 지켜도 영상 품질이 눈에 띄게 올라갑니다.</a:t>
            </a:r>
          </a:p>
          <a:p xmlns:a="http://schemas.openxmlformats.org/drawingml/2006/main">
            <a:r>
              <a:t>※ 강의 팁 — 이 슬라이드에서 실제로 두 프롬프트를 돌려 비교해 보이면 설득이 끝납니다. 미리 만들어 두십시오.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여기가 AI 영상 제작에서 가장 어려운 부분입니다. 그리고 대부분의 문제는 생성이 아니라 편집에서 해결됩니다.</a:t>
            </a:r>
          </a:p>
          <a:p xmlns:a="http://schemas.openxmlformats.org/drawingml/2006/main">
            <a:r>
              <a:t>왜 어려운지부터 설명드리고, 무기 다섯 개를 드리겠습니다.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원인을 알면 대처가 쉬워집니다.</a:t>
            </a:r>
          </a:p>
          <a:p xmlns:a="http://schemas.openxmlformats.org/drawingml/2006/main">
            <a:r>
              <a:t>이미지는 한 대화 안에서 맥락이 유지됩니다. 그런데 영상 클립은 각각 독립된 요청입니다. 클립 A를 만든 기억이 클립 B에 전혀 남지 않습니다.</a:t>
            </a:r>
          </a:p>
          <a:p xmlns:a="http://schemas.openxmlformats.org/drawingml/2006/main">
            <a:r>
              <a:t>전달되는 것은 내가 다시 넣은 프롬프트와 참조 이미지뿐입니다. 그래서 세 종류의 드리프트가 생깁니다.</a:t>
            </a:r>
          </a:p>
          <a:p xmlns:a="http://schemas.openxmlformats.org/drawingml/2006/main">
            <a:r>
              <a:t>여기서 중요한 마음가짐 하나 — 드리프트를 완전히 없앨 수는 없습니다. 줄이고, 감추는 겁니다.</a:t>
            </a:r>
          </a:p>
          <a:p xmlns:a="http://schemas.openxmlformats.org/drawingml/2006/main">
            <a:r>
              <a:t>줄이는 건 생성 단계에서, 감추는 건 편집 단계에서 합니다. 지금부터 다섯 가지 무기를 드리겠습니다.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무기 1과 2는 생성 단계에서 드리프트를 줄이는 방법입니다.</a:t>
            </a:r>
          </a:p>
          <a:p xmlns:a="http://schemas.openxmlformats.org/drawingml/2006/main">
            <a:r>
              <a:t>무기 1 고정 블록. 이미지에서 배운 것과 같은 원리입니다. 다섯 덩어리로 나눠서 ④번 컷 블록만 갈아끼웁니다.</a:t>
            </a:r>
          </a:p>
          <a:p xmlns:a="http://schemas.openxmlformats.org/drawingml/2006/main">
            <a:r>
              <a:t>여기에 실전 요령 세 가지를 덧붙이겠습니다.</a:t>
            </a:r>
          </a:p>
          <a:p xmlns:a="http://schemas.openxmlformats.org/drawingml/2006/main">
            <a:r>
              <a:t>첫째, 캐릭터 블록은 한 글자도 바꾸지 않습니다. 의역·요약 금지입니다.</a:t>
            </a:r>
          </a:p>
          <a:p xmlns:a="http://schemas.openxmlformats.org/drawingml/2006/main">
            <a:r>
              <a:t>둘째, 조명 방향을 문장으로 못 박으십시오. "빛은 화면 왼쪽에서" 한 구절이 색 튐을 크게 줄입니다.</a:t>
            </a:r>
          </a:p>
          <a:p xmlns:a="http://schemas.openxmlformats.org/drawingml/2006/main">
            <a:r>
              <a:t>셋째, 화면 좌우 배치를 명시하십시오. "나무는 화면 오른쪽" 같은 식입니다. 이게 좌우가 뒤집히는 사고를 막습니다.</a:t>
            </a:r>
          </a:p>
          <a:p xmlns:a="http://schemas.openxmlformats.org/drawingml/2006/main">
            <a:r>
              <a:t>무기 2 체이닝은 앞 클립의 마지막 프레임을 다음 클립의 시작으로 쓰는 방법입니다. 두 컷을 붙일 때 가장 확실합니다.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[참고]</a:t>
            </a:r>
          </a:p>
          <a:p xmlns:a="http://schemas.openxmlformats.org/drawingml/2006/main">
            <a:r>
              <a:t>- https://docs.cloud.google.com/vertex-ai/generative-ai/docs/video/best-practice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무기 3과 4가 오늘 배울 것 중 가장 쓸모 있습니다.</a:t>
            </a:r>
          </a:p>
          <a:p xmlns:a="http://schemas.openxmlformats.org/drawingml/2006/main">
            <a:r>
              <a:t>무기 3은 직관에 반합니다. 두 컷이 안 붙으면 보통 더 비슷하게 만들려고 합니다. 그런데 반대로 하십시오. 더 다르게 만드십시오.</a:t>
            </a:r>
          </a:p>
          <a:p xmlns:a="http://schemas.openxmlformats.org/drawingml/2006/main">
            <a:r>
              <a:t>앵글이 비슷할수록 얼굴이 살짝 달라진 게 도드라집니다. 멀리서 잡은 컷 다음에 얼굴 클로즈업을 붙이면, 그 차이가 "각도가 달라서 그렇지" 하고 흡수됩니다.</a:t>
            </a:r>
          </a:p>
          <a:p xmlns:a="http://schemas.openxmlformats.org/drawingml/2006/main">
            <a:r>
              <a:t>무기 4가 진짜입니다. 품은 제일 적게 들고 효과는 제일 큽니다.</a:t>
            </a:r>
          </a:p>
          <a:p xmlns:a="http://schemas.openxmlformats.org/drawingml/2006/main">
            <a:r>
              <a:t>그림은 컷마다 튑니다. 그런데 소리는 제가 직접 깔기 때문에 안 튑니다. 다음 컷의 소리를 화면보다 0.5초 먼저 시작하면, 관객의 뇌가 "연속된 하나의 장면"으로 처리합니다.</a:t>
            </a:r>
          </a:p>
          <a:p xmlns:a="http://schemas.openxmlformats.org/drawingml/2006/main">
            <a:r>
              <a:t>실습 지시문은 한 줄입니다 — "다음 컷의 소리를 화면보다 0.5초 먼저 시작하세요. 그것만으로 두 컷이 붙습니다."</a:t>
            </a:r>
          </a:p>
          <a:p xmlns:a="http://schemas.openxmlformats.org/drawingml/2006/main">
            <a:r>
              <a:t>⚠ 함정 하나 — AI가 클립마다 오디오를 따로 생성하므로 컷마다 배경음이 다릅니다. 실무에서는 생성된 오디오를 통째로 음소거하고 배경음을 새로 깝니다.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편집자 월터 머치가 매긴 컷 판단 기준입니다. 《눈 깜빡할 사이》라는 책에 나옵니다.</a:t>
            </a:r>
          </a:p>
          <a:p xmlns:a="http://schemas.openxmlformats.org/drawingml/2006/main">
            <a:r>
              <a:t>숫자를 정밀한 측정값으로 오해하시면 안 됩니다. 머치 본인이 "약간 농담 섞인 수치"라고 단서를 달았습니다.</a:t>
            </a:r>
          </a:p>
          <a:p xmlns:a="http://schemas.openxmlformats.org/drawingml/2006/main">
            <a:r>
              <a:t>진짜 의도는 이겁니다 — 감정 하나가 나머지 다섯 개를 합친 것보다 크다. 51 대 49.</a:t>
            </a:r>
          </a:p>
          <a:p xmlns:a="http://schemas.openxmlformats.org/drawingml/2006/main">
            <a:r>
              <a:t>그리고 머치의 원칙은 "타협해야 할 때는 아래(6번)부터 버린다"입니다.</a:t>
            </a:r>
          </a:p>
          <a:p xmlns:a="http://schemas.openxmlformats.org/drawingml/2006/main">
            <a:r>
              <a:t>그래서 연수에서 반드시 하실 말씀은 이겁니다 — "AI 영상의 연속성 오류는 머치 기준으로 5~6번, 가장 먼저 버려도 되는 항목입니다. 얼굴이 살짝 달라진 것보다 이야기가 지루한 게 훨씬 큰 문제입니다."</a:t>
            </a:r>
          </a:p>
          <a:p xmlns:a="http://schemas.openxmlformats.org/drawingml/2006/main">
            <a:r>
              <a:t>여기서 완벽주의에 빠지면 하루가 다 갑니다. 오늘은 완주가 목표입니다.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오늘 3부에서 하나만 가져가신다면 이것입니다.</a:t>
            </a:r>
          </a:p>
          <a:p xmlns:a="http://schemas.openxmlformats.org/drawingml/2006/main">
            <a:r>
              <a:t>AI로 만든 클립은 처음 0.3~0.5초에 모션이 붙기 시작하고, 마지막 0.3~0.5초에 모션이 죽거나 드리프트가 시작됩니다.</a:t>
            </a:r>
          </a:p>
          <a:p xmlns:a="http://schemas.openxmlformats.org/drawingml/2006/main">
            <a:r>
              <a:t>그래서 8초로 생성하고 편집에서 4~6초만 쓰십시오. 앞 0.3초, 뒤 0.5초를 기본으로 잘라 냅니다.</a:t>
            </a:r>
          </a:p>
          <a:p xmlns:a="http://schemas.openxmlformats.org/drawingml/2006/main">
            <a:r>
              <a:t>이 습관 하나로 "AI로 만든 티"의 상당 부분이 사라집니다.</a:t>
            </a:r>
          </a:p>
          <a:p xmlns:a="http://schemas.openxmlformats.org/drawingml/2006/main">
            <a:r>
              <a:t>※ 비용 이야기도 함께 하십시오 — 4초로 만들면 크레딧이 아껴질 것 같지만, 잘라낼 여유가 없어서 결국 다시 만듭니다. 8초로 만드는 게 결과적으로 싸게 먹힙니다.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증상별 대처표입니다. 실습 중에 이 표를 열어 두시면 됩니다.</a:t>
            </a:r>
          </a:p>
          <a:p xmlns:a="http://schemas.openxmlformats.org/drawingml/2006/main">
            <a:r>
              <a:t>왼쪽이 증상, 가운데가 만들 때 대처, 오른쪽이 편집으로 해결하는 방법입니다.</a:t>
            </a:r>
          </a:p>
          <a:p xmlns:a="http://schemas.openxmlformats.org/drawingml/2006/main">
            <a:r>
              <a:t>셋째 줄이 아주 실용적입니다. 어느 컷에서 얼굴이 달라졌다면 그 컷을 다시 만들려고 애쓰지 마시고, 멀리서 잡은 화면이나 뒷모습으로 대체하십시오. 관객은 모릅니다.</a:t>
            </a:r>
          </a:p>
          <a:p xmlns:a="http://schemas.openxmlformats.org/drawingml/2006/main">
            <a:r>
              <a:t>여섯째 줄 — 영상 안에 글자를 넣으려 하지 마십시오. 깨집니다. 자막과 타이틀은 편집기에서 얹는 게 정석입니다.</a:t>
            </a:r>
          </a:p>
          <a:p xmlns:a="http://schemas.openxmlformats.org/drawingml/2006/main">
            <a:r>
              <a:t>마지막 줄이 앞에서 강조한 그 습관입니다.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한국어 대사에 대해서는 솔직하게 말씀드리는 게 낫습니다.</a:t>
            </a:r>
          </a:p>
          <a:p xmlns:a="http://schemas.openxmlformats.org/drawingml/2006/main">
            <a:r>
              <a:t>공식 문서에 한국어가 지원 언어로 들어 있긴 합니다. 그런데 같은 문서가 "최상의 결과를 위해서는 영어를 권장한다"고 경고합니다.</a:t>
            </a:r>
          </a:p>
          <a:p xmlns:a="http://schemas.openxmlformats.org/drawingml/2006/main">
            <a:r>
              <a:t>그리고 어디에도 "한국어 음성을 생성한다"고 보증하는 문구는 없습니다.</a:t>
            </a:r>
          </a:p>
          <a:p xmlns:a="http://schemas.openxmlformats.org/drawingml/2006/main">
            <a:r>
              <a:t>실무에서 보고되는 건 — 같은 프롬프트로도 어떤 건 영어로, 어떤 건 한국어로 나온다는 겁니다. 비결정적입니다.</a:t>
            </a:r>
          </a:p>
          <a:p xmlns:a="http://schemas.openxmlformats.org/drawingml/2006/main">
            <a:r>
              <a:t>그래서 대안을 미리 준비하십시오. 1안과 2안이 확실합니다. 영상은 무음으로 만들고 소리는 편집에서 얹는 겁니다.</a:t>
            </a:r>
          </a:p>
          <a:p xmlns:a="http://schemas.openxmlformats.org/drawingml/2006/main">
            <a:r>
              <a:t>※ 강사 사전 준비 — 연수 당일 아침에 한국어 대사 프롬프트를 서너 번 돌려 성공률을 확인하고, 사실대로 안내하십시오. 이 항목이 만족도에 직결됩니다.</a:t>
            </a:r>
          </a:p>
          <a:p xmlns:a="http://schemas.openxmlformats.org/drawingml/2006/main">
            <a:r>
              <a:t>※ 참고로 배경음악은 이 도구에서 안 만들어집니다. 별개 서비스를 써야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[참고]</a:t>
            </a:r>
          </a:p>
          <a:p xmlns:a="http://schemas.openxmlformats.org/drawingml/2006/main">
            <a:r>
              <a:t>- https://docs.cloud.google.com/vertex-ai/generative-ai/docs/video/best-practice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마지막 모듈입니다. 만든 것을 밖으로 내보내기 전에 확인할 것들입니다.</a:t>
            </a:r>
          </a:p>
          <a:p xmlns:a="http://schemas.openxmlformats.org/drawingml/2006/main">
            <a:r>
              <a:t>이 부분을 빼면 현장에서 사고가 납니다. 특히 대외 홍보물이나 학생 대회 지도에서 그렇습니다.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여덟 가지입니다. 이 표는 학생 지도를 하실 때 그대로 쓰실 수 있습니다.</a:t>
            </a:r>
          </a:p>
          <a:p xmlns:a="http://schemas.openxmlformats.org/drawingml/2006/main">
            <a:r>
              <a:t>2번과 3번이 학교 현장에서 제일 자주 걸립니다. Flow는 만 18세 이상, 한국 구글 계정은 만 14세 이상입니다. 초등학생은 교사가 대신 만들어 주는 구조로 설계해야 합니다.</a:t>
            </a:r>
          </a:p>
          <a:p xmlns:a="http://schemas.openxmlformats.org/drawingml/2006/main">
            <a:r>
              <a:t>6번 워터마크가 홍보물에서 치명적입니다. 무료·중간 요금제로 만든 영상에는 눈에 보이는 워터마크가 박힙니다. 대외 배포용이면 먼저 확인하십시오. 그리고 잘라내라고 지도하시면 안 됩니다.</a:t>
            </a:r>
          </a:p>
          <a:p xmlns:a="http://schemas.openxmlformats.org/drawingml/2006/main">
            <a:r>
              <a:t>8번이 최근에 바뀐 부분입니다. 교육부가 2025년 12월에 발표한 방침으로, 2026학년도부터 AI 활용 과정을 표기하도록 되어 있습니다. "이건 대회 규정일 뿐 아니라 교육부 공식 방침입니다"라고 말씀하시면 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[참고]</a:t>
            </a:r>
          </a:p>
          <a:p xmlns:a="http://schemas.openxmlformats.org/drawingml/2006/main">
            <a:r>
              <a:t>- https://www.moe.go.kr/boardCnts/viewRenew.do?boardID=294&amp;boardSeq=104984&amp;lev=0&amp;m=020402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여기서 오해가 많습니다.</a:t>
            </a:r>
          </a:p>
          <a:p xmlns:a="http://schemas.openxmlformats.org/drawingml/2006/main">
            <a:r>
              <a:t>SynthID는 "AI가 만들었는가"만 알려 줍니다. 누가, 언제, 어느 계정으로 만들었는지는 담겨 있지 않습니다.</a:t>
            </a:r>
          </a:p>
          <a:p xmlns:a="http://schemas.openxmlformats.org/drawingml/2006/main">
            <a:r>
              <a:t>즉 소유권 증명 수단이 아닙니다. "내가 만들었다"를 증명해 주지 않습니다.</a:t>
            </a:r>
          </a:p>
          <a:p xmlns:a="http://schemas.openxmlformats.org/drawingml/2006/main">
            <a:r>
              <a:t>그래서 프롬프트 기록이 필요한 겁니다. 대회에서 "내가 한 일"을 입증하는 건 워터마크가 아니라 과정 기록입니다.</a:t>
            </a:r>
          </a:p>
          <a:p xmlns:a="http://schemas.openxmlformats.org/drawingml/2006/main">
            <a:r>
              <a:t>그리고 마지막 검수 책임은 사람에게 있습니다. 화면 속 오탈자, 사실 관계, 기관 지침 준수 — 이 셋은 AI가 아니라 사람이 마지막에 확인해야 합니다.</a:t>
            </a:r>
          </a:p>
          <a:p xmlns:a="http://schemas.openxmlformats.org/drawingml/2006/main">
            <a:r>
              <a:t>※ 특히 사실 관계 — AI는 없는 사실을 지어냅니다. 지역 설화나 통계를 다룰 때 특히 조심하십시오.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프롬프트 기록 양식입니다. 학생 지도용으로도, 우리 업무 결과물용으로도 그대로 쓰실 수 있습니다.</a:t>
            </a:r>
          </a:p>
          <a:p xmlns:a="http://schemas.openxmlformats.org/drawingml/2006/main">
            <a:r>
              <a:t>[2]번이 핵심입니다. "내가 정한 것"을 적는 칸입니다. 이게 있어야 "AI가 다 만든 것"이 아니라 "내가 기획하고 AI가 실행한 것"이 됩니다.</a:t>
            </a:r>
          </a:p>
          <a:p xmlns:a="http://schemas.openxmlformats.org/drawingml/2006/main">
            <a:r>
              <a:t>[4]번도 중요합니다. AI 결과물을 어떻게 고쳤는지 적습니다. 자른 부분, 다시 만든 부분, 얹은 자막.</a:t>
            </a:r>
          </a:p>
          <a:p xmlns:a="http://schemas.openxmlformats.org/drawingml/2006/main">
            <a:r>
              <a:t>[5]번은 배포 전 최종 점검입니다. 세 칸만 체크하면 됩니다.</a:t>
            </a:r>
          </a:p>
          <a:p xmlns:a="http://schemas.openxmlformats.org/drawingml/2006/main">
            <a:r>
              <a:t>※ 이 양식은 실습 파일 세트와 실습 가이드 웹페이지에 넣어 두었습니다. 학교에 배포하셔도 됩니다.</a:t>
            </a:r>
          </a:p>
          <a:p xmlns:a="http://schemas.openxmlformats.org/drawingml/2006/main">
            <a:r>
              <a:t>[▶ 웹가이드] 「자료」 섹션에서 실습 파일 ZIP 안의 기록 양식 위치를 보여 줍니다.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[참고]</a:t>
            </a:r>
          </a:p>
          <a:p xmlns:a="http://schemas.openxmlformats.org/drawingml/2006/main">
            <a:r>
              <a:t>- https://www.moe.go.kr/boardCnts/viewRenew.do?boardID=294&amp;boardSeq=104984&amp;lev=0&amp;m=020402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실습 8-B입니다. 25분입니다.</a:t>
            </a:r>
          </a:p>
          <a:p xmlns:a="http://schemas.openxmlformats.org/drawingml/2006/main">
            <a:r>
              <a:t>3번에서 실수하기 쉽습니다. 이미지에 있는 내용을 다시 쓰지 마십시오. 움직임만 씁니다. 앞에서 드린 「일러스트 살리기」 프롬프트를 그대로 쓰시면 됩니다.</a:t>
            </a:r>
          </a:p>
          <a:p xmlns:a="http://schemas.openxmlformats.org/drawingml/2006/main">
            <a:r>
              <a:t>4번 — 8초로 만드십시오. 4초로 만들면 앞뒤를 잘라낼 여유가 없어서 결국 다시 만들게 됩니다.</a:t>
            </a:r>
          </a:p>
          <a:p xmlns:a="http://schemas.openxmlformats.org/drawingml/2006/main">
            <a:r>
              <a:t>6번을 건너뛰지 마십시오. 대외 배포 전에 워터마크가 붙었는지 반드시 확인합니다.</a:t>
            </a:r>
          </a:p>
          <a:p xmlns:a="http://schemas.openxmlformats.org/drawingml/2006/main">
            <a:r>
              <a:t>※ 계정 확인 — Flow는 만 18세 이상입니다. 그리고 교육용 계정 종류에 따라 영상 메뉴가 없을 수 있습니다. 그런 경우 프롬프트 작성까지만 하고 결과는 강사 화면으로 함께 보십시오.</a:t>
            </a:r>
          </a:p>
          <a:p xmlns:a="http://schemas.openxmlformats.org/drawingml/2006/main">
            <a:r>
              <a:t>※ 시간이 부족하면 — 생성 시작까지만 하고, 완성본은 미리 만들어 둔 것을 보여 주십시오.</a:t>
            </a:r>
          </a:p>
          <a:p xmlns:a="http://schemas.openxmlformats.org/drawingml/2006/main">
            <a:r>
              <a:t>[▶ 웹가이드] Flow 화면과 가이드 「실습 자료실」의 영상 프롬프트 카드를 오가며 시연합니다. 완성 영상은 게시판에 '실습 8-B'로 올리게 하십시오.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3부를 마무리하겠습니다.</a:t>
            </a:r>
          </a:p>
          <a:p xmlns:a="http://schemas.openxmlformats.org/drawingml/2006/main">
            <a:r>
              <a:t>오늘 배운 것을 한 문장으로 줄이면 — 한 장은 누구나 만들지만, 여덟 장을 같은 화풍으로 만드는 것이 실력이라는 겁니다.</a:t>
            </a:r>
          </a:p>
          <a:p xmlns:a="http://schemas.openxmlformats.org/drawingml/2006/main">
            <a:r>
              <a:t>그리고 그 실력은 재능이 아니라 규칙에서 나옵니다. 고정 블록을 메모장에 저장하고, 기준 이미지를 만들어 두고, 세 번 고쳐서 안 되면 새로 시작하는 것. 이 셋입니다.</a:t>
            </a:r>
          </a:p>
          <a:p xmlns:a="http://schemas.openxmlformats.org/drawingml/2006/main">
            <a:r>
              <a:t>마지막으로 한 가지만 당부드리겠습니다. 완벽한 결과물을 만들려고 하지 마십시오. 쓸 수 있는 결과물을 완주하는 것이 먼저입니다.</a:t>
            </a:r>
          </a:p>
          <a:p xmlns:a="http://schemas.openxmlformats.org/drawingml/2006/main">
            <a:r>
              <a:t>얼굴이 살짝 달라진 것보다 이야기가 지루한 게 훨씬 큰 문제라는 것 — 이 말씀을 기억해 주시면 좋겠습니다. 고맙습니다.</a:t>
            </a:r>
          </a:p>
          <a:p xmlns:a="http://schemas.openxmlformats.org/drawingml/2006/main">
            <a:r>
              <a:t>[▶ 웹가이드] 마무리로 게시판을 열어 오늘 올라온 카드뉴스와 영상을 함께 봅니다. 서로의 스타일 블록을 구경하는 것이 최고의 복습입니다.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ec926623ba41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cd7163f03df4c09" /><Relationship Type="http://schemas.openxmlformats.org/officeDocument/2006/relationships/slideLayout" Target="/ppt/slideLayouts/slideLayout1.xml" Id="R531867aa22f34db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31867aa22f34db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36936e6f594409" /><Relationship Type="http://schemas.openxmlformats.org/officeDocument/2006/relationships/notesSlide" Target="/ppt/notesSlides/notesSlide1.xml" Id="Re32dbd5b65614f6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2ecac69fdd4650" /><Relationship Type="http://schemas.openxmlformats.org/officeDocument/2006/relationships/notesSlide" Target="/ppt/notesSlides/notesSlide2.xml" Id="Rfe205a8f787a498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1d88d14ee54b29" /><Relationship Type="http://schemas.openxmlformats.org/officeDocument/2006/relationships/notesSlide" Target="/ppt/notesSlides/notesSlide3.xml" Id="Rcb246a173da1415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aba4699e724ead" /><Relationship Type="http://schemas.openxmlformats.org/officeDocument/2006/relationships/notesSlide" Target="/ppt/notesSlides/notesSlide4.xml" Id="Re11baf1ae96b4d6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b32f1524594012" /><Relationship Type="http://schemas.openxmlformats.org/officeDocument/2006/relationships/notesSlide" Target="/ppt/notesSlides/notesSlide5.xml" Id="Rcda8dbbdaf4c4d1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4e3d394f9b40d5" /><Relationship Type="http://schemas.openxmlformats.org/officeDocument/2006/relationships/notesSlide" Target="/ppt/notesSlides/notesSlide6.xml" Id="R6a05ce19a43f4a7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3c99ae78ad4e95" /><Relationship Type="http://schemas.openxmlformats.org/officeDocument/2006/relationships/notesSlide" Target="/ppt/notesSlides/notesSlide7.xml" Id="Rbc5514cdafd74bc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c60e625fe34234" /><Relationship Type="http://schemas.openxmlformats.org/officeDocument/2006/relationships/image" Target="/ppt/media/image.png" Id="R08fd5a4b90dc45e9" /><Relationship Type="http://schemas.openxmlformats.org/officeDocument/2006/relationships/notesSlide" Target="/ppt/notesSlides/notesSlide8.xml" Id="Rca752635288b42f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0701dc88a34652" /><Relationship Type="http://schemas.openxmlformats.org/officeDocument/2006/relationships/notesSlide" Target="/ppt/notesSlides/notesSlide9.xml" Id="Re105242713444c1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fccb206e7c42e3" /><Relationship Type="http://schemas.openxmlformats.org/officeDocument/2006/relationships/notesSlide" Target="/ppt/notesSlides/notesSlide10.xml" Id="R60d11799ea3541d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9de1f16d0448b8" /><Relationship Type="http://schemas.openxmlformats.org/officeDocument/2006/relationships/notesSlide" Target="/ppt/notesSlides/notesSlide11.xml" Id="Rd0d547cd1bb6407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5b7b40248b4578" /><Relationship Type="http://schemas.openxmlformats.org/officeDocument/2006/relationships/notesSlide" Target="/ppt/notesSlides/notesSlide12.xml" Id="Rbc27ea5847184c6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a4745573204040" /><Relationship Type="http://schemas.openxmlformats.org/officeDocument/2006/relationships/notesSlide" Target="/ppt/notesSlides/notesSlide13.xml" Id="Rf992cc3e1d87491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626f8fd60a4bef" /><Relationship Type="http://schemas.openxmlformats.org/officeDocument/2006/relationships/notesSlide" Target="/ppt/notesSlides/notesSlide14.xml" Id="Rbe9f845ebabf412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59c3e753234b68" /><Relationship Type="http://schemas.openxmlformats.org/officeDocument/2006/relationships/notesSlide" Target="/ppt/notesSlides/notesSlide15.xml" Id="Rd846b53205d9435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2f2a258dc0446f" /><Relationship Type="http://schemas.openxmlformats.org/officeDocument/2006/relationships/notesSlide" Target="/ppt/notesSlides/notesSlide16.xml" Id="R15760f8065c546e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033065b00749d7" /><Relationship Type="http://schemas.openxmlformats.org/officeDocument/2006/relationships/notesSlide" Target="/ppt/notesSlides/notesSlide17.xml" Id="Rbd474dd643e244f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7476bf6e894b5f" /><Relationship Type="http://schemas.openxmlformats.org/officeDocument/2006/relationships/notesSlide" Target="/ppt/notesSlides/notesSlide18.xml" Id="R2e8381c4c9cb491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b43b8887174b43" /><Relationship Type="http://schemas.openxmlformats.org/officeDocument/2006/relationships/notesSlide" Target="/ppt/notesSlides/notesSlide19.xml" Id="R20d77fbabf9f434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f62a7d864b4d78" /><Relationship Type="http://schemas.openxmlformats.org/officeDocument/2006/relationships/notesSlide" Target="/ppt/notesSlides/notesSlide20.xml" Id="R1481cec44fc047f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a9bf5a04104cbe" /><Relationship Type="http://schemas.openxmlformats.org/officeDocument/2006/relationships/notesSlide" Target="/ppt/notesSlides/notesSlide21.xml" Id="R7199b2c29f7d45e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bff25f81c9414c" /><Relationship Type="http://schemas.openxmlformats.org/officeDocument/2006/relationships/notesSlide" Target="/ppt/notesSlides/notesSlide22.xml" Id="Rc5beed8ff26a469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f1254833d2489c" /><Relationship Type="http://schemas.openxmlformats.org/officeDocument/2006/relationships/notesSlide" Target="/ppt/notesSlides/notesSlide23.xml" Id="Rffc378aa308944d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86cb1cd4e5433d" /><Relationship Type="http://schemas.openxmlformats.org/officeDocument/2006/relationships/notesSlide" Target="/ppt/notesSlides/notesSlide24.xml" Id="Re48e0347b35d458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45f72945d34203" /><Relationship Type="http://schemas.openxmlformats.org/officeDocument/2006/relationships/notesSlide" Target="/ppt/notesSlides/notesSlide25.xml" Id="Ra5135781aa504ba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446a2468a64b98" /><Relationship Type="http://schemas.openxmlformats.org/officeDocument/2006/relationships/notesSlide" Target="/ppt/notesSlides/notesSlide26.xml" Id="Ref5135b2edbe4d1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75f4e05d4649a8" /><Relationship Type="http://schemas.openxmlformats.org/officeDocument/2006/relationships/notesSlide" Target="/ppt/notesSlides/notesSlide27.xml" Id="R7cab05a572664b8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fd163aabea41f3" /><Relationship Type="http://schemas.openxmlformats.org/officeDocument/2006/relationships/notesSlide" Target="/ppt/notesSlides/notesSlide28.xml" Id="Rf6d2f53a2f3540d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858fef495940b4" /><Relationship Type="http://schemas.openxmlformats.org/officeDocument/2006/relationships/notesSlide" Target="/ppt/notesSlides/notesSlide29.xml" Id="Rb63121c9fc274afb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7257dd15e446cc" /><Relationship Type="http://schemas.openxmlformats.org/officeDocument/2006/relationships/notesSlide" Target="/ppt/notesSlides/notesSlide30.xml" Id="R66a76b7e55644906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ab0156434c4b87" /><Relationship Type="http://schemas.openxmlformats.org/officeDocument/2006/relationships/notesSlide" Target="/ppt/notesSlides/notesSlide31.xml" Id="R0a2750b988864e62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c3f016aefa436d" /><Relationship Type="http://schemas.openxmlformats.org/officeDocument/2006/relationships/notesSlide" Target="/ppt/notesSlides/notesSlide32.xml" Id="Rb94a50f3d37e40d0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d6ae17d0864714" /><Relationship Type="http://schemas.openxmlformats.org/officeDocument/2006/relationships/notesSlide" Target="/ppt/notesSlides/notesSlide33.xml" Id="Rf970a280007b4041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c65d8890484b26" /><Relationship Type="http://schemas.openxmlformats.org/officeDocument/2006/relationships/notesSlide" Target="/ppt/notesSlides/notesSlide34.xml" Id="R56a8c8d84d764165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54346cb3b949be" /><Relationship Type="http://schemas.openxmlformats.org/officeDocument/2006/relationships/notesSlide" Target="/ppt/notesSlides/notesSlide35.xml" Id="R4058664940b84243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8ca626a3714430" /><Relationship Type="http://schemas.openxmlformats.org/officeDocument/2006/relationships/notesSlide" Target="/ppt/notesSlides/notesSlide36.xml" Id="R3c6e8cd14acd44f5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069713ec0d4d58" /><Relationship Type="http://schemas.openxmlformats.org/officeDocument/2006/relationships/notesSlide" Target="/ppt/notesSlides/notesSlide37.xml" Id="R0a698258b344419b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19ea0eaec14e8f" /><Relationship Type="http://schemas.openxmlformats.org/officeDocument/2006/relationships/notesSlide" Target="/ppt/notesSlides/notesSlide38.xml" Id="Rc49651c8cfc74941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4219da955e412b" /><Relationship Type="http://schemas.openxmlformats.org/officeDocument/2006/relationships/notesSlide" Target="/ppt/notesSlides/notesSlide39.xml" Id="R27dc7da55e37492c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b6dcf8895e4e66" /><Relationship Type="http://schemas.openxmlformats.org/officeDocument/2006/relationships/notesSlide" Target="/ppt/notesSlides/notesSlide40.xml" Id="Ra68f054a6a1244a4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bf5280ff684171" /><Relationship Type="http://schemas.openxmlformats.org/officeDocument/2006/relationships/notesSlide" Target="/ppt/notesSlides/notesSlide41.xml" Id="R993cbb947f05455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B64C9F-6679-4B7F-9D19-79C3DC9A5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7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713767-385B-4341-9669-57935D8AF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01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3부 · 오후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51BC5F-C5E6-4237-9316-E35035C87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6667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4350" b="0" i="0">
                <a:solidFill>
                  <a:srgbClr val="141413"/>
                </a:solidFill>
                <a:latin typeface="Noto Serif KR"/>
                <a:ea typeface="Noto Serif KR"/>
                <a:cs typeface="Noto Serif KR"/>
              </a:defRPr>
            </a:pPr>
            <a:r>
              <a:rPr sz="4350" b="0" i="0">
                <a:solidFill>
                  <a:srgbClr val="141413"/>
                </a:solidFill>
                <a:latin typeface="Noto Serif KR"/>
                <a:ea typeface="Noto Serif KR"/>
                <a:cs typeface="Noto Serif KR"/>
              </a:rPr>
              <a:t>일관성이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4350" b="0" i="0">
                <a:solidFill>
                  <a:srgbClr val="141413"/>
                </a:solidFill>
                <a:latin typeface="Noto Serif KR"/>
                <a:ea typeface="Noto Serif KR"/>
                <a:cs typeface="Noto Serif KR"/>
              </a:defRPr>
            </a:pPr>
            <a:r>
              <a:rPr sz="4350" b="0" i="0">
                <a:solidFill>
                  <a:srgbClr val="141413"/>
                </a:solidFill>
                <a:latin typeface="Noto Serif KR"/>
                <a:ea typeface="Noto Serif KR"/>
                <a:cs typeface="Noto Serif KR"/>
              </a:rPr>
              <a:t>전부입니다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7D028C-59C1-49B1-8F32-E8EFDA0EB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647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425" b="0" i="0">
                <a:solidFill>
                  <a:srgbClr val="6C6A64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>
                <a:solidFill>
                  <a:srgbClr val="6C6A64"/>
                </a:solidFill>
                <a:latin typeface="Noto Sans KR"/>
                <a:ea typeface="Noto Sans KR"/>
                <a:cs typeface="Noto Sans KR"/>
              </a:rPr>
              <a:t>이미지·영상 — 한 장은 누구나 만듭니다. 여덟 장을 같은 화풍으로 만드는 것이 실력입니다.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333195-D18D-426F-9116-ECDF90B80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628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F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1F20E8-DE31-4DFF-9D4E-69CFFBC86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647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프롬프트 5단계  |  스타일 고정  |  캐릭터 일관성  |  다중 참조  |  이미지→영상  |  이어 붙이기  |  표기·저작권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C34CF4-AF67-4572-B146-913C4AD8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7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7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1889AC-E236-4AFE-9A17-65C02520E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817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2026. 8. 11.(화)  ·  춘천시교육지원청 교육전문직  ·  강사 김상백</a:t>
            </a:r>
          </a:p>
        </p:txBody>
      </p:sp>
    </p:spTree>
    <p:extLst>
      <p:ext uri="{BB962C8B-B14F-4D97-AF65-F5344CB8AC3E}">
        <p14:creationId xmlns:p14="http://schemas.microsoft.com/office/powerpoint/2010/main" val="1436662701"/>
      </p:ext>
    </p:extLst>
  </p:cSld>
  <p:transition spd="slow">
    <p:fade/>
  </p:transition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817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171619-F3E7-4E1E-A102-1CA4C069C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7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DE50BE-32AE-4E34-84C3-A4416CCDE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63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MODULE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EF43BC-D2B4-4BDE-AB25-FA1110DF3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63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F50999-3F9B-4E16-AFE4-E5387ECAA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819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713" b="0" i="0">
                <a:solidFill>
                  <a:srgbClr val="7C766E"/>
                </a:solidFill>
                <a:latin typeface="Noto Sans KR"/>
                <a:ea typeface="Noto Sans KR"/>
                <a:cs typeface="Noto Sans KR"/>
              </a:defRPr>
            </a:pPr>
            <a:r>
              <a:rPr sz="713" b="0" i="0">
                <a:solidFill>
                  <a:srgbClr val="7C766E"/>
                </a:solidFill>
                <a:latin typeface="Noto Sans KR"/>
                <a:ea typeface="Noto Sans KR"/>
                <a:cs typeface="Noto Sans KR"/>
              </a:rPr>
              <a:t>춘천시교육지원청 · AI 기반 디지털 교육혁신 전문성 신장 연수 · 3부 이미지·영상 · 2026.8.11.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CD754C-6751-41B6-BD0E-3449D26F2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088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FOUNDATION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33CCBA-6592-4E42-A648-1E71ADD07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33550"/>
            <a:ext cx="106680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900" b="0" i="0">
                <a:solidFill>
                  <a:srgbClr val="FAF9F5"/>
                </a:solidFill>
                <a:latin typeface="Noto Serif KR"/>
                <a:ea typeface="Noto Serif KR"/>
                <a:cs typeface="Noto Serif KR"/>
              </a:defRPr>
            </a:pPr>
            <a:r>
              <a:rPr sz="3900" b="0" i="0">
                <a:solidFill>
                  <a:srgbClr val="FAF9F5"/>
                </a:solidFill>
                <a:latin typeface="Noto Serif KR"/>
                <a:ea typeface="Noto Serif KR"/>
                <a:cs typeface="Noto Serif KR"/>
              </a:rPr>
              <a:t>프롬프트는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3900" b="0" i="0">
                <a:solidFill>
                  <a:srgbClr val="FAF9F5"/>
                </a:solidFill>
                <a:latin typeface="Noto Serif KR"/>
                <a:ea typeface="Noto Serif KR"/>
                <a:cs typeface="Noto Serif KR"/>
              </a:defRPr>
            </a:pPr>
            <a:r>
              <a:rPr sz="3900" b="0" i="0">
                <a:solidFill>
                  <a:srgbClr val="FAF9F5"/>
                </a:solidFill>
                <a:latin typeface="Noto Serif KR"/>
                <a:ea typeface="Noto Serif KR"/>
                <a:cs typeface="Noto Serif KR"/>
              </a:rPr>
              <a:t>다섯 단계로 씁니다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525730-CAE9-4ABE-A549-DC2F568D4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48100"/>
            <a:ext cx="8953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725" b="0" i="0">
                <a:solidFill>
                  <a:srgbClr val="CFC8B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 i="0">
                <a:solidFill>
                  <a:srgbClr val="CFC8BF"/>
                </a:solidFill>
                <a:latin typeface="Noto Sans KR"/>
                <a:ea typeface="Noto Sans KR"/>
                <a:cs typeface="Noto Sans KR"/>
              </a:rPr>
              <a:t>그중 첫 단계가 결과의 절반을 정합니다 — 「이 그림을 어디에 쓸 것인가」.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8A6A6D-DECC-4FC2-B750-30F394953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95900"/>
            <a:ext cx="18478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785C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595724086"/>
      </p:ext>
    </p:extLst>
  </p:cSld>
  <p:transition spd="slow">
    <p:push dir="u"/>
  </p:transition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2D22ED0-A2D7-4D21-811E-FF364A139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7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F8E5EA-2FE0-4E7C-BBE7-5A4A74828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MODULE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69E810-F5CF-4FB4-A39B-F0C439B2B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63" b="1" i="0">
                <a:solidFill>
                  <a:srgbClr val="8E8B82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8E8B82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8ADE15-F8ED-42EE-AA13-ECB4E2D8C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819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713" b="0" i="0">
                <a:solidFill>
                  <a:srgbClr val="A5A099"/>
                </a:solidFill>
                <a:latin typeface="Noto Sans KR"/>
                <a:ea typeface="Noto Sans KR"/>
                <a:cs typeface="Noto Sans KR"/>
              </a:defRPr>
            </a:pPr>
            <a:r>
              <a:rPr sz="713" b="0" i="0">
                <a:solidFill>
                  <a:srgbClr val="A5A099"/>
                </a:solidFill>
                <a:latin typeface="Noto Sans KR"/>
                <a:ea typeface="Noto Sans KR"/>
                <a:cs typeface="Noto Sans KR"/>
              </a:rPr>
              <a:t>춘천시교육지원청 · AI 기반 디지털 교육혁신 전문성 신장 연수 · 3부 이미지·영상 · 2026.8.11.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F65DE9-C4A1-4E78-968E-004685E01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75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모델 지형도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C997D0-DF77-41D0-9D3D-91139BABC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11201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0" i="0">
                <a:solidFill>
                  <a:srgbClr val="141413"/>
                </a:solidFill>
                <a:latin typeface="Noto Serif KR"/>
                <a:ea typeface="Noto Serif KR"/>
                <a:cs typeface="Noto Serif KR"/>
              </a:defRPr>
            </a:pPr>
            <a:r>
              <a:rPr sz="2775" b="0" i="0">
                <a:solidFill>
                  <a:srgbClr val="141413"/>
                </a:solidFill>
                <a:latin typeface="Noto Serif KR"/>
                <a:ea typeface="Noto Serif KR"/>
                <a:cs typeface="Noto Serif KR"/>
              </a:rPr>
              <a:t>먼저 — 나노바나나는 하나의 모델이 아닙니다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A948FF-05BA-44DC-A148-386A45D7A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47850"/>
            <a:ext cx="2667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7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27DF63-9837-430A-A424-2EFFA8D4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2438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rPr>
              <a:t>참조 이미지 종류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00E5F5-3F80-4F89-99C3-55EC55A92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847850"/>
            <a:ext cx="2781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7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102FE1-22F1-4B30-81D0-00B6D8112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943100"/>
            <a:ext cx="2552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rPr>
              <a:t>나노바나나 2 Lite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E1DB13-AEF5-4F5C-BC35-C46CE34C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847850"/>
            <a:ext cx="2781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7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581F7D-86A8-4984-B15E-68734F7D4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943100"/>
            <a:ext cx="2552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rPr>
              <a:t>나노바나나 2 (기본)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085CA3-A202-4F90-A5AB-54C582472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847850"/>
            <a:ext cx="29718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7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2499F4-F31A-4036-9C7A-249C5127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943100"/>
            <a:ext cx="2743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rPr>
              <a:t>나노바나나 Pro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666461-69D3-453E-9897-670F9C4F4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19350"/>
            <a:ext cx="2667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745A15-F818-45BE-AB8D-0D295911A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05075"/>
            <a:ext cx="2438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고충실도 사물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A2F845-1933-409D-9A27-7FC485FE5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419350"/>
            <a:ext cx="2781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5A1200-0E32-4AD9-9C8E-F2D02AB0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505075"/>
            <a:ext cx="2552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최대 14장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13557F-7C0F-496E-8FF1-ED10DF3D6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419350"/>
            <a:ext cx="2781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B2D775-027E-4FAD-9A95-C2FA9BE2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505075"/>
            <a:ext cx="2552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최대 10장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1E21A4-A8DA-4283-AF30-F70860215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419350"/>
            <a:ext cx="29718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12B5B1-8196-40F6-9AAF-26AF3CADF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505075"/>
            <a:ext cx="2743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최대 6장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7470A4-3AFC-4C9A-AD36-611931F2D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90850"/>
            <a:ext cx="2667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DEB393-A769-4FD2-B44B-401D7756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76575"/>
            <a:ext cx="2438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캐릭터 (일관성 유지용)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1FABD0-186B-4123-8E64-E67315649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990850"/>
            <a:ext cx="2781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006353-8014-47AA-8397-54D796E33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076575"/>
            <a:ext cx="2552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❌ 없음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B3F932-8945-4129-BD4E-E02FCBAF7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990850"/>
            <a:ext cx="2781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0BB45F-669D-46E2-8194-4D99D15C0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076575"/>
            <a:ext cx="2552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최대 4장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BF3DAB-71B6-43EB-A668-2D698CAF6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990850"/>
            <a:ext cx="29718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E84762-A6F8-4B60-9CAD-B60764150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076575"/>
            <a:ext cx="2743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최대 5장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2D5304-8242-4FC5-B6DD-37E936DF0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62350"/>
            <a:ext cx="2667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6D9619-F44C-4C92-965A-8BC787A8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2438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스타일 레퍼런스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01F2F93-814E-445F-ABB3-64097B71B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562350"/>
            <a:ext cx="2781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FCEDB08-2DBA-4693-9F92-F5E12B4AD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648075"/>
            <a:ext cx="2552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❌ 없음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920506D-2331-4352-83B8-A1BBC1DCE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62350"/>
            <a:ext cx="2781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75CDC7C-BFD7-46CD-B925-BFAFF66C5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648075"/>
            <a:ext cx="2552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❌ 없음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7A08800-A6B0-4EC3-A076-D8CBF80AF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562350"/>
            <a:ext cx="29718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FBC0C9B-2957-4BB0-AE08-4E1204DDE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648075"/>
            <a:ext cx="2743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최대 3장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448E944-0D09-4E85-BAEE-1B7A4BF1C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0"/>
            <a:ext cx="11201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088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스타일 참조 이미지가 무시되면 — 모델 탓입니다. 텍스트 스타일 블록으로 대체하십시오.</a:t>
            </a:r>
          </a:p>
        </p:txBody>
      </p:sp>
    </p:spTree>
    <p:extLst>
      <p:ext uri="{BB962C8B-B14F-4D97-AF65-F5344CB8AC3E}">
        <p14:creationId xmlns:p14="http://schemas.microsoft.com/office/powerpoint/2010/main" val="1017715092"/>
      </p:ext>
    </p:extLst>
  </p:cSld>
  <p:transition spd="slow">
    <p:fade/>
  </p:transition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CEFD07-0066-4A10-BE32-1C7969D7C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7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611535-7410-4480-A5D2-73CFB083A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MODULE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73489F-0EC1-45CB-923D-59715C405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63" b="1" i="0">
                <a:solidFill>
                  <a:srgbClr val="8E8B82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8E8B82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C07F79-A722-4680-9CAE-49097D407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819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713" b="0" i="0">
                <a:solidFill>
                  <a:srgbClr val="A5A099"/>
                </a:solidFill>
                <a:latin typeface="Noto Sans KR"/>
                <a:ea typeface="Noto Sans KR"/>
                <a:cs typeface="Noto Sans KR"/>
              </a:defRPr>
            </a:pPr>
            <a:r>
              <a:rPr sz="713" b="0" i="0">
                <a:solidFill>
                  <a:srgbClr val="A5A099"/>
                </a:solidFill>
                <a:latin typeface="Noto Sans KR"/>
                <a:ea typeface="Noto Sans KR"/>
                <a:cs typeface="Noto Sans KR"/>
              </a:rPr>
              <a:t>춘천시교육지원청 · AI 기반 디지털 교육혁신 전문성 신장 연수 · 3부 이미지·영상 · 2026.8.11.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FD1F20-9B7A-4284-BB0F-01BADC3CE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75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2026년 기준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5018CB-BE21-4A8D-A66B-193A75DC1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11201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0" i="0">
                <a:solidFill>
                  <a:srgbClr val="141413"/>
                </a:solidFill>
                <a:latin typeface="Noto Serif KR"/>
                <a:ea typeface="Noto Serif KR"/>
                <a:cs typeface="Noto Serif KR"/>
              </a:defRPr>
            </a:pPr>
            <a:r>
              <a:rPr sz="2775" b="0" i="0">
                <a:solidFill>
                  <a:srgbClr val="141413"/>
                </a:solidFill>
                <a:latin typeface="Noto Serif KR"/>
                <a:ea typeface="Noto Serif KR"/>
                <a:cs typeface="Noto Serif KR"/>
              </a:rPr>
              <a:t>⚠ 오개념 바로잡기 — "한글보다 영어가 낫다"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CCFC46-032B-438F-9C8D-367145A07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47850"/>
            <a:ext cx="5524500" cy="3848100"/>
          </a:xfrm>
          <a:prstGeom xmlns:a="http://schemas.openxmlformats.org/drawingml/2006/main" prst="roundRect">
            <a:avLst>
              <a:gd name="adj" fmla="val 3465"/>
            </a:avLst>
          </a:prstGeom>
          <a:solidFill xmlns:a="http://schemas.openxmlformats.org/drawingml/2006/main">
            <a:srgbClr val="EFE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6012F9-3797-49B1-BCF8-07284676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47850"/>
            <a:ext cx="55245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DE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BDE5A0-9060-4B0B-B55D-2EE385654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5067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예전에는 맞는 말이었습니다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2B4803-0738-4754-9E18-FDED922FB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506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구 나노바나나의 공식 최적 언어 목록: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35871E-9DA1-432C-A8B2-4983BCBC4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0400"/>
            <a:ext cx="506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영어 · 스페인어(멕시코) · 일본어 · 중국어 · 힌디어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5CD2B8-3110-4609-8DC5-1DAC99B94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506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→ 한국어가 없었습니다.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186D2E-1729-4A68-BDE9-86B22C693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38600"/>
            <a:ext cx="506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027B3E-A09E-481F-A991-F6E368458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506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그래서 "영어로 써야 잘 나온다"는 통설이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9C373C-9694-464A-9A39-7E8E56D34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506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국내 커뮤니티에 굳어졌습니다.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E72A39-B4E0-4172-A0FE-5836A5FA9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47850"/>
            <a:ext cx="5524500" cy="3848100"/>
          </a:xfrm>
          <a:prstGeom xmlns:a="http://schemas.openxmlformats.org/drawingml/2006/main" prst="roundRect">
            <a:avLst>
              <a:gd name="adj" fmla="val 3465"/>
            </a:avLst>
          </a:prstGeom>
          <a:solidFill xmlns:a="http://schemas.openxmlformats.org/drawingml/2006/main">
            <a:srgbClr val="1817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6E85FF-E8DF-427F-8127-D3CA84902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47850"/>
            <a:ext cx="55245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C7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0962AC-15BE-4E63-9049-DE58978CE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95500"/>
            <a:ext cx="5067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rPr>
              <a:t>지금은 근거가 약해졌습니다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562DC6-F763-4FEF-85A0-10D309BC2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81300"/>
            <a:ext cx="506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나노바나나 Pro부터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A472DC-A8A2-4B14-AF4A-1CCCE203A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00400"/>
            <a:ext cx="506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ko-KR 이 공식 최적 언어 목록에 포함됐습니다.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687701-BC71-46B2-8166-61D4D55C5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19500"/>
            <a:ext cx="506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89A98C-2237-475B-86F3-8B5A1E75E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38600"/>
            <a:ext cx="506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→ 프롬프트는 전부 한국어로 씁니다.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88A56B-3697-4B26-92B1-D4124247D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57700"/>
            <a:ext cx="506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297D3A-795E-45EC-9F65-AF39688CB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76800"/>
            <a:ext cx="506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유일한 예외: 음악 생성의 스타일 태그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C11CDF-CCE9-411E-B774-2E9990757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295900"/>
            <a:ext cx="506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(문장이 아니라 태그 목록이라 영어)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23F8AF-7212-4891-9591-0DFFC8823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67400"/>
            <a:ext cx="1120140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E8E0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96A6F9-34EB-4AF9-8910-302AC77F0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91225"/>
            <a:ext cx="1076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한국어로 세 번 시도해도 안 되면 — 그때만 그 단어 하나를 영어로 바꿔 보십시오. 전체를 영어로 쓸 필요는 없습니다.</a:t>
            </a:r>
          </a:p>
        </p:txBody>
      </p:sp>
    </p:spTree>
    <p:extLst>
      <p:ext uri="{BB962C8B-B14F-4D97-AF65-F5344CB8AC3E}">
        <p14:creationId xmlns:p14="http://schemas.microsoft.com/office/powerpoint/2010/main" val="1928420826"/>
      </p:ext>
    </p:extLst>
  </p:cSld>
  <p:transition spd="slow">
    <p:fade/>
  </p:transition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7132411-A75C-4C11-ABBE-6274B413B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7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3AEBC6-5694-4084-B6E0-95D74DBF7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MODULE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0A08AB-B5CA-48F2-B012-032DD5BDA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63" b="1" i="0">
                <a:solidFill>
                  <a:srgbClr val="8E8B82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8E8B82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24EC14-FB96-4BDE-BA41-F2E0C84FD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819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713" b="0" i="0">
                <a:solidFill>
                  <a:srgbClr val="A5A099"/>
                </a:solidFill>
                <a:latin typeface="Noto Sans KR"/>
                <a:ea typeface="Noto Sans KR"/>
                <a:cs typeface="Noto Sans KR"/>
              </a:defRPr>
            </a:pPr>
            <a:r>
              <a:rPr sz="713" b="0" i="0">
                <a:solidFill>
                  <a:srgbClr val="A5A099"/>
                </a:solidFill>
                <a:latin typeface="Noto Sans KR"/>
                <a:ea typeface="Noto Sans KR"/>
                <a:cs typeface="Noto Sans KR"/>
              </a:rPr>
              <a:t>춘천시교육지원청 · AI 기반 디지털 교육혁신 전문성 신장 연수 · 3부 이미지·영상 · 2026.8.11.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E96FA8-B531-48D9-8D2E-A3562045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75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★ 핵심 구조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8BF191-5ADD-43DE-AF8D-C1583C2A5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11201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0" i="0">
                <a:solidFill>
                  <a:srgbClr val="141413"/>
                </a:solidFill>
                <a:latin typeface="Noto Serif KR"/>
                <a:ea typeface="Noto Serif KR"/>
                <a:cs typeface="Noto Serif KR"/>
              </a:defRPr>
            </a:pPr>
            <a:r>
              <a:rPr sz="2775" b="0" i="0">
                <a:solidFill>
                  <a:srgbClr val="141413"/>
                </a:solidFill>
                <a:latin typeface="Noto Serif KR"/>
                <a:ea typeface="Noto Serif KR"/>
                <a:cs typeface="Noto Serif KR"/>
              </a:rPr>
              <a:t>★ 프롬프트 5단계 — 「용도」를 맨 앞에 씁니다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F20EF9-E0DF-4A2B-803A-8FC2EB4C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47850"/>
            <a:ext cx="1238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7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22891E-2D91-4EF0-A469-41E1193C5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09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rPr>
              <a:t>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91F1DD-5FD5-4F9D-B6A4-6A3E9F77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847850"/>
            <a:ext cx="285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7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4AA13F-1C08-4FC3-A54E-9B0BEF56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943100"/>
            <a:ext cx="2628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rPr>
              <a:t>무엇을 쓰나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1F60A2-C235-4F45-ACC3-7F12B385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847850"/>
            <a:ext cx="7105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7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1F8BF8-7BDE-438E-A9C9-453896795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943100"/>
            <a:ext cx="6877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rPr>
              <a:t>예 — 사업 홍보 카드뉴스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EA864C-6680-4A40-AB86-2A7702FE9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38400"/>
            <a:ext cx="1238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5A71ED-A302-4130-B57A-655D8B668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1009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① 용도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5C8889-03CF-49DB-A50F-3046930B3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438400"/>
            <a:ext cx="285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828ECB-E42F-4352-81D7-4EC41FCAD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524125"/>
            <a:ext cx="262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이 그림을 어디에 쓸 것인가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DDAB35-0EB4-481A-9A4F-05648D710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38400"/>
            <a:ext cx="7105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5E6421-161D-4CD6-9A22-2E83A1D2A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524125"/>
            <a:ext cx="6877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교육지원청 사업 홍보 카드뉴스 1장, 인스타그램 게시용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7712B3-04FA-4C30-BF7C-15C501B53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28950"/>
            <a:ext cx="1238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EDFB25-64D7-4ADF-BF6A-56D99A018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1009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② 장면·배경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CB2920-9728-4E0D-8D9C-86EB3302E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28950"/>
            <a:ext cx="285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C22327-FAAB-4E92-857A-5192DB81D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114675"/>
            <a:ext cx="262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어디서, 언제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D114DE-E3CC-480B-9E6F-3E9B1F001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28950"/>
            <a:ext cx="7105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AD4B3E-E9FC-43CC-9C84-63616144F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114675"/>
            <a:ext cx="6877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창가에 햇살이 드는 교실, 늦은 오전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584073-9BA1-413D-8793-3C4084FBE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0"/>
            <a:ext cx="1238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7D44BE-B39E-4162-9C36-A641E16AA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09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③ 주제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9D7A2C-F64A-4248-B281-CDF072BCD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619500"/>
            <a:ext cx="285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6CD776-6DAE-49E5-AFC6-9D42A2CED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705225"/>
            <a:ext cx="262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누가 · 무엇이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501EFC-90FB-4056-9EA4-7FBDAC649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619500"/>
            <a:ext cx="7105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D9D920-7FF6-4FAB-9FCB-2595DCBAD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05225"/>
            <a:ext cx="6877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초등학생 두 명이 수학 문제를 함께 푸는 모습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EC0F20-DBE9-4988-842C-F41B9BD72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10050"/>
            <a:ext cx="1238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15537A-AF3E-467D-956A-EC22BDD7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1009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④ 핵심 디테일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16641A5-D601-4964-8711-35F78B409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210050"/>
            <a:ext cx="285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2CE1E2-9D6A-4296-8361-A1D160B30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295775"/>
            <a:ext cx="262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꼭 지켜야 할 것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B1B0C6D-F9C6-41EC-87A0-0AACC2952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210050"/>
            <a:ext cx="7105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BFAA936-4CEB-48E7-BB63-2964D7839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295775"/>
            <a:ext cx="6877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인물은 하단 왼쪽, 오른쪽 상단은 글자 공간으로 비울 것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E4C13A4-7A8F-4AF8-B48B-F0497332B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00600"/>
            <a:ext cx="1238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E39C6A9-A69B-4A33-A6AF-3AAD8E223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86325"/>
            <a:ext cx="1009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⑤ 제약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51C10C0-4A1C-4B36-9C9B-830BC5414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800600"/>
            <a:ext cx="285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EAB6228-CFBB-493B-AB7E-5A77923B2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886325"/>
            <a:ext cx="262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넣지 말 것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ECB1861-7F75-474B-AFE7-C0C2CF13C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800600"/>
            <a:ext cx="7105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7EB16B5-DB8F-401A-9AB0-433F0561C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886325"/>
            <a:ext cx="6877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글자 없음, 워터마크 없음, 현대식 로고 없음</a:t>
            </a:r>
          </a:p>
        </p:txBody>
      </p:sp>
    </p:spTree>
    <p:extLst>
      <p:ext uri="{BB962C8B-B14F-4D97-AF65-F5344CB8AC3E}">
        <p14:creationId xmlns:p14="http://schemas.microsoft.com/office/powerpoint/2010/main" val="305481144"/>
      </p:ext>
    </p:extLst>
  </p:cSld>
  <p:transition spd="slow">
    <p:fade/>
  </p:transition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06CE3A-5ABA-452D-8E3B-F81664FB0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7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B33120-830F-4EB5-B939-D2D6A6DDD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MODULE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D930A0-5004-4C02-8672-567A8B8FC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63" b="1" i="0">
                <a:solidFill>
                  <a:srgbClr val="8E8B82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8E8B82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C8C52D-0F6C-4CDB-87FE-89A14327A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819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713" b="0" i="0">
                <a:solidFill>
                  <a:srgbClr val="A5A099"/>
                </a:solidFill>
                <a:latin typeface="Noto Sans KR"/>
                <a:ea typeface="Noto Sans KR"/>
                <a:cs typeface="Noto Sans KR"/>
              </a:defRPr>
            </a:pPr>
            <a:r>
              <a:rPr sz="713" b="0" i="0">
                <a:solidFill>
                  <a:srgbClr val="A5A099"/>
                </a:solidFill>
                <a:latin typeface="Noto Sans KR"/>
                <a:ea typeface="Noto Sans KR"/>
                <a:cs typeface="Noto Sans KR"/>
              </a:rPr>
              <a:t>춘천시교육지원청 · AI 기반 디지털 교육혁신 전문성 신장 연수 · 3부 이미지·영상 · 2026.8.11.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4D439F-ADA2-4399-8399-1A5E228EA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75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요청문 하나 차이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709F19-4E09-4D28-AF61-F15E8E086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11201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0" i="0">
                <a:solidFill>
                  <a:srgbClr val="141413"/>
                </a:solidFill>
                <a:latin typeface="Noto Serif KR"/>
                <a:ea typeface="Noto Serif KR"/>
                <a:cs typeface="Noto Serif KR"/>
              </a:defRPr>
            </a:pPr>
            <a:r>
              <a:rPr sz="2775" b="0" i="0">
                <a:solidFill>
                  <a:srgbClr val="141413"/>
                </a:solidFill>
                <a:latin typeface="Noto Serif KR"/>
                <a:ea typeface="Noto Serif KR"/>
                <a:cs typeface="Noto Serif KR"/>
              </a:rPr>
              <a:t>같은 소재, 다른 결과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DCEDED-21B1-4278-9097-7008B4745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66900"/>
            <a:ext cx="5467350" cy="3810000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EFE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574B4F-6FBC-411C-A46C-800155FA6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425" b="1" i="0">
                <a:solidFill>
                  <a:srgbClr val="6C6A64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i="0">
                <a:solidFill>
                  <a:srgbClr val="6C6A64"/>
                </a:solidFill>
                <a:latin typeface="Noto Sans KR"/>
                <a:ea typeface="Noto Sans KR"/>
                <a:cs typeface="Noto Sans KR"/>
              </a:rPr>
              <a:t>초보자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7AF823-FDFC-4201-AA7E-2BFC0F0CB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491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38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— "텀블러 예쁘게 그려 줘"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CD9105-F768-4991-81F7-CA3C2EEC0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491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38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— 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78015E-0451-4B88-A5C8-D6D4A6D7F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491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38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— · 매번 다른 스타일 — 복불복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F5605C-405C-4076-9242-1D7F8856E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491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38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— · 마음에 안 들어도 어디를 고칠지 모름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2BE8BB-0D23-41E2-B18A-1E4428150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491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38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— · 결국 "다시"만 반복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D003D4-F877-4C6A-8A31-50A5F5629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66900"/>
            <a:ext cx="5467350" cy="3810000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1817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9B2FE3-E608-4EF0-A725-D4EC34BFB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764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425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실무자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47B552-979E-42C2-A5E5-170CFE2B8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14600"/>
            <a:ext cx="491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38" b="0" i="0">
                <a:solidFill>
                  <a:srgbClr val="FAF9F5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 i="0">
                <a:solidFill>
                  <a:srgbClr val="FAF9F5"/>
                </a:solidFill>
                <a:latin typeface="Noto Sans KR"/>
                <a:ea typeface="Noto Sans KR"/>
                <a:cs typeface="Noto Sans KR"/>
              </a:rPr>
              <a:t>✦ "이커머스 상세페이지 메인컷용.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472535-B2B0-4EC5-A8A5-9CF674282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09900"/>
            <a:ext cx="491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38" b="0" i="0">
                <a:solidFill>
                  <a:srgbClr val="FAF9F5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 i="0">
                <a:solidFill>
                  <a:srgbClr val="FAF9F5"/>
                </a:solidFill>
                <a:latin typeface="Noto Sans KR"/>
                <a:ea typeface="Noto Sans KR"/>
                <a:cs typeface="Noto Sans KR"/>
              </a:rPr>
              <a:t>✦  민트색 스테인리스 텀블러를 밝은 원목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E2A51E-4E8C-41AB-99BF-5229625F5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05200"/>
            <a:ext cx="491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38" b="0" i="0">
                <a:solidFill>
                  <a:srgbClr val="FAF9F5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 i="0">
                <a:solidFill>
                  <a:srgbClr val="FAF9F5"/>
                </a:solidFill>
                <a:latin typeface="Noto Sans KR"/>
                <a:ea typeface="Noto Sans KR"/>
                <a:cs typeface="Noto Sans KR"/>
              </a:rPr>
              <a:t>✦  테이블 위에, 아침 햇살이 왼쪽에서.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2A7B43-E5D6-4715-9069-1D4A5F9D0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000500"/>
            <a:ext cx="491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38" b="0" i="0">
                <a:solidFill>
                  <a:srgbClr val="FAF9F5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 i="0">
                <a:solidFill>
                  <a:srgbClr val="FAF9F5"/>
                </a:solidFill>
                <a:latin typeface="Noto Sans KR"/>
                <a:ea typeface="Noto Sans KR"/>
                <a:cs typeface="Noto Sans KR"/>
              </a:rPr>
              <a:t>✦  제품 로고가 정면으로 선명하게.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F97C48-7537-4469-9634-001F8AF3D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495800"/>
            <a:ext cx="491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38" b="0" i="0">
                <a:solidFill>
                  <a:srgbClr val="FAF9F5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 i="0">
                <a:solidFill>
                  <a:srgbClr val="FAF9F5"/>
                </a:solidFill>
                <a:latin typeface="Noto Sans KR"/>
                <a:ea typeface="Noto Sans KR"/>
                <a:cs typeface="Noto Sans KR"/>
              </a:rPr>
              <a:t>✦  배경은 흐리게 처리."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BF726B-1071-4FEC-B3CC-7E0A60DF3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991100"/>
            <a:ext cx="491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38" b="0" i="0">
                <a:solidFill>
                  <a:srgbClr val="FAF9F5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 i="0">
                <a:solidFill>
                  <a:srgbClr val="FAF9F5"/>
                </a:solidFill>
                <a:latin typeface="Noto Sans KR"/>
                <a:ea typeface="Noto Sans KR"/>
                <a:cs typeface="Noto Sans KR"/>
              </a:rPr>
              <a:t>✦ → 의도한 컷 + 수정 지시도 통함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E5DD73-853E-4C2C-9449-595E19FB6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86450"/>
            <a:ext cx="1120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238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자세히 쓰는 진짜 이유 — 좋은 결과를 얻기 위해서만이 아니라, 무엇을 고쳐 달라고 할지 알기 위해서입니다.</a:t>
            </a:r>
          </a:p>
        </p:txBody>
      </p:sp>
    </p:spTree>
    <p:extLst>
      <p:ext uri="{BB962C8B-B14F-4D97-AF65-F5344CB8AC3E}">
        <p14:creationId xmlns:p14="http://schemas.microsoft.com/office/powerpoint/2010/main" val="352570347"/>
      </p:ext>
    </p:extLst>
  </p:cSld>
  <p:transition spd="slow">
    <p:fade/>
  </p:transition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1B1C36-018C-4773-83E8-114CF80F7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7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734977-5C52-4CBA-B5AE-9F248E37B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MODULE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0F7C6F-483B-437D-A47A-3BF688BDC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63" b="1" i="0">
                <a:solidFill>
                  <a:srgbClr val="8E8B82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8E8B82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FCFC6D-D971-4B67-AB24-76681AE86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819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713" b="0" i="0">
                <a:solidFill>
                  <a:srgbClr val="A5A099"/>
                </a:solidFill>
                <a:latin typeface="Noto Sans KR"/>
                <a:ea typeface="Noto Sans KR"/>
                <a:cs typeface="Noto Sans KR"/>
              </a:defRPr>
            </a:pPr>
            <a:r>
              <a:rPr sz="713" b="0" i="0">
                <a:solidFill>
                  <a:srgbClr val="A5A099"/>
                </a:solidFill>
                <a:latin typeface="Noto Sans KR"/>
                <a:ea typeface="Noto Sans KR"/>
                <a:cs typeface="Noto Sans KR"/>
              </a:rPr>
              <a:t>춘천시교육지원청 · AI 기반 디지털 교육혁신 전문성 신장 연수 · 3부 이미지·영상 · 2026.8.11.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61D115-84FE-461D-886B-E3A6C6A13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75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공식 근거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2D7694-8964-4E15-89D4-4E59F668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11201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0" i="0">
                <a:solidFill>
                  <a:srgbClr val="141413"/>
                </a:solidFill>
                <a:latin typeface="Noto Serif KR"/>
                <a:ea typeface="Noto Serif KR"/>
                <a:cs typeface="Noto Serif KR"/>
              </a:defRPr>
            </a:pPr>
            <a:r>
              <a:rPr sz="2775" b="0" i="0">
                <a:solidFill>
                  <a:srgbClr val="141413"/>
                </a:solidFill>
                <a:latin typeface="Noto Serif KR"/>
                <a:ea typeface="Noto Serif KR"/>
                <a:cs typeface="Noto Serif KR"/>
              </a:rPr>
              <a:t>Google 공식 4대 원칙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61047B-8165-4C11-A85A-2F0D8E475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240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37AEEB-F9BE-4377-A217-81CF1E6C6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0500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구체적으로 (Be specific) — 주체 · 조명 · 구도에 구체적 디테일을 준다.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2B46C9-2171-4BF6-B64F-284783610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0D6B65-596A-4E41-82C9-DA8CBFD51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0985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긍정형으로 (Use positive framing) — ❌ "차 없음"이 아니라 ✅ "텅 빈 거리"라고 쓴다.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E9F0E4-E27F-4655-A951-929211444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7D446D-E7A1-422F-B642-D192BC592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1470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카메라를 통제 (Control the camera) — "낮은 각도에서", "위에서 내려다보는" 같은 촬영 용어를 쓴다.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45D9C4-BDAB-47C9-BA06-35ADDAE8C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402AE6-4209-4D20-8197-40C3D8EE7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1955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대화하듯 다듬기 (Iterate) — 한 번에 완성하려 하지 말고 이어서 고쳐 나간다.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4CD620-C03F-4C0B-9DFA-FAA92002E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4C0B4C-5435-4BBF-BAE1-9246934A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2440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재질은 이름으로 — "정장 재킷"이 아니라 "네이비 트위드 재킷"이라고 쓴다.</a:t>
            </a:r>
          </a:p>
        </p:txBody>
      </p:sp>
    </p:spTree>
    <p:extLst>
      <p:ext uri="{BB962C8B-B14F-4D97-AF65-F5344CB8AC3E}">
        <p14:creationId xmlns:p14="http://schemas.microsoft.com/office/powerpoint/2010/main" val="1628652235"/>
      </p:ext>
    </p:extLst>
  </p:cSld>
  <p:transition spd="slow">
    <p:fade/>
  </p:transition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D99F4D-B37D-4F08-AB10-122150073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7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2543D6-1A5F-4710-BF33-6948C8A9D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MODULE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DB75BC-2E5A-4584-A5F2-DC93F3F98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63" b="1" i="0">
                <a:solidFill>
                  <a:srgbClr val="8E8B82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8E8B82"/>
                </a:solidFill>
                <a:latin typeface="Noto Sans KR"/>
                <a:ea typeface="Noto Sans KR"/>
                <a:cs typeface="Noto Sans K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86B02D-90A1-44ED-AA5C-74C0F443F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819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713" b="0" i="0">
                <a:solidFill>
                  <a:srgbClr val="A5A099"/>
                </a:solidFill>
                <a:latin typeface="Noto Sans KR"/>
                <a:ea typeface="Noto Sans KR"/>
                <a:cs typeface="Noto Sans KR"/>
              </a:defRPr>
            </a:pPr>
            <a:r>
              <a:rPr sz="713" b="0" i="0">
                <a:solidFill>
                  <a:srgbClr val="A5A099"/>
                </a:solidFill>
                <a:latin typeface="Noto Sans KR"/>
                <a:ea typeface="Noto Sans KR"/>
                <a:cs typeface="Noto Sans KR"/>
              </a:rPr>
              <a:t>춘천시교육지원청 · AI 기반 디지털 교육혁신 전문성 신장 연수 · 3부 이미지·영상 · 2026.8.11.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8BDA10-3349-40A0-9C8D-CB27DE042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1085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38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요소 정리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fd5a4b90dc45e9"/>
          <a:stretch xmlns:a="http://schemas.openxmlformats.org/drawingml/2006/main"/>
        </p:blipFill>
        <p:spPr>
          <a:xfrm xmlns:a="http://schemas.openxmlformats.org/drawingml/2006/main">
            <a:off x="1120245" y="742950"/>
            <a:ext cx="9951509" cy="5600700"/>
          </a:xfrm>
          <a:prstGeom xmlns:a="http://schemas.openxmlformats.org/drawingml/2006/main" prst="roundRect">
            <a:avLst>
              <a:gd name="adj" fmla="val 2041"/>
            </a:avLst>
          </a:prstGeom>
        </p:spPr>
      </p:pic>
    </p:spTree>
    <p:extLst>
      <p:ext uri="{BB962C8B-B14F-4D97-AF65-F5344CB8AC3E}">
        <p14:creationId xmlns:p14="http://schemas.microsoft.com/office/powerpoint/2010/main" val="1336605302"/>
      </p:ext>
    </p:extLst>
  </p:cSld>
  <p:transition spd="slow">
    <p:fade/>
  </p:transition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817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1280B4-AFBA-425B-BC9D-A0FC25CB1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7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796052-15F7-4F36-A403-25AEAF86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63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MODULE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53635C-5090-4846-B509-74BCCE9CD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63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8C2860-B2DA-4B72-A7D0-7AD0558FE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819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713" b="0" i="0">
                <a:solidFill>
                  <a:srgbClr val="7C766E"/>
                </a:solidFill>
                <a:latin typeface="Noto Sans KR"/>
                <a:ea typeface="Noto Sans KR"/>
                <a:cs typeface="Noto Sans KR"/>
              </a:defRPr>
            </a:pPr>
            <a:r>
              <a:rPr sz="713" b="0" i="0">
                <a:solidFill>
                  <a:srgbClr val="7C766E"/>
                </a:solidFill>
                <a:latin typeface="Noto Sans KR"/>
                <a:ea typeface="Noto Sans KR"/>
                <a:cs typeface="Noto Sans KR"/>
              </a:rPr>
              <a:t>춘천시교육지원청 · AI 기반 디지털 교육혁신 전문성 신장 연수 · 3부 이미지·영상 · 2026.8.11.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4DE509-F69A-4D13-A72D-AB625A4AE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1085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38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복사용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DF0A21-302F-49A2-A077-B7787521C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1201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 i="0">
                <a:solidFill>
                  <a:srgbClr val="FAF9F5"/>
                </a:solidFill>
                <a:latin typeface="Noto Serif KR"/>
                <a:ea typeface="Noto Serif KR"/>
                <a:cs typeface="Noto Serif KR"/>
              </a:defRPr>
            </a:pPr>
            <a:r>
              <a:rPr sz="2100" b="0" i="0">
                <a:solidFill>
                  <a:srgbClr val="FAF9F5"/>
                </a:solidFill>
                <a:latin typeface="Noto Serif KR"/>
                <a:ea typeface="Noto Serif KR"/>
                <a:cs typeface="Noto Serif KR"/>
              </a:rPr>
              <a:t>카드뉴스 프롬프트 — 그대로 복사해 쓰십시오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111EE5-7797-440C-8E61-E7DA6000B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19200"/>
            <a:ext cx="11353800" cy="4762500"/>
          </a:xfrm>
          <a:prstGeom xmlns:a="http://schemas.openxmlformats.org/drawingml/2006/main" prst="roundRect">
            <a:avLst>
              <a:gd name="adj" fmla="val 2800"/>
            </a:avLst>
          </a:prstGeom>
          <a:solidFill xmlns:a="http://schemas.openxmlformats.org/drawingml/2006/main">
            <a:srgbClr val="252320"/>
          </a:solidFill>
          <a:ln xmlns:a="http://schemas.openxmlformats.org/drawingml/2006/main" w="19050">
            <a:solidFill>
              <a:srgbClr val="CC785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867450-9E18-454F-B123-E2C1BD94C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858500" cy="434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38" b="0" i="0">
                <a:solidFill>
                  <a:srgbClr val="FAF9F5"/>
                </a:solidFill>
                <a:latin typeface="Consolas"/>
                <a:ea typeface="Consolas"/>
                <a:cs typeface="Consolas"/>
              </a:defRPr>
            </a:pPr>
            <a:r>
              <a:rPr sz="1238" b="0" i="0">
                <a:solidFill>
                  <a:srgbClr val="FAF9F5"/>
                </a:solidFill>
                <a:latin typeface="Consolas"/>
                <a:ea typeface="Consolas"/>
                <a:cs typeface="Consolas"/>
              </a:rPr>
              <a:t>[용도] 교육지원청 사업 홍보 카드뉴스 1장 (인스타그램 게시용)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38" b="0" i="0">
                <a:solidFill>
                  <a:srgbClr val="FAF9F5"/>
                </a:solidFill>
                <a:latin typeface="Consolas"/>
                <a:ea typeface="Consolas"/>
                <a:cs typeface="Consolas"/>
              </a:defRPr>
            </a:pPr>
            <a:r>
              <a:rPr sz="1238" b="0" i="0">
                <a:solidFill>
                  <a:srgbClr val="FAF9F5"/>
                </a:solidFill>
                <a:latin typeface="Consolas"/>
                <a:ea typeface="Consolas"/>
                <a:cs typeface="Consolas"/>
              </a:rPr>
              <a:t>[비율] 4:5 세로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38" b="0" i="0">
                <a:solidFill>
                  <a:srgbClr val="FAF9F5"/>
                </a:solidFill>
                <a:latin typeface="Consolas"/>
                <a:ea typeface="Consolas"/>
                <a:cs typeface="Consolas"/>
              </a:defRPr>
            </a:pPr>
            <a:r>
              <a:rPr sz="1238" b="0" i="0">
                <a:solidFill>
                  <a:srgbClr val="FAF9F5"/>
                </a:solidFill>
                <a:latin typeface="Consolas"/>
                <a:ea typeface="Consolas"/>
                <a:cs typeface="Consolas"/>
              </a:rPr>
              <a:t>[스타일] 밝고 따뜻한 플랫 벡터 일러스트. 종이 질감 없이 깔끔한 면 처리.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38" b="0" i="0">
                <a:solidFill>
                  <a:srgbClr val="FAF9F5"/>
                </a:solidFill>
                <a:latin typeface="Consolas"/>
                <a:ea typeface="Consolas"/>
                <a:cs typeface="Consolas"/>
              </a:defRPr>
            </a:pPr>
            <a:r>
              <a:rPr sz="1238" b="0" i="0">
                <a:solidFill>
                  <a:srgbClr val="FAF9F5"/>
                </a:solidFill>
                <a:latin typeface="Consolas"/>
                <a:ea typeface="Consolas"/>
                <a:cs typeface="Consolas"/>
              </a:rPr>
              <a:t>        최대 6색, 채도는 낮게.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38" b="0" i="0">
                <a:solidFill>
                  <a:srgbClr val="FAF9F5"/>
                </a:solidFill>
                <a:latin typeface="Consolas"/>
                <a:ea typeface="Consolas"/>
                <a:cs typeface="Consolas"/>
              </a:defRPr>
            </a:pPr>
            <a:r>
              <a:rPr sz="1238" b="0" i="0">
                <a:solidFill>
                  <a:srgbClr val="FAF9F5"/>
                </a:solidFill>
                <a:latin typeface="Consolas"/>
                <a:ea typeface="Consolas"/>
                <a:cs typeface="Consolas"/>
              </a:rPr>
              <a:t>[주체] 초등학생 두 명이 수학 문제를 함께 풀며 웃고 있는 모습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38" b="0" i="0">
                <a:solidFill>
                  <a:srgbClr val="FAF9F5"/>
                </a:solidFill>
                <a:latin typeface="Consolas"/>
                <a:ea typeface="Consolas"/>
                <a:cs typeface="Consolas"/>
              </a:defRPr>
            </a:pPr>
            <a:r>
              <a:rPr sz="1238" b="0" i="0">
                <a:solidFill>
                  <a:srgbClr val="FAF9F5"/>
                </a:solidFill>
                <a:latin typeface="Consolas"/>
                <a:ea typeface="Consolas"/>
                <a:cs typeface="Consolas"/>
              </a:rPr>
              <a:t>[배경] 창가에 햇살이 드는 교실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38" b="0" i="0">
                <a:solidFill>
                  <a:srgbClr val="FAF9F5"/>
                </a:solidFill>
                <a:latin typeface="Consolas"/>
                <a:ea typeface="Consolas"/>
                <a:cs typeface="Consolas"/>
              </a:defRPr>
            </a:pPr>
            <a:r>
              <a:rPr sz="1238" b="0" i="0">
                <a:solidFill>
                  <a:srgbClr val="FAF9F5"/>
                </a:solidFill>
                <a:latin typeface="Consolas"/>
                <a:ea typeface="Consolas"/>
                <a:cs typeface="Consolas"/>
              </a:rPr>
              <a:t>[행동] 서로 풀이를 설명하고 확인하는 장면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38" b="0" i="0">
                <a:solidFill>
                  <a:srgbClr val="FAF9F5"/>
                </a:solidFill>
                <a:latin typeface="Consolas"/>
                <a:ea typeface="Consolas"/>
                <a:cs typeface="Consolas"/>
              </a:defRPr>
            </a:pPr>
            <a:r>
              <a:rPr sz="1238" b="0" i="0">
                <a:solidFill>
                  <a:srgbClr val="FAF9F5"/>
                </a:solidFill>
                <a:latin typeface="Consolas"/>
                <a:ea typeface="Consolas"/>
                <a:cs typeface="Consolas"/>
              </a:rPr>
              <a:t>[구도] 인물은 하단 왼쪽, 오른쪽 상단에 텍스트 공간을 넓게 비워 둘 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38" b="0" i="0">
                <a:solidFill>
                  <a:srgbClr val="FAF9F5"/>
                </a:solidFill>
                <a:latin typeface="Consolas"/>
                <a:ea typeface="Consolas"/>
                <a:cs typeface="Consolas"/>
              </a:defRPr>
            </a:pPr>
            <a:r>
              <a:rPr sz="1238" b="0" i="0">
                <a:solidFill>
                  <a:srgbClr val="FAF9F5"/>
                </a:solidFill>
                <a:latin typeface="Consolas"/>
                <a:ea typeface="Consolas"/>
                <a:cs typeface="Consolas"/>
              </a:rPr>
              <a:t>[텍스트] 다음 문구를 정확히 그대로 넣어 주세요.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38" b="0" i="0">
                <a:solidFill>
                  <a:srgbClr val="FAF9F5"/>
                </a:solidFill>
                <a:latin typeface="Consolas"/>
                <a:ea typeface="Consolas"/>
                <a:cs typeface="Consolas"/>
              </a:defRPr>
            </a:pPr>
            <a:r>
              <a:rPr sz="1238" b="0" i="0">
                <a:solidFill>
                  <a:srgbClr val="FAF9F5"/>
                </a:solidFill>
                <a:latin typeface="Consolas"/>
                <a:ea typeface="Consolas"/>
                <a:cs typeface="Consolas"/>
              </a:rPr>
              <a:t> - 큰 제목 : "수수춘천"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38" b="0" i="0">
                <a:solidFill>
                  <a:srgbClr val="FAF9F5"/>
                </a:solidFill>
                <a:latin typeface="Consolas"/>
                <a:ea typeface="Consolas"/>
                <a:cs typeface="Consolas"/>
              </a:defRPr>
            </a:pPr>
            <a:r>
              <a:rPr sz="1238" b="0" i="0">
                <a:solidFill>
                  <a:srgbClr val="FAF9F5"/>
                </a:solidFill>
                <a:latin typeface="Consolas"/>
                <a:ea typeface="Consolas"/>
                <a:cs typeface="Consolas"/>
              </a:rPr>
              <a:t> - 부제   : "수학이 으뜸인 춘천교육"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38" b="0" i="0">
                <a:solidFill>
                  <a:srgbClr val="FAF9F5"/>
                </a:solidFill>
                <a:latin typeface="Consolas"/>
                <a:ea typeface="Consolas"/>
                <a:cs typeface="Consolas"/>
              </a:defRPr>
            </a:pPr>
            <a:r>
              <a:rPr sz="1238" b="0" i="0">
                <a:solidFill>
                  <a:srgbClr val="FAF9F5"/>
                </a:solidFill>
                <a:latin typeface="Consolas"/>
                <a:ea typeface="Consolas"/>
                <a:cs typeface="Consolas"/>
              </a:rPr>
              <a:t>굵은 고딕체로 읽기 쉽게 배치해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38" b="0" i="0">
                <a:solidFill>
                  <a:srgbClr val="FAF9F5"/>
                </a:solidFill>
                <a:latin typeface="Consolas"/>
                <a:ea typeface="Consolas"/>
                <a:cs typeface="Consolas"/>
              </a:defRPr>
            </a:pPr>
            <a:r>
              <a:rPr sz="1238" b="0" i="0">
                <a:solidFill>
                  <a:srgbClr val="FAF9F5"/>
                </a:solidFill>
                <a:latin typeface="Consolas"/>
                <a:ea typeface="Consolas"/>
                <a:cs typeface="Consolas"/>
              </a:rPr>
              <a:t>[제약] 워터마크·서명 넣지 말 것. 현대식 로고 넣지 말 것.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D5120F-39D1-4D5E-8359-AD0733705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96000"/>
            <a:ext cx="11201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088" b="0" i="0">
                <a:solidFill>
                  <a:srgbClr val="8E8B82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 i="0">
                <a:solidFill>
                  <a:srgbClr val="8E8B82"/>
                </a:solidFill>
                <a:latin typeface="Noto Sans KR"/>
                <a:ea typeface="Noto Sans KR"/>
                <a:cs typeface="Noto Sans KR"/>
              </a:rPr>
              <a:t>한글이 깨지면 — Redo with Pro, 그래도 안 되면 글자 없이 만들고 파워포인트에서 얹으십시오.</a:t>
            </a:r>
          </a:p>
        </p:txBody>
      </p:sp>
    </p:spTree>
    <p:extLst>
      <p:ext uri="{BB962C8B-B14F-4D97-AF65-F5344CB8AC3E}">
        <p14:creationId xmlns:p14="http://schemas.microsoft.com/office/powerpoint/2010/main" val="1398541307"/>
      </p:ext>
    </p:extLst>
  </p:cSld>
  <p:transition spd="slow">
    <p:fade/>
  </p:transition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817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5648AC-1356-4857-84DC-6345A86A5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7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A46C2A-C512-4666-94AA-5A5B93799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63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MODULE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36CC45-57FE-4509-B591-181CC5878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63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39A182-D263-4C37-81EA-9347EFC29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819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713" b="0" i="0">
                <a:solidFill>
                  <a:srgbClr val="7C766E"/>
                </a:solidFill>
                <a:latin typeface="Noto Sans KR"/>
                <a:ea typeface="Noto Sans KR"/>
                <a:cs typeface="Noto Sans KR"/>
              </a:defRPr>
            </a:pPr>
            <a:r>
              <a:rPr sz="713" b="0" i="0">
                <a:solidFill>
                  <a:srgbClr val="7C766E"/>
                </a:solidFill>
                <a:latin typeface="Noto Sans KR"/>
                <a:ea typeface="Noto Sans KR"/>
                <a:cs typeface="Noto Sans KR"/>
              </a:rPr>
              <a:t>춘천시교육지원청 · AI 기반 디지털 교육혁신 전문성 신장 연수 · 3부 이미지·영상 · 2026.8.11.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64A29F-390D-4FE6-8656-C69D9A3B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088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CONSISTENCY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C92177-7797-47AB-A327-FAB0E9B7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33550"/>
            <a:ext cx="106680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900" b="0" i="0">
                <a:solidFill>
                  <a:srgbClr val="FAF9F5"/>
                </a:solidFill>
                <a:latin typeface="Noto Serif KR"/>
                <a:ea typeface="Noto Serif KR"/>
                <a:cs typeface="Noto Serif KR"/>
              </a:defRPr>
            </a:pPr>
            <a:r>
              <a:rPr sz="3900" b="0" i="0">
                <a:solidFill>
                  <a:srgbClr val="FAF9F5"/>
                </a:solidFill>
                <a:latin typeface="Noto Serif KR"/>
                <a:ea typeface="Noto Serif KR"/>
                <a:cs typeface="Noto Serif KR"/>
              </a:rPr>
              <a:t>고정할 것과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3900" b="0" i="0">
                <a:solidFill>
                  <a:srgbClr val="FAF9F5"/>
                </a:solidFill>
                <a:latin typeface="Noto Serif KR"/>
                <a:ea typeface="Noto Serif KR"/>
                <a:cs typeface="Noto Serif KR"/>
              </a:defRPr>
            </a:pPr>
            <a:r>
              <a:rPr sz="3900" b="0" i="0">
                <a:solidFill>
                  <a:srgbClr val="FAF9F5"/>
                </a:solidFill>
                <a:latin typeface="Noto Serif KR"/>
                <a:ea typeface="Noto Serif KR"/>
                <a:cs typeface="Noto Serif KR"/>
              </a:rPr>
              <a:t>바꿀 것을 나눕니다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6BD6FA-C28C-45C6-BBCD-7AB2877D1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48100"/>
            <a:ext cx="8953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725" b="0" i="0">
                <a:solidFill>
                  <a:srgbClr val="CFC8B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 i="0">
                <a:solidFill>
                  <a:srgbClr val="CFC8BF"/>
                </a:solidFill>
                <a:latin typeface="Noto Sans KR"/>
                <a:ea typeface="Noto Sans KR"/>
                <a:cs typeface="Noto Sans KR"/>
              </a:rPr>
              <a:t>그림체와 인물 서술은 복사·붙여넣기. 배경·행동·구도만 갈아끼웁니다.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925604-57A6-4F8B-85BF-DBBDE566A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95900"/>
            <a:ext cx="18478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785C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95750166"/>
      </p:ext>
    </p:extLst>
  </p:cSld>
  <p:transition spd="slow">
    <p:push dir="u"/>
  </p:transition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07EEA9-6A0E-4B33-95EC-30F6B9C2D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7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EF19DE-0610-464E-ABAD-F0CEE51FD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MODULE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20EA84-1128-4F19-A670-2796E70B7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63" b="1" i="0">
                <a:solidFill>
                  <a:srgbClr val="8E8B82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8E8B82"/>
                </a:solidFill>
                <a:latin typeface="Noto Sans KR"/>
                <a:ea typeface="Noto Sans KR"/>
                <a:cs typeface="Noto Sans KR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C64D3E-6FB5-4D65-9F49-68FA1300F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819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713" b="0" i="0">
                <a:solidFill>
                  <a:srgbClr val="A5A099"/>
                </a:solidFill>
                <a:latin typeface="Noto Sans KR"/>
                <a:ea typeface="Noto Sans KR"/>
                <a:cs typeface="Noto Sans KR"/>
              </a:defRPr>
            </a:pPr>
            <a:r>
              <a:rPr sz="713" b="0" i="0">
                <a:solidFill>
                  <a:srgbClr val="A5A099"/>
                </a:solidFill>
                <a:latin typeface="Noto Sans KR"/>
                <a:ea typeface="Noto Sans KR"/>
                <a:cs typeface="Noto Sans KR"/>
              </a:rPr>
              <a:t>춘천시교육지원청 · AI 기반 디지털 교육혁신 전문성 신장 연수 · 3부 이미지·영상 · 2026.8.11.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DD7B38-0353-4928-B882-2F1575A30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75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일관성의 원리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D6AD2B-208B-47C6-8230-2CD61D976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11201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0" i="0">
                <a:solidFill>
                  <a:srgbClr val="141413"/>
                </a:solidFill>
                <a:latin typeface="Noto Serif KR"/>
                <a:ea typeface="Noto Serif KR"/>
                <a:cs typeface="Noto Serif KR"/>
              </a:defRPr>
            </a:pPr>
            <a:r>
              <a:rPr sz="2775" b="0" i="0">
                <a:solidFill>
                  <a:srgbClr val="141413"/>
                </a:solidFill>
                <a:latin typeface="Noto Serif KR"/>
                <a:ea typeface="Noto Serif KR"/>
                <a:cs typeface="Noto Serif KR"/>
              </a:rPr>
              <a:t>다섯 요소를 둘로 나눕니다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E4170A-FF1B-4EB3-A62F-F6F17CD77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47850"/>
            <a:ext cx="5524500" cy="3848100"/>
          </a:xfrm>
          <a:prstGeom xmlns:a="http://schemas.openxmlformats.org/drawingml/2006/main" prst="roundRect">
            <a:avLst>
              <a:gd name="adj" fmla="val 3465"/>
            </a:avLst>
          </a:prstGeom>
          <a:solidFill xmlns:a="http://schemas.openxmlformats.org/drawingml/2006/main">
            <a:srgbClr val="EFE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B3B8A7-DC5E-4F9E-985D-AA1C14000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47850"/>
            <a:ext cx="55245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DE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B28071-AE9E-4433-9EC4-D9E6366EA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5067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고정 — 한 글자도 바꾸지 않는다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20A255-C35B-402A-BD17-F205D664F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506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① 그림체 (Style)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D5859C-5BDA-4520-8EDC-4BC8B5C82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0400"/>
            <a:ext cx="506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   선·색·질감·조명·화면비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C3E7DE-FD06-40C0-9217-ED0BB592D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506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EFB970-84CD-4ACD-8301-0DAFF98FD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38600"/>
            <a:ext cx="506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② 인물·피사체 (Subject)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DC9FB0-06F5-4FDF-B9D5-261178F5E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506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   얼굴·머리·옷·소품·인상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A3C41D-01ED-4961-B73B-A7B6AA14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506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6648A8-16FF-4DAE-9193-2CBF011EF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95900"/>
            <a:ext cx="506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→ 메모장에 저장해 두고 매 컷 복사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02597B-D7EB-4B94-AFCD-EE8B4816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47850"/>
            <a:ext cx="5524500" cy="3848100"/>
          </a:xfrm>
          <a:prstGeom xmlns:a="http://schemas.openxmlformats.org/drawingml/2006/main" prst="roundRect">
            <a:avLst>
              <a:gd name="adj" fmla="val 3465"/>
            </a:avLst>
          </a:prstGeom>
          <a:solidFill xmlns:a="http://schemas.openxmlformats.org/drawingml/2006/main">
            <a:srgbClr val="1817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C8D25B-AE62-4BAC-86A2-781AB058F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47850"/>
            <a:ext cx="55245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C7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041D94-6FBD-4DC7-B7D7-61C8DB23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95500"/>
            <a:ext cx="5067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rPr>
              <a:t>교체 — 컷마다 이것만 바꾼다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474CA6-5016-4ABD-A43E-5A1EB8FA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81300"/>
            <a:ext cx="506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③ 배경 (Setting)  — 어디서, 언제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B2E7C6-544E-4F51-ABAB-A59BFCFAF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00400"/>
            <a:ext cx="506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④ 행동 (Action)   — 무엇을 하는가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3229F7-C9C2-4D1F-B5F4-95870F2D4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19500"/>
            <a:ext cx="506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⑤ 구도 (Composition) — 어떻게 잡히는가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EFB885-3DCE-4F1E-939B-BB53777A9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38600"/>
            <a:ext cx="506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AC1675-50DF-4EEE-B954-0CF4D9765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57700"/>
            <a:ext cx="506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인물이 안 나오는 컷(풍경·사물)에서는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474C2D-3FA0-4CE8-978C-E83504AAE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76800"/>
            <a:ext cx="506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인물 블록만 빼면 됩니다.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A70F4F-1416-4449-8C12-220794728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67400"/>
            <a:ext cx="1120140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E8E0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F0C92D-D5DC-419C-9B83-AEB72BCA4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91225"/>
            <a:ext cx="1076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이 한 문장이 스토리보드 일관성의 전부입니다 — "그림체와 인물은 복사, 배경·행동·구도만 교체."</a:t>
            </a:r>
          </a:p>
        </p:txBody>
      </p:sp>
    </p:spTree>
    <p:extLst>
      <p:ext uri="{BB962C8B-B14F-4D97-AF65-F5344CB8AC3E}">
        <p14:creationId xmlns:p14="http://schemas.microsoft.com/office/powerpoint/2010/main" val="2074076285"/>
      </p:ext>
    </p:extLst>
  </p:cSld>
  <p:transition spd="slow">
    <p:fade/>
  </p:transition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817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AD4D6C-3FD2-4A2F-8262-5DA78349F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7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8A2DCD-038A-4AC8-A8BF-CFE2F9AC5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63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MODULE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21B6B2-A74D-4EE1-93BE-1D89B4E3A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63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CB04E1-A21A-440C-8AD9-26C4C5C46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819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713" b="0" i="0">
                <a:solidFill>
                  <a:srgbClr val="7C766E"/>
                </a:solidFill>
                <a:latin typeface="Noto Sans KR"/>
                <a:ea typeface="Noto Sans KR"/>
                <a:cs typeface="Noto Sans KR"/>
              </a:defRPr>
            </a:pPr>
            <a:r>
              <a:rPr sz="713" b="0" i="0">
                <a:solidFill>
                  <a:srgbClr val="7C766E"/>
                </a:solidFill>
                <a:latin typeface="Noto Sans KR"/>
                <a:ea typeface="Noto Sans KR"/>
                <a:cs typeface="Noto Sans KR"/>
              </a:rPr>
              <a:t>춘천시교육지원청 · AI 기반 디지털 교육혁신 전문성 신장 연수 · 3부 이미지·영상 · 2026.8.11.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CC951E-7FF1-44F2-93F1-B650D3020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1085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38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메모장에 저장할 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C95F4D-115E-43D6-B4D2-05570CB70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1201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 i="0">
                <a:solidFill>
                  <a:srgbClr val="FAF9F5"/>
                </a:solidFill>
                <a:latin typeface="Noto Serif KR"/>
                <a:ea typeface="Noto Serif KR"/>
                <a:cs typeface="Noto Serif KR"/>
              </a:defRPr>
            </a:pPr>
            <a:r>
              <a:rPr sz="2100" b="0" i="0">
                <a:solidFill>
                  <a:srgbClr val="FAF9F5"/>
                </a:solidFill>
                <a:latin typeface="Noto Serif KR"/>
                <a:ea typeface="Noto Serif KR"/>
                <a:cs typeface="Noto Serif KR"/>
              </a:rPr>
              <a:t>스타일 블록 — 오늘 만들 가장 중요한 파일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805BED-B34E-4C53-A546-CCB3B8918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19200"/>
            <a:ext cx="11353800" cy="4762500"/>
          </a:xfrm>
          <a:prstGeom xmlns:a="http://schemas.openxmlformats.org/drawingml/2006/main" prst="roundRect">
            <a:avLst>
              <a:gd name="adj" fmla="val 2800"/>
            </a:avLst>
          </a:prstGeom>
          <a:solidFill xmlns:a="http://schemas.openxmlformats.org/drawingml/2006/main">
            <a:srgbClr val="252320"/>
          </a:solidFill>
          <a:ln xmlns:a="http://schemas.openxmlformats.org/drawingml/2006/main" w="19050">
            <a:solidFill>
              <a:srgbClr val="CC785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A69A2F-8303-4288-8E09-FE9419840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858500" cy="434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rPr>
              <a:t>━━━━━ 스타일 고정 (컷이 바뀌어도 한 글자도 바꾸지 않는다) ━━━━━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rPr>
              <a:t>그림체 : 밝고 따뜻한 플랫 벡터 일러스트.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rPr>
              <a:t>        굵고 깔끔한 짙은 갈색 외곽선, 부드러운 2단계 그림자(그라데이션 없음).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rPr>
              <a:t>색·빛  : 따뜻한 황토색·짙은 소나무 초록·차분한 벽돌 빨강 중심.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rPr>
              <a:t>        최대 6색, 채도 낮게. 빛은 화면 왼쪽 위에서 부드럽게.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rPr>
              <a:t>질감   : 화면 전체에 은은한 종이 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rPr>
              <a:t>화면   : 4:5 세로, 오른쪽 상단에 글자 여백.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rPr>
              <a:t>        글자·워터마크·서명 넣지 말 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rPr>
              <a:t>━━━━━ 스타일 고정 끝 ━━━━━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rPr>
              <a:t>※ 위 내용은 예시입니다. 원하는 스타일을 한 번 정한 뒤,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rPr>
              <a:t>  메모장에 저장해 두고 매 컷 맨 앞에 붙여 넣습니다.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1269B2-EC8E-4BDA-9AF9-5A489A567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96000"/>
            <a:ext cx="11201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088" b="0" i="0">
                <a:solidFill>
                  <a:srgbClr val="8E8B82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 i="0">
                <a:solidFill>
                  <a:srgbClr val="8E8B82"/>
                </a:solidFill>
                <a:latin typeface="Noto Sans KR"/>
                <a:ea typeface="Noto Sans KR"/>
                <a:cs typeface="Noto Sans KR"/>
              </a:rPr>
              <a:t>매 컷 이 블록을 맨 앞에 붙이고, 그 아래에 배경·행동·구도만 바꿔 씁니다.</a:t>
            </a:r>
          </a:p>
        </p:txBody>
      </p:sp>
    </p:spTree>
    <p:extLst>
      <p:ext uri="{BB962C8B-B14F-4D97-AF65-F5344CB8AC3E}">
        <p14:creationId xmlns:p14="http://schemas.microsoft.com/office/powerpoint/2010/main" val="1471605622"/>
      </p:ext>
    </p:extLst>
  </p:cSld>
  <p:transition spd="slow">
    <p:fade/>
  </p:transition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8EDF19-DE5A-4E0D-832C-664708F5A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7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12FCD2-5E15-4B11-8BD9-5AC0FD304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MODULE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BED068-4026-46E1-8DFC-5EE512AB7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63" b="1" i="0">
                <a:solidFill>
                  <a:srgbClr val="8E8B82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8E8B82"/>
                </a:solidFill>
                <a:latin typeface="Noto Sans KR"/>
                <a:ea typeface="Noto Sans KR"/>
                <a:cs typeface="Noto Sans KR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F877C2-6ACB-49F2-BE1A-C8D8FD519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819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713" b="0" i="0">
                <a:solidFill>
                  <a:srgbClr val="A5A099"/>
                </a:solidFill>
                <a:latin typeface="Noto Sans KR"/>
                <a:ea typeface="Noto Sans KR"/>
                <a:cs typeface="Noto Sans KR"/>
              </a:defRPr>
            </a:pPr>
            <a:r>
              <a:rPr sz="713" b="0" i="0">
                <a:solidFill>
                  <a:srgbClr val="A5A099"/>
                </a:solidFill>
                <a:latin typeface="Noto Sans KR"/>
                <a:ea typeface="Noto Sans KR"/>
                <a:cs typeface="Noto Sans KR"/>
              </a:rPr>
              <a:t>춘천시교육지원청 · AI 기반 디지털 교육혁신 전문성 신장 연수 · 3부 이미지·영상 · 2026.8.11.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4E6F26-33E2-4F21-92A9-D239D5F15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75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★ 핵심 5원칙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4FFC96-4241-43CE-91A7-520F19746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11201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0" i="0">
                <a:solidFill>
                  <a:srgbClr val="141413"/>
                </a:solidFill>
                <a:latin typeface="Noto Serif KR"/>
                <a:ea typeface="Noto Serif KR"/>
                <a:cs typeface="Noto Serif KR"/>
              </a:defRPr>
            </a:pPr>
            <a:r>
              <a:rPr sz="2775" b="0" i="0">
                <a:solidFill>
                  <a:srgbClr val="141413"/>
                </a:solidFill>
                <a:latin typeface="Noto Serif KR"/>
                <a:ea typeface="Noto Serif KR"/>
                <a:cs typeface="Noto Serif KR"/>
              </a:rPr>
              <a:t>캐릭터 일관성 5원칙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A4A3EB-0CBE-4E7D-9E9E-C2917BC0A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240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64181A-33A9-4437-81A5-11AC4286A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0500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① 이름을 붙인다 — "그 아이"가 아니라 "덕쇠". 고유명사가 없으면 매번 다른 사람이 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E829CB-635B-412E-B4B7-D8D24077D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908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D122F9-7978-43A4-B05E-3D2A2C106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717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② 같은 인물을 매번 다른 말로 묘사하지 않는다 — 인물 블록을 한 글자도 안 바꾸고 복사합니다.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352C91-2B36-445F-8EC5-EF7C6D106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575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FD917C-7F0F-4758-BDB0-29931A5C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3850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③ 기준 이미지(캐릭터 시트)를 먼저 만든다 — 이후 모든 컷이 이 한 장을 참조합니다.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30B4A0-109C-4F46-9B04-FEDC386CF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243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E7935F-1DF0-4842-956D-B53044061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052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④ 한 장면을 고칠 땐 이어서, 다음 장면은 기준 그림부터 — 일관성은 대화 기억이 아니라 기준 그림이 지킵니다.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110026-FB27-484D-A578-C0FDA743E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910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256BE7-0460-46BD-9907-51A8021EA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7200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⑤ 부분 수정 시 "나머지는 그대로"를 반드시 붙인다 — 이 문장이 빠지면 전체를 다시 그립니다.</a:t>
            </a:r>
          </a:p>
        </p:txBody>
      </p:sp>
    </p:spTree>
    <p:extLst>
      <p:ext uri="{BB962C8B-B14F-4D97-AF65-F5344CB8AC3E}">
        <p14:creationId xmlns:p14="http://schemas.microsoft.com/office/powerpoint/2010/main" val="1924895420"/>
      </p:ext>
    </p:extLst>
  </p:cSld>
  <p:transition spd="slow">
    <p:fade/>
  </p:transition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4C04EF-311B-4B36-8DDE-F83D309EA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7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E0604E-9BC0-40B0-89A0-1F56C5066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MODULE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B6BE4E-4EAE-4342-BA6D-EBA373C98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63" b="1" i="0">
                <a:solidFill>
                  <a:srgbClr val="8E8B82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8E8B82"/>
                </a:solidFill>
                <a:latin typeface="Noto Sans KR"/>
                <a:ea typeface="Noto Sans KR"/>
                <a:cs typeface="Noto Sans KR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9FFC1F-C021-4747-833F-EE5AB3E73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819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713" b="0" i="0">
                <a:solidFill>
                  <a:srgbClr val="A5A099"/>
                </a:solidFill>
                <a:latin typeface="Noto Sans KR"/>
                <a:ea typeface="Noto Sans KR"/>
                <a:cs typeface="Noto Sans KR"/>
              </a:defRPr>
            </a:pPr>
            <a:r>
              <a:rPr sz="713" b="0" i="0">
                <a:solidFill>
                  <a:srgbClr val="A5A099"/>
                </a:solidFill>
                <a:latin typeface="Noto Sans KR"/>
                <a:ea typeface="Noto Sans KR"/>
                <a:cs typeface="Noto Sans KR"/>
              </a:rPr>
              <a:t>춘천시교육지원청 · AI 기반 디지털 교육혁신 전문성 신장 연수 · 3부 이미지·영상 · 2026.8.11.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18E581-0804-47B9-BD1C-1A3A7C7C1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75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기준 이미지 조건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10A364-6F1A-41DB-A4D5-F0E399897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11201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0" i="0">
                <a:solidFill>
                  <a:srgbClr val="141413"/>
                </a:solidFill>
                <a:latin typeface="Noto Serif KR"/>
                <a:ea typeface="Noto Serif KR"/>
                <a:cs typeface="Noto Serif KR"/>
              </a:defRPr>
            </a:pPr>
            <a:r>
              <a:rPr sz="2775" b="0" i="0">
                <a:solidFill>
                  <a:srgbClr val="141413"/>
                </a:solidFill>
                <a:latin typeface="Noto Serif KR"/>
                <a:ea typeface="Noto Serif KR"/>
                <a:cs typeface="Noto Serif KR"/>
              </a:rPr>
              <a:t>기준 이미지가 갖춰야 할 네 가지 조건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27CB34-5CC2-40F7-ABD9-0B95048A6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47850"/>
            <a:ext cx="3810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7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18F1B3-17BA-48C3-8DE8-8DAD5B430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581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rPr>
              <a:t>조건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1A61BB-9BAE-404C-87CF-B74863B41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47850"/>
            <a:ext cx="6438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7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E31031-4EDC-4C3A-AA8F-CF13065A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6210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rPr>
              <a:t>왜 필요한가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D7ACBA-57CA-4728-BB71-A29D94557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0"/>
            <a:ext cx="3810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2B81A9-7D4D-49FA-8ECE-C476EA90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62225"/>
            <a:ext cx="3581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38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전신 (머리부터 발끝까지)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6B1E68-C7C6-449B-BFD5-D18AA1533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76500"/>
            <a:ext cx="6438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85778C-DB37-4ACE-B942-76204EF39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62225"/>
            <a:ext cx="6210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38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이후 다양한 포즈·장면에서 전체 비율을 참조할 수 있음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4818E4-7F44-47CF-AF64-FEC49EE30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05150"/>
            <a:ext cx="3810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6C79F3-B634-48FA-BECF-742B20D6A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3581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38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정면 응시, 중립적인 서 있는 포즈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427072-9674-40F3-B35D-005064C70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05150"/>
            <a:ext cx="6438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A20FCA-CF35-40C2-922A-225B5AEA3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90875"/>
            <a:ext cx="6210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38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AI가 기본 외형을 가장 명확하게 파악함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839D12-E664-41DF-92B5-6EB01258A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33800"/>
            <a:ext cx="3810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D36A98-C8F5-4B99-9224-400240E8F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9525"/>
            <a:ext cx="3581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38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흰색 또는 단색 배경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8AD700-9A35-4152-8D0C-E92CBEA73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33800"/>
            <a:ext cx="6438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1AB078-BC24-48AD-938E-2858F61B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819525"/>
            <a:ext cx="6210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38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실루엣이 명확해야 이후 장면에서 정확히 인식됨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EE993C-4436-4FFE-BE22-18C9D6A6B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62450"/>
            <a:ext cx="3810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BD450D-D75E-48DF-A688-4029736C1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3581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38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중립적인 표정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BD4DE9-F47E-421C-AEEA-BBEB57E4D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362450"/>
            <a:ext cx="6438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88319F-FA08-40F4-9E31-0635BD1B9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448175"/>
            <a:ext cx="6210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38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이후 장면에서 다양한 감정으로 변형하기 쉬움</a:t>
            </a:r>
          </a:p>
        </p:txBody>
      </p:sp>
    </p:spTree>
    <p:extLst>
      <p:ext uri="{BB962C8B-B14F-4D97-AF65-F5344CB8AC3E}">
        <p14:creationId xmlns:p14="http://schemas.microsoft.com/office/powerpoint/2010/main" val="1992266918"/>
      </p:ext>
    </p:extLst>
  </p:cSld>
  <p:transition spd="slow">
    <p:fade/>
  </p:transition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817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8A39D1-8359-4151-9F94-1949A381A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7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3B4DEB-4196-40B6-AF65-3F2E8B34F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63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MODULE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17C686-D60C-4165-8C9E-6FE048199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63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9DE467-C095-483E-B32D-55A6CAB98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819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713" b="0" i="0">
                <a:solidFill>
                  <a:srgbClr val="7C766E"/>
                </a:solidFill>
                <a:latin typeface="Noto Sans KR"/>
                <a:ea typeface="Noto Sans KR"/>
                <a:cs typeface="Noto Sans KR"/>
              </a:defRPr>
            </a:pPr>
            <a:r>
              <a:rPr sz="713" b="0" i="0">
                <a:solidFill>
                  <a:srgbClr val="7C766E"/>
                </a:solidFill>
                <a:latin typeface="Noto Sans KR"/>
                <a:ea typeface="Noto Sans KR"/>
                <a:cs typeface="Noto Sans KR"/>
              </a:rPr>
              <a:t>춘천시교육지원청 · AI 기반 디지털 교육혁신 전문성 신장 연수 · 3부 이미지·영상 · 2026.8.11.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C5D293-7DFD-4FEE-9DD5-944319D78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1085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38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실전 절차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B651D1-8298-4ED4-9B43-6BA327AC2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1201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 i="0">
                <a:solidFill>
                  <a:srgbClr val="FAF9F5"/>
                </a:solidFill>
                <a:latin typeface="Noto Serif KR"/>
                <a:ea typeface="Noto Serif KR"/>
                <a:cs typeface="Noto Serif KR"/>
              </a:defRPr>
            </a:pPr>
            <a:r>
              <a:rPr sz="2100" b="0" i="0">
                <a:solidFill>
                  <a:srgbClr val="FAF9F5"/>
                </a:solidFill>
                <a:latin typeface="Noto Serif KR"/>
                <a:ea typeface="Noto Serif KR"/>
                <a:cs typeface="Noto Serif KR"/>
              </a:rPr>
              <a:t>기준 이미지 만들기 — 후보 그리드로 좁혀 갑니다 (3단계)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9141E4-C0A8-4538-BFA6-47D9AA236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19200"/>
            <a:ext cx="11353800" cy="4762500"/>
          </a:xfrm>
          <a:prstGeom xmlns:a="http://schemas.openxmlformats.org/drawingml/2006/main" prst="roundRect">
            <a:avLst>
              <a:gd name="adj" fmla="val 2800"/>
            </a:avLst>
          </a:prstGeom>
          <a:solidFill xmlns:a="http://schemas.openxmlformats.org/drawingml/2006/main">
            <a:srgbClr val="252320"/>
          </a:solidFill>
          <a:ln xmlns:a="http://schemas.openxmlformats.org/drawingml/2006/main" w="19050">
            <a:solidFill>
              <a:srgbClr val="CC785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86FF58-9AE4-47CB-ADEB-4DAAFB276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858500" cy="434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rPr>
              <a:t>━━━ 1단계 · 후보 6개를 한 번에 ━━━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rPr>
              <a:t>첨부한 스타일 기준 이미지의 그림체로,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rPr>
              <a:t>[인물 이름] 캐릭터 기준 이미지를 만들어 줘.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rPr>
              <a:t>서로 확연히 다른 후보 6개로, 2x3 그리드로 보여 줘.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rPr>
              <a:t>전신이 다 보이게, 정면을 보고 선 중립 포즈로, 흰 배경에 중립 표정으로.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rPr>
              <a:t>각 칸 위쪽 모서리에 1~6 번호를 작게 붙여 줘. 번호는 몸에 겹치지 않게.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rPr>
              <a:t>━━━ 2단계 · 하나 고른 뒤 더 좁히기 ━━━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rPr>
              <a:t>[인물 이름] 후보 중 3번이 마음에 들어.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rPr>
              <a:t>3번을 기준으로, 같은 캐릭터를 유지하면서 세부만 조금씩 다른 후보 3개를 만들어 줘.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rPr>
              <a:t>(얼굴·체형·의상은 그대로, 디테일만 변형)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rPr>
              <a:t>━━━ 3단계 · 번호 없는 단일 고화질로 확정 ━━━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rPr>
              <a:t>[고른 칸을 잘라 첨부]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rPr>
              <a:t>이 캐릭터를 번호·라벨 없이 단일 고화질 이미지로 다시 그려 줘.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rPr>
              <a:t>전신, 정면, 중립 포즈, 흰 배경, 중립 표정.</a:t>
            </a:r>
          </a:p>
        </p:txBody>
      </p:sp>
    </p:spTree>
    <p:extLst>
      <p:ext uri="{BB962C8B-B14F-4D97-AF65-F5344CB8AC3E}">
        <p14:creationId xmlns:p14="http://schemas.microsoft.com/office/powerpoint/2010/main" val="1350534056"/>
      </p:ext>
    </p:extLst>
  </p:cSld>
  <p:transition spd="slow">
    <p:fade/>
  </p:transition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17DF4A-FA2C-49DF-9599-AAEB72879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7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BBB7D4-E91F-4FE0-9091-2BC30634C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MODULE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72541E-97EB-4A54-9082-B5D851112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63" b="1" i="0">
                <a:solidFill>
                  <a:srgbClr val="8E8B82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8E8B82"/>
                </a:solidFill>
                <a:latin typeface="Noto Sans KR"/>
                <a:ea typeface="Noto Sans KR"/>
                <a:cs typeface="Noto Sans KR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9580D5-CFE9-4E53-A1F7-80DCD7CA7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819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713" b="0" i="0">
                <a:solidFill>
                  <a:srgbClr val="A5A099"/>
                </a:solidFill>
                <a:latin typeface="Noto Sans KR"/>
                <a:ea typeface="Noto Sans KR"/>
                <a:cs typeface="Noto Sans KR"/>
              </a:defRPr>
            </a:pPr>
            <a:r>
              <a:rPr sz="713" b="0" i="0">
                <a:solidFill>
                  <a:srgbClr val="A5A099"/>
                </a:solidFill>
                <a:latin typeface="Noto Sans KR"/>
                <a:ea typeface="Noto Sans KR"/>
                <a:cs typeface="Noto Sans KR"/>
              </a:rPr>
              <a:t>춘천시교육지원청 · AI 기반 디지털 교육혁신 전문성 신장 연수 · 3부 이미지·영상 · 2026.8.11.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363FBE-24F5-4D46-97E5-1A86A5D6C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75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고칠 때 지킬 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1F3B5F-E00A-46AA-BA3C-070C701EA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11201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0" i="0">
                <a:solidFill>
                  <a:srgbClr val="141413"/>
                </a:solidFill>
                <a:latin typeface="Noto Serif KR"/>
                <a:ea typeface="Noto Serif KR"/>
                <a:cs typeface="Noto Serif KR"/>
              </a:defRPr>
            </a:pPr>
            <a:r>
              <a:rPr sz="2775" b="0" i="0">
                <a:solidFill>
                  <a:srgbClr val="141413"/>
                </a:solidFill>
                <a:latin typeface="Noto Serif KR"/>
                <a:ea typeface="Noto Serif KR"/>
                <a:cs typeface="Noto Serif KR"/>
              </a:rPr>
              <a:t>부분 수정 5원칙 + ★ 3회 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D38970-22C3-4408-AEFD-BA562C98F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47850"/>
            <a:ext cx="5524500" cy="3848100"/>
          </a:xfrm>
          <a:prstGeom xmlns:a="http://schemas.openxmlformats.org/drawingml/2006/main" prst="roundRect">
            <a:avLst>
              <a:gd name="adj" fmla="val 3465"/>
            </a:avLst>
          </a:prstGeom>
          <a:solidFill xmlns:a="http://schemas.openxmlformats.org/drawingml/2006/main">
            <a:srgbClr val="EFE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5D603C-DCF0-41A9-894C-2376C0028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47850"/>
            <a:ext cx="55245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DE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3D525F-5D2D-40A7-9E5A-47FF7D458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5067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수정의 5원칙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E7FD20-D903-41CF-BB94-DDF749889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506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① "X만 바꾸고 나머지는 전부 유지해"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816BCE-F5E7-46F4-9C73-B71697FD7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506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   이 문장이 빠지면 전체를 다시 그립니다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97CD74-2191-414C-97CC-14AE61D54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05200"/>
            <a:ext cx="506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② 유지 목록을 매번 다시 씁니다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0E14D3-CFD0-4107-9E06-979833F86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506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   "앞서 말했듯이"는 통하지 않습니다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06E612-E1FF-40ED-93C2-5635C2E8D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506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③ 한 번에 하나만 — 옷·배경·표정을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D519A1-E2AA-439A-8013-5E8F81760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91050"/>
            <a:ext cx="506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   동시에 바꾸면 거의 항상 망가집니다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053553-442F-4139-BD13-67A17F575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506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④ 수정 뒤 반드시 전체를 원본과 비교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835F1E-6E86-4F70-A4D2-23E427EBD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14950"/>
            <a:ext cx="506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⑤ 막히면 마지막으로 좋았던 버전으로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AEAC55-269E-47D8-8909-570F594A2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47850"/>
            <a:ext cx="5524500" cy="3848100"/>
          </a:xfrm>
          <a:prstGeom xmlns:a="http://schemas.openxmlformats.org/drawingml/2006/main" prst="roundRect">
            <a:avLst>
              <a:gd name="adj" fmla="val 3465"/>
            </a:avLst>
          </a:prstGeom>
          <a:solidFill xmlns:a="http://schemas.openxmlformats.org/drawingml/2006/main">
            <a:srgbClr val="1817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74A5E0-7B3C-41AD-ADAD-DE592F289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47850"/>
            <a:ext cx="55245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C7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969303-76C8-4E5F-8268-7FEF7F0D1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95500"/>
            <a:ext cx="5067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rPr>
              <a:t>★ 3회 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46B340-6898-40CA-83AB-E42E2929F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81300"/>
            <a:ext cx="506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한 대화 안에서 세 번째 수정에 이르면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F1462A-DCCF-4F07-ACC3-C18DF284D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43250"/>
            <a:ext cx="506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프롬프트 준수도와 색·조명이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7BF2DC-4CCA-48B4-9380-398D1301A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05200"/>
            <a:ext cx="506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오히려 나빠지는 경향이 있습니다.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D39350-C2F2-45E8-B3C9-DCE939B94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67150"/>
            <a:ext cx="506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7C3EF4-285E-4C87-80D8-A08E153C5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506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→ 세 번 고쳤는데도 안 되면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CA1148-8BB3-4D77-90DB-FF9657693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91050"/>
            <a:ext cx="506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   더 고치지 말고,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79D0E0-1099-4667-AF1D-C98F08216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953000"/>
            <a:ext cx="506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   가장 잘 나온 결과물과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E13B90-91AF-40E2-877E-C354FDA38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314950"/>
            <a:ext cx="506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   다듬은 설명을 들고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8C9ED5-0988-461A-9178-32E28ABA9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676900"/>
            <a:ext cx="506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   새 대화를 여십시오.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73D620-7A0C-41D5-8E35-20812AFFC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67400"/>
            <a:ext cx="1120140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E8E0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6ECB4C-EA8D-47D1-8304-A3CDBD85E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91225"/>
            <a:ext cx="1076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세 번 고쳐서 안 되면 프롬프트를 더 붙이지 말고, 접근을 바꾸거나 새 대화를 여십시오.</a:t>
            </a:r>
          </a:p>
        </p:txBody>
      </p:sp>
    </p:spTree>
    <p:extLst>
      <p:ext uri="{BB962C8B-B14F-4D97-AF65-F5344CB8AC3E}">
        <p14:creationId xmlns:p14="http://schemas.microsoft.com/office/powerpoint/2010/main" val="2104627894"/>
      </p:ext>
    </p:extLst>
  </p:cSld>
  <p:transition spd="slow">
    <p:fade/>
  </p:transition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0612632-C663-4593-BC08-C81A26186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7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35E2BE-D103-4BD9-8AF7-BF6D7148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MODULE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985FF8-162C-4115-B305-0A7DD29F9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63" b="1" i="0">
                <a:solidFill>
                  <a:srgbClr val="8E8B82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8E8B82"/>
                </a:solidFill>
                <a:latin typeface="Noto Sans KR"/>
                <a:ea typeface="Noto Sans KR"/>
                <a:cs typeface="Noto Sans KR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C26791-A891-4146-B4C3-4D4A473FB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819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713" b="0" i="0">
                <a:solidFill>
                  <a:srgbClr val="A5A099"/>
                </a:solidFill>
                <a:latin typeface="Noto Sans KR"/>
                <a:ea typeface="Noto Sans KR"/>
                <a:cs typeface="Noto Sans KR"/>
              </a:defRPr>
            </a:pPr>
            <a:r>
              <a:rPr sz="713" b="0" i="0">
                <a:solidFill>
                  <a:srgbClr val="A5A099"/>
                </a:solidFill>
                <a:latin typeface="Noto Sans KR"/>
                <a:ea typeface="Noto Sans KR"/>
                <a:cs typeface="Noto Sans KR"/>
              </a:rPr>
              <a:t>춘천시교육지원청 · AI 기반 디지털 교육혁신 전문성 신장 연수 · 3부 이미지·영상 · 2026.8.11.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5788BC-C497-4D95-8AFD-FF3D006D8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75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막혔을 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FB1233-80F5-4EED-8AF5-5D611F909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11201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0" i="0">
                <a:solidFill>
                  <a:srgbClr val="141413"/>
                </a:solidFill>
                <a:latin typeface="Noto Serif KR"/>
                <a:ea typeface="Noto Serif KR"/>
                <a:cs typeface="Noto Serif KR"/>
              </a:defRPr>
            </a:pPr>
            <a:r>
              <a:rPr sz="2775" b="0" i="0">
                <a:solidFill>
                  <a:srgbClr val="141413"/>
                </a:solidFill>
                <a:latin typeface="Noto Serif KR"/>
                <a:ea typeface="Noto Serif KR"/>
                <a:cs typeface="Noto Serif KR"/>
              </a:rPr>
              <a:t>실패 증상별 처방전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2FA98B-3E66-48EC-8623-462A4B0CA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47850"/>
            <a:ext cx="323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7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2F3BB4-B99C-4A52-AE68-7B58C0BA5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00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rPr>
              <a:t>증상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9AF6EC-EE28-4A8A-9538-22856FEE3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847850"/>
            <a:ext cx="304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7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2A2824-1138-4D0C-A6FB-E87852099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943100"/>
            <a:ext cx="281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rPr>
              <a:t>원인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43EE09-FF9E-4356-8E42-67B221EEE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847850"/>
            <a:ext cx="3962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7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DA4E7E-D003-4E57-B700-F832ADA47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943100"/>
            <a:ext cx="3733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rPr>
              <a:t>처방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4907CF-E378-4ECC-B377-3583A20C1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323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3716E9-A71F-45B2-9BD7-2C5749BD9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3009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63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장면마다 얼굴이 조금씩 달라진다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534C1C-CA58-4DD7-A54F-AD0B0FD95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362200"/>
            <a:ext cx="304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89E041-8497-4FFF-A3F7-5BFFEC977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447925"/>
            <a:ext cx="2819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63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매 턴 새로 생성되며 오차 누적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888F6C-7D09-4532-95B8-B767EF395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362200"/>
            <a:ext cx="3962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109CE0-AAA1-4B60-90E7-61F0DE2E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447925"/>
            <a:ext cx="3733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63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캐릭터 시트 재첨부 + 컷 단위로 대화 끊기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A24FD9-BA0A-46AF-BBBD-EAC351C83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76550"/>
            <a:ext cx="323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118922-C241-441B-8C2F-ED8EAAC6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62275"/>
            <a:ext cx="3009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63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캐릭터가 아예 다른 사람이 됐다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53F07F-2780-41E7-8C6A-3431A747E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76550"/>
            <a:ext cx="304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3FDC65-E2DA-4F02-BD7A-34ACC4DEF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962275"/>
            <a:ext cx="2819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63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참조 이미지와 텍스트가 연결 안 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553E0B-5E21-41B0-B6CF-E20114A41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3962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8AA840-B7A2-470B-9860-3F27B8F3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62275"/>
            <a:ext cx="3733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63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고유 이름 부여. "그 아이"라고 쓰지 말 것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615F67-CDFE-4B8E-ABC7-08EC53C9C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90900"/>
            <a:ext cx="323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8AFB74-6659-452A-8D1E-D7EFD1211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3009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63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옷·소품이 계속 바뀐다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69408A-1D5A-4FFC-82C5-59A34C9FA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390900"/>
            <a:ext cx="304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6D6277-6815-4323-8EC5-120740211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476625"/>
            <a:ext cx="2819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63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서술이 장면마다 미묘하게 달라짐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589F51-7AD0-4268-9BBF-41F7A32D6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390900"/>
            <a:ext cx="3962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15C81A-822F-460B-91A5-DD7C8C2D8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76625"/>
            <a:ext cx="3733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63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캐릭터 블록을 한 글자도 안 바꾸고 복붙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C9D9946-B60B-4E50-8617-3479DAB55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05250"/>
            <a:ext cx="323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57883B-18A3-4219-BA43-91E53833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0975"/>
            <a:ext cx="3009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63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편집했더니 배경까지 바뀐다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9C609AA-C2DE-4D1B-875E-BC4C33ADC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05250"/>
            <a:ext cx="304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5A45AB-E635-4050-8BED-69035E6F9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990975"/>
            <a:ext cx="2819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63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유지 대상을 안 적음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A8FA1C5-C426-4A77-AAAF-EC0EFAA3D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05250"/>
            <a:ext cx="3962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2592EBC-0612-4B17-A2E8-FAA3F6B93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90975"/>
            <a:ext cx="3733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63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"나머지는 전부 그대로"를 항상 붙이기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5645163-F78C-4646-AA7B-80A8E7257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19600"/>
            <a:ext cx="323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F0E6C31-744C-4CA0-BCC8-EFE03AD96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3009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63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이미지가 아니라 글로 답한다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D0A4697-FFDA-41C2-92D8-AD010F6EA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419600"/>
            <a:ext cx="304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F8A9714-AC9C-44A7-86C0-605547972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505325"/>
            <a:ext cx="2819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63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프롬프트가 모호함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2D948E7-8A9D-48DC-8227-FEB9AE9A6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419600"/>
            <a:ext cx="3962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12BC357-B042-4FD0-A087-AF10C8673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505325"/>
            <a:ext cx="3733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63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"~ 이미지를 만들어 줘"로 시작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3A53484-B492-43E6-84FB-73C809992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33950"/>
            <a:ext cx="323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AFB98F3-4E60-4EEC-8A5B-0F3CDCD81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9675"/>
            <a:ext cx="3009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63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요청한 개수만큼 안 나온다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65E7120-28E8-4C85-ADF9-CE5EFD9CD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33950"/>
            <a:ext cx="304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89285AC-BF14-4FE5-B8B0-E891E8F9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019675"/>
            <a:ext cx="2819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63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모델 특성 (공식 명시)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8C92CD1-D5CE-4B6A-AE52-A0354AC9E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933950"/>
            <a:ext cx="3962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54675B2-6D60-41FE-A881-A52E923FD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019675"/>
            <a:ext cx="3733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63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여러 장 요구하지 말고 한 장씩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A9581BE-E096-4360-998F-A2E46C2C1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48300"/>
            <a:ext cx="323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EFC0B2B-477B-4137-AEC3-4335D5BD2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34025"/>
            <a:ext cx="3009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63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스타일 참조 이미지가 무시된다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A1931EC-45A8-4461-B90F-CE6FF109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448300"/>
            <a:ext cx="304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BCDCA93-08AC-4F6E-B282-FC32AAA08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534025"/>
            <a:ext cx="2819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63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기본 모델에 스타일 슬롯이 없음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EA2ECBB-276A-4CFA-A516-459B77140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448300"/>
            <a:ext cx="3962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588EF88-C70E-4041-BC25-2C849A5DE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534025"/>
            <a:ext cx="3733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63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Pro로 전환하거나 텍스트 스타일 블록으로 대체</a:t>
            </a:r>
          </a:p>
        </p:txBody>
      </p:sp>
    </p:spTree>
    <p:extLst>
      <p:ext uri="{BB962C8B-B14F-4D97-AF65-F5344CB8AC3E}">
        <p14:creationId xmlns:p14="http://schemas.microsoft.com/office/powerpoint/2010/main" val="873059633"/>
      </p:ext>
    </p:extLst>
  </p:cSld>
  <p:transition spd="slow">
    <p:fade/>
  </p:transition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817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CD85E0-87D0-4B12-B66D-77FE06601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7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915A8C-03A1-410E-879A-4F5A362FE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63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MODULE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E51E6A-507F-4DA0-841D-5668F4320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63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E83AF9-379F-466D-A581-670B349B1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819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713" b="0" i="0">
                <a:solidFill>
                  <a:srgbClr val="7C766E"/>
                </a:solidFill>
                <a:latin typeface="Noto Sans KR"/>
                <a:ea typeface="Noto Sans KR"/>
                <a:cs typeface="Noto Sans KR"/>
              </a:defRPr>
            </a:pPr>
            <a:r>
              <a:rPr sz="713" b="0" i="0">
                <a:solidFill>
                  <a:srgbClr val="7C766E"/>
                </a:solidFill>
                <a:latin typeface="Noto Sans KR"/>
                <a:ea typeface="Noto Sans KR"/>
                <a:cs typeface="Noto Sans KR"/>
              </a:rPr>
              <a:t>춘천시교육지원청 · AI 기반 디지털 교육혁신 전문성 신장 연수 · 3부 이미지·영상 · 2026.8.11.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2A9226-C348-48A9-8C15-195EB27C2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1085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38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복사용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69ECE0-2A96-40E5-B545-AE0EDCD93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1201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 i="0">
                <a:solidFill>
                  <a:srgbClr val="FAF9F5"/>
                </a:solidFill>
                <a:latin typeface="Noto Serif KR"/>
                <a:ea typeface="Noto Serif KR"/>
                <a:cs typeface="Noto Serif KR"/>
              </a:defRPr>
            </a:pPr>
            <a:r>
              <a:rPr sz="2100" b="0" i="0">
                <a:solidFill>
                  <a:srgbClr val="FAF9F5"/>
                </a:solidFill>
                <a:latin typeface="Noto Serif KR"/>
                <a:ea typeface="Noto Serif KR"/>
                <a:cs typeface="Noto Serif KR"/>
              </a:rPr>
              <a:t>다중 이미지 참조 — 라벨을 붙여야 섞이지 않습니다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0415BD-C5B6-439C-8422-88CCAA6FF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19200"/>
            <a:ext cx="11353800" cy="4762500"/>
          </a:xfrm>
          <a:prstGeom xmlns:a="http://schemas.openxmlformats.org/drawingml/2006/main" prst="roundRect">
            <a:avLst>
              <a:gd name="adj" fmla="val 2800"/>
            </a:avLst>
          </a:prstGeom>
          <a:solidFill xmlns:a="http://schemas.openxmlformats.org/drawingml/2006/main">
            <a:srgbClr val="252320"/>
          </a:solidFill>
          <a:ln xmlns:a="http://schemas.openxmlformats.org/drawingml/2006/main" w="19050">
            <a:solidFill>
              <a:srgbClr val="CC785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DDD127-776D-4A26-8DED-860D77C32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858500" cy="434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rPr>
              <a:t>━━━ 패턴 A · 역할 라벨 (가장 안전) ━━━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rPr>
              <a:t>첫 번째 이미지는 [인물 기준]이야.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rPr>
              <a:t>두 번째 이미지는 [그림체 기준]이야.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rPr>
              <a:t>세 번째 이미지는 [장소 기준]이야.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rPr>
              <a:t>[인물 기준]의 인물이 [장소 기준]의 건물 앞에 서 있는 새 이미지를 만들어 줘.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rPr>
              <a:t>그림체는 [그림체 기준]을 그대로 따라 줘.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rPr>
              <a:t>━━━ 패턴 B · 고유명사 라벨 (여러 컷을 만들 때 최적) ━━━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rPr>
              <a:t>[1번 이미지] = 지우 (인물)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rPr>
              <a:t>[2번 이미지] = 민호 (인물)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rPr>
              <a:t>[3번 이미지] = 교실 (장소)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rPr>
              <a:t>[4번 이미지] = 그림체 기준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rPr>
              <a:t>컷 5 : 오후 햇살이 드는 교실에서 지우와 민호가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rPr>
              <a:t>      함께 문제를 풀며 서로를 바라본다.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rPr>
              <a:t>지우와 민호는 각자의 기준 이미지와 똑같이 유지해 줘.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rPr>
              <a:t>그림체는 [그림체 기준]을 그대로 따라 줘.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rPr>
              <a:t>가슴 위가 보이는 크기, 눈높이 각도, 4:5.</a:t>
            </a:r>
          </a:p>
        </p:txBody>
      </p:sp>
    </p:spTree>
    <p:extLst>
      <p:ext uri="{BB962C8B-B14F-4D97-AF65-F5344CB8AC3E}">
        <p14:creationId xmlns:p14="http://schemas.microsoft.com/office/powerpoint/2010/main" val="1274200471"/>
      </p:ext>
    </p:extLst>
  </p:cSld>
  <p:transition spd="slow">
    <p:fade/>
  </p:transition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B32C8CC-7676-4D62-B95A-8F54E7B7E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7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2AAF11-C204-4C72-9D5E-AC5731AF7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MODULE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5CF4F2-EEBA-48DB-BB15-968EA7C22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63" b="1" i="0">
                <a:solidFill>
                  <a:srgbClr val="8E8B82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8E8B82"/>
                </a:solidFill>
                <a:latin typeface="Noto Sans KR"/>
                <a:ea typeface="Noto Sans KR"/>
                <a:cs typeface="Noto Sans KR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620AD2-3748-4EAD-ACA0-7F1D99D62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819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713" b="0" i="0">
                <a:solidFill>
                  <a:srgbClr val="A5A099"/>
                </a:solidFill>
                <a:latin typeface="Noto Sans KR"/>
                <a:ea typeface="Noto Sans KR"/>
                <a:cs typeface="Noto Sans KR"/>
              </a:defRPr>
            </a:pPr>
            <a:r>
              <a:rPr sz="713" b="0" i="0">
                <a:solidFill>
                  <a:srgbClr val="A5A099"/>
                </a:solidFill>
                <a:latin typeface="Noto Sans KR"/>
                <a:ea typeface="Noto Sans KR"/>
                <a:cs typeface="Noto Sans KR"/>
              </a:rPr>
              <a:t>춘천시교육지원청 · AI 기반 디지털 교육혁신 전문성 신장 연수 · 3부 이미지·영상 · 2026.8.11.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059E75-27A4-44AF-A264-BC4BC3C11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75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참조 이미지 배분 전략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89B5AB-6824-4BAC-B0F2-ADD325772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11201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0" i="0">
                <a:solidFill>
                  <a:srgbClr val="141413"/>
                </a:solidFill>
                <a:latin typeface="Noto Serif KR"/>
                <a:ea typeface="Noto Serif KR"/>
                <a:cs typeface="Noto Serif KR"/>
              </a:defRPr>
            </a:pPr>
            <a:r>
              <a:rPr sz="2775" b="0" i="0">
                <a:solidFill>
                  <a:srgbClr val="141413"/>
                </a:solidFill>
                <a:latin typeface="Noto Serif KR"/>
                <a:ea typeface="Noto Serif KR"/>
                <a:cs typeface="Noto Serif KR"/>
              </a:rPr>
              <a:t>"많이 넣을수록 좋다"는 착각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42C32E-4384-4790-BD5C-E0630DA68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47850"/>
            <a:ext cx="5524500" cy="3848100"/>
          </a:xfrm>
          <a:prstGeom xmlns:a="http://schemas.openxmlformats.org/drawingml/2006/main" prst="roundRect">
            <a:avLst>
              <a:gd name="adj" fmla="val 3465"/>
            </a:avLst>
          </a:prstGeom>
          <a:solidFill xmlns:a="http://schemas.openxmlformats.org/drawingml/2006/main">
            <a:srgbClr val="EFE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45EBF1-9E43-42E8-8C31-D0A0D505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47850"/>
            <a:ext cx="55245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DE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2F8917-69CB-4F02-8B20-0E22CC07D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5067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상황별 권장 장수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DDD152-3F11-4610-865C-EFB92A401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506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1인 스토리보드 8컷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974556-A09F-4B25-A2D0-476817D8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506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  캐릭터 1~2장 + 스타일 1장 + 소품 0~2장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FFA456-7BD0-44CA-AA8E-C98E7F2BE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05200"/>
            <a:ext cx="506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  = 총 3~5장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8C7E62-4187-4CF7-8DDC-30DFFCA3D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506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E6B7E5-E1A3-463F-81A4-143DE4C3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506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2인 대화 장면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849DEF-BD55-4FC5-8870-1EE52030D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91050"/>
            <a:ext cx="506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  캐릭터 2장 + 스타일 1장 = 총 3장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FD7B2F-6F3C-4E66-B7CD-9E214F37C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506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FF6B27-C3DF-44D2-B8B7-2A8B6586E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14950"/>
            <a:ext cx="506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지역 배경 시리즈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B16543-3378-42CA-B98F-889602C09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76900"/>
            <a:ext cx="506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  스타일 1장 + 실제 장소 사진 2~3장 = 총 3~4장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388C05-F2C9-4B23-9055-EDCDCF828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47850"/>
            <a:ext cx="5524500" cy="3848100"/>
          </a:xfrm>
          <a:prstGeom xmlns:a="http://schemas.openxmlformats.org/drawingml/2006/main" prst="roundRect">
            <a:avLst>
              <a:gd name="adj" fmla="val 3465"/>
            </a:avLst>
          </a:prstGeom>
          <a:solidFill xmlns:a="http://schemas.openxmlformats.org/drawingml/2006/main">
            <a:srgbClr val="1817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66207F-11F5-4395-87A5-788F892C8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47850"/>
            <a:ext cx="55245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C7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0C9EC8-1E7D-409D-8E33-BA3AA2705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95500"/>
            <a:ext cx="5067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rPr>
              <a:t>핵심 원칙 3가지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E0C9BE-7C8F-44D8-80CD-67308A05A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81300"/>
            <a:ext cx="506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① 꼭 지켜야 할 것만 넣는다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A71051-9CC6-4B2B-AE85-51F6159C7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43250"/>
            <a:ext cx="506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   캐릭터 얼굴 + 스타일. 나머지는 텍스트로.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5A95D6-C945-4286-A530-14D96446E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05200"/>
            <a:ext cx="506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EB28BC-3FDC-4192-AE14-FA2F4978D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67150"/>
            <a:ext cx="506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② 참조를 늘리기 전에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42F5FB-DD88-4914-92A1-A5038E8F0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506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   텍스트 서술을 먼저 정밀하게 만든다.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EF6C3E-BAA2-43C2-8D93-E72FBA41E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91050"/>
            <a:ext cx="506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9A4CF8-5FB0-4422-9C32-CB63FF780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953000"/>
            <a:ext cx="506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③ 얼굴이 뭉개지면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DA42F1-09F0-4669-82DB-B3EF5B43C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314950"/>
            <a:ext cx="506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   참조 이미지를 '얼굴이 화면 중앙에 크게,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171092-65FD-4FFD-A37A-79DA7288F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676900"/>
            <a:ext cx="506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   정면, 가려지지 않은' 것으로 교체.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85EF98-20E0-42BE-85D7-C30FA9E50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67400"/>
            <a:ext cx="1120140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E8E0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983A1D-F99C-40CD-B35D-0768D6ED7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91225"/>
            <a:ext cx="1076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실제 춘천 장소 사진을 참조로 넣으면 지역성이 올라갑니다 — 단, 사람 얼굴이 나오지 않게.</a:t>
            </a:r>
          </a:p>
        </p:txBody>
      </p:sp>
    </p:spTree>
    <p:extLst>
      <p:ext uri="{BB962C8B-B14F-4D97-AF65-F5344CB8AC3E}">
        <p14:creationId xmlns:p14="http://schemas.microsoft.com/office/powerpoint/2010/main" val="1991357347"/>
      </p:ext>
    </p:extLst>
  </p:cSld>
  <p:transition spd="slow">
    <p:fade/>
  </p:transition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8CBC4C-EEB9-4541-AF7A-42CA293F2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7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AE8076-B44F-4EF6-A36B-F2EB23354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MODULE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58546F-645E-498F-A469-2C537B8FD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63" b="1" i="0">
                <a:solidFill>
                  <a:srgbClr val="8E8B82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8E8B82"/>
                </a:solidFill>
                <a:latin typeface="Noto Sans KR"/>
                <a:ea typeface="Noto Sans KR"/>
                <a:cs typeface="Noto Sans KR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DD303D-6265-4814-9955-DEA066DB5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819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713" b="0" i="0">
                <a:solidFill>
                  <a:srgbClr val="A5A099"/>
                </a:solidFill>
                <a:latin typeface="Noto Sans KR"/>
                <a:ea typeface="Noto Sans KR"/>
                <a:cs typeface="Noto Sans KR"/>
              </a:defRPr>
            </a:pPr>
            <a:r>
              <a:rPr sz="713" b="0" i="0">
                <a:solidFill>
                  <a:srgbClr val="A5A099"/>
                </a:solidFill>
                <a:latin typeface="Noto Sans KR"/>
                <a:ea typeface="Noto Sans KR"/>
                <a:cs typeface="Noto Sans KR"/>
              </a:rPr>
              <a:t>춘천시교육지원청 · AI 기반 디지털 교육혁신 전문성 신장 연수 · 3부 이미지·영상 · 2026.8.11.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F5D68D-4F51-4B06-AF32-F812D4B48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1085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38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실제 결과물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495B15-3AB3-4FB5-ACB2-4CD8E8FDF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1201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 i="0">
                <a:solidFill>
                  <a:srgbClr val="141413"/>
                </a:solidFill>
                <a:latin typeface="Noto Serif KR"/>
                <a:ea typeface="Noto Serif KR"/>
                <a:cs typeface="Noto Serif KR"/>
              </a:defRPr>
            </a:pPr>
            <a:r>
              <a:rPr sz="2100" b="0" i="0">
                <a:solidFill>
                  <a:srgbClr val="141413"/>
                </a:solidFill>
                <a:latin typeface="Noto Serif KR"/>
                <a:ea typeface="Noto Serif KR"/>
                <a:cs typeface="Noto Serif KR"/>
              </a:rPr>
              <a:t>실제 생성 결과 — 같은 화풍으로 이어지는 자료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6E02ED-E910-48A5-9AE4-866043F26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62050"/>
            <a:ext cx="5543550" cy="4762500"/>
          </a:xfrm>
          <a:prstGeom xmlns:a="http://schemas.openxmlformats.org/drawingml/2006/main" prst="roundRect">
            <a:avLst>
              <a:gd name="adj" fmla="val 2800"/>
            </a:avLst>
          </a:prstGeom>
          <a:solidFill xmlns:a="http://schemas.openxmlformats.org/drawingml/2006/main">
            <a:srgbClr val="EFE9DE"/>
          </a:solidFill>
          <a:ln xmlns:a="http://schemas.openxmlformats.org/drawingml/2006/main" w="19050">
            <a:solidFill>
              <a:srgbClr val="CC785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88D971-E987-4D64-AAB2-49C419F93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4781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800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실제 결과물 이미지 자리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3161A1-1826-481F-89B2-E79A8A9C4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90900"/>
            <a:ext cx="4781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5000"/>
              </a:lnSpc>
              <a:buNone/>
              <a:def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같은 스타일 블록으로 만든 카드뉴스 ①</a:t>
            </a:r>
          </a:p>
          <a:p xmlns:a="http://schemas.openxmlformats.org/drawingml/2006/main">
            <a:pPr algn="ctr">
              <a:lnSpc>
                <a:spcPct val="135000"/>
              </a:lnSpc>
              <a:buNone/>
              <a:def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※ 강사가 스타일 블록으로 직접 만든 샘플로 교체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E8790E-A8E8-451E-8603-7C45299E2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162050"/>
            <a:ext cx="5543550" cy="4762500"/>
          </a:xfrm>
          <a:prstGeom xmlns:a="http://schemas.openxmlformats.org/drawingml/2006/main" prst="roundRect">
            <a:avLst>
              <a:gd name="adj" fmla="val 2800"/>
            </a:avLst>
          </a:prstGeom>
          <a:solidFill xmlns:a="http://schemas.openxmlformats.org/drawingml/2006/main">
            <a:srgbClr val="EFE9DE"/>
          </a:solidFill>
          <a:ln xmlns:a="http://schemas.openxmlformats.org/drawingml/2006/main" w="19050">
            <a:solidFill>
              <a:srgbClr val="CC785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3E72E7-5F28-4F50-BD69-9BD87A4C6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57500"/>
            <a:ext cx="4781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800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실제 결과물 이미지 자리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0AED43-91D3-4883-8348-D6EE191E4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390900"/>
            <a:ext cx="4781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5000"/>
              </a:lnSpc>
              <a:buNone/>
              <a:def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같은 스타일 블록으로 만든 카드뉴스 ②</a:t>
            </a:r>
          </a:p>
          <a:p xmlns:a="http://schemas.openxmlformats.org/drawingml/2006/main">
            <a:pPr algn="ctr">
              <a:lnSpc>
                <a:spcPct val="135000"/>
              </a:lnSpc>
              <a:buNone/>
              <a:def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※ 강사가 스타일 블록으로 직접 만든 샘플로 교체</a:t>
            </a:r>
          </a:p>
        </p:txBody>
      </p:sp>
    </p:spTree>
    <p:extLst>
      <p:ext uri="{BB962C8B-B14F-4D97-AF65-F5344CB8AC3E}">
        <p14:creationId xmlns:p14="http://schemas.microsoft.com/office/powerpoint/2010/main" val="96441201"/>
      </p:ext>
    </p:extLst>
  </p:cSld>
  <p:transition spd="slow">
    <p:fade/>
  </p:transition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E97C2A-5FE4-440B-A6BD-FB5F8F16B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7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08D88C-C514-4466-A3B9-5D2791378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MODULE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184189-A3D9-44B4-8716-14EEDDDB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63" b="1" i="0">
                <a:solidFill>
                  <a:srgbClr val="8E8B82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8E8B82"/>
                </a:solidFill>
                <a:latin typeface="Noto Sans KR"/>
                <a:ea typeface="Noto Sans KR"/>
                <a:cs typeface="Noto Sans KR"/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00D25B-F9E5-4868-AA65-6BA173BF2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819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713" b="0" i="0">
                <a:solidFill>
                  <a:srgbClr val="A5A099"/>
                </a:solidFill>
                <a:latin typeface="Noto Sans KR"/>
                <a:ea typeface="Noto Sans KR"/>
                <a:cs typeface="Noto Sans KR"/>
              </a:defRPr>
            </a:pPr>
            <a:r>
              <a:rPr sz="713" b="0" i="0">
                <a:solidFill>
                  <a:srgbClr val="A5A099"/>
                </a:solidFill>
                <a:latin typeface="Noto Sans KR"/>
                <a:ea typeface="Noto Sans KR"/>
                <a:cs typeface="Noto Sans KR"/>
              </a:rPr>
              <a:t>춘천시교육지원청 · AI 기반 디지털 교육혁신 전문성 신장 연수 · 3부 이미지·영상 · 2026.8.11.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BD233C-0754-4590-B05C-25B7302A5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112014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CC7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65511B-82F2-44FB-BEB0-C630B2AFC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65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🖐  실습 8-A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649FA2-DE68-4E49-86DA-9272A23D0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477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350" b="1" i="0">
                <a:solidFill>
                  <a:srgbClr val="FBE7D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FBE7DF"/>
                </a:solidFill>
                <a:latin typeface="Noto Sans KR"/>
                <a:ea typeface="Noto Sans KR"/>
                <a:cs typeface="Noto Sans KR"/>
              </a:rPr>
              <a:t>30분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BDA05D-25DD-48F3-B694-8E76DC12B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76350"/>
            <a:ext cx="11201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475" b="0" i="0">
                <a:solidFill>
                  <a:srgbClr val="141413"/>
                </a:solidFill>
                <a:latin typeface="Noto Serif KR"/>
                <a:ea typeface="Noto Serif KR"/>
                <a:cs typeface="Noto Serif KR"/>
              </a:defRPr>
            </a:pPr>
            <a:r>
              <a:rPr sz="2475" b="0" i="0">
                <a:solidFill>
                  <a:srgbClr val="141413"/>
                </a:solidFill>
                <a:latin typeface="Noto Serif KR"/>
                <a:ea typeface="Noto Serif KR"/>
                <a:cs typeface="Noto Serif KR"/>
              </a:rPr>
              <a:t>사업 홍보 카드뉴스 3장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F1F32C-A38C-4ABA-BBA8-E5E5B3677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47850"/>
            <a:ext cx="11201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350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목표  화풍이 일관된 카드뉴스 3장 만들기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1843B1-BCAA-47C6-834C-BDE325CFF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0"/>
            <a:ext cx="72390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FE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8DD714-E429-4737-9A4B-74E1C78E0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25" b="1" i="0">
                <a:solidFill>
                  <a:srgbClr val="6C6A64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6C6A64"/>
                </a:solidFill>
                <a:latin typeface="Noto Sans KR"/>
                <a:ea typeface="Noto Sans KR"/>
                <a:cs typeface="Noto Sans KR"/>
              </a:rPr>
              <a:t>이렇게 진행합니다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CF2242-C8D0-4096-B2DD-CB59233A0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19400"/>
            <a:ext cx="672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1.  담당 사업 하나를 고릅니다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08C3C7-9345-49FA-A015-AC9E60082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672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2.  스타일 블록을 먼저 정해 메모장에 저장합니다 ← 이걸 건너뛰면 3장이 다 달라집니다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B2405E-D649-4192-B450-4B0AF65AD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57600"/>
            <a:ext cx="672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3.  1장을 만들고 결과를 확인합니다 (이게 스타일 기준 이미지가 됩니다)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CFC191-5D32-4E03-9EC5-A9FFBB9E8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76700"/>
            <a:ext cx="672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4.  같은 스타일 블록을 붙여 2·3장을 만듭니다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120A10-4464-473A-9D05-84D479D1A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672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5.  글자가 깨지면 Redo with Pro 또는 글자 분리 제작으로 해결합니다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7AB779-8243-44E4-A837-303226F55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14900"/>
            <a:ext cx="672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6.  세 장을 나란히 놓고 화풍이 같은지 확인합니다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5471D9-3D7E-412D-BE5C-EAEEA4DE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86000"/>
            <a:ext cx="36957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817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00AFA3-5995-4CB7-B88A-CB15A7AD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76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25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손에 남는 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088CD9-0146-4D41-87B4-05086C13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19400"/>
            <a:ext cx="32004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42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rPr>
              <a:t>카드뉴스 3장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312A80-AF42-4FE3-AA24-B73C03C07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476750"/>
            <a:ext cx="320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125" b="0" i="0">
                <a:solidFill>
                  <a:srgbClr val="B8B1A8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 i="0">
                <a:solidFill>
                  <a:srgbClr val="B8B1A8"/>
                </a:solidFill>
                <a:latin typeface="Noto Sans KR"/>
                <a:ea typeface="Noto Sans KR"/>
                <a:cs typeface="Noto Sans KR"/>
              </a:rPr>
              <a:t>완성한 카드뉴스 3장을 실습 가이드 게시판에 '실습 8-A'로 올립니다.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ADD0D8-AAB1-4D69-8CF2-03C1E50FE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76900"/>
            <a:ext cx="11201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200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https://ksb6857.github.io/ai-training-260811/</a:t>
            </a:r>
          </a:p>
        </p:txBody>
      </p:sp>
    </p:spTree>
    <p:extLst>
      <p:ext uri="{BB962C8B-B14F-4D97-AF65-F5344CB8AC3E}">
        <p14:creationId xmlns:p14="http://schemas.microsoft.com/office/powerpoint/2010/main" val="1645198881"/>
      </p:ext>
    </p:extLst>
  </p:cSld>
  <p:transition spd="slow">
    <p:fade/>
  </p:transition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1817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6058EB-F166-468B-94A6-D7AB42F3C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7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5D64CC-760F-4B57-83B9-695B31EA6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63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MODULE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3B7E5F-EC07-4FB7-91C5-94F0B0369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63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7FFB92-04DD-43C7-A2F9-57926F039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819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713" b="0" i="0">
                <a:solidFill>
                  <a:srgbClr val="7C766E"/>
                </a:solidFill>
                <a:latin typeface="Noto Sans KR"/>
                <a:ea typeface="Noto Sans KR"/>
                <a:cs typeface="Noto Sans KR"/>
              </a:defRPr>
            </a:pPr>
            <a:r>
              <a:rPr sz="713" b="0" i="0">
                <a:solidFill>
                  <a:srgbClr val="7C766E"/>
                </a:solidFill>
                <a:latin typeface="Noto Sans KR"/>
                <a:ea typeface="Noto Sans KR"/>
                <a:cs typeface="Noto Sans KR"/>
              </a:rPr>
              <a:t>춘천시교육지원청 · AI 기반 디지털 교육혁신 전문성 신장 연수 · 3부 이미지·영상 · 2026.8.11.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1869CE-6341-40F4-AA08-69563AEA5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088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IMAGE → VIDEO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4501BC-C595-4DBD-B35A-829AFB619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33550"/>
            <a:ext cx="106680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900" b="0" i="0">
                <a:solidFill>
                  <a:srgbClr val="FAF9F5"/>
                </a:solidFill>
                <a:latin typeface="Noto Serif KR"/>
                <a:ea typeface="Noto Serif KR"/>
                <a:cs typeface="Noto Serif KR"/>
              </a:defRPr>
            </a:pPr>
            <a:r>
              <a:rPr sz="3900" b="0" i="0">
                <a:solidFill>
                  <a:srgbClr val="FAF9F5"/>
                </a:solidFill>
                <a:latin typeface="Noto Serif KR"/>
                <a:ea typeface="Noto Serif KR"/>
                <a:cs typeface="Noto Serif KR"/>
              </a:rPr>
              <a:t>이미지를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3900" b="0" i="0">
                <a:solidFill>
                  <a:srgbClr val="FAF9F5"/>
                </a:solidFill>
                <a:latin typeface="Noto Serif KR"/>
                <a:ea typeface="Noto Serif KR"/>
                <a:cs typeface="Noto Serif KR"/>
              </a:defRPr>
            </a:pPr>
            <a:r>
              <a:rPr sz="3900" b="0" i="0">
                <a:solidFill>
                  <a:srgbClr val="FAF9F5"/>
                </a:solidFill>
                <a:latin typeface="Noto Serif KR"/>
                <a:ea typeface="Noto Serif KR"/>
                <a:cs typeface="Noto Serif KR"/>
              </a:rPr>
              <a:t>영상으로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A9AA33-3266-44CC-BAA3-B5A27BE7E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48100"/>
            <a:ext cx="8953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725" b="0" i="0">
                <a:solidFill>
                  <a:srgbClr val="CFC8B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 i="0">
                <a:solidFill>
                  <a:srgbClr val="CFC8BF"/>
                </a:solidFill>
                <a:latin typeface="Noto Sans KR"/>
                <a:ea typeface="Noto Sans KR"/>
                <a:cs typeface="Noto Sans KR"/>
              </a:rPr>
              <a:t>완성한 그림이 첫 프레임이 됩니다. 프롬프트에는 「움직임」만 씁니다.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2E5542-A1B8-4946-B04D-17864EC30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95900"/>
            <a:ext cx="18478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785C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56927498"/>
      </p:ext>
    </p:extLst>
  </p:cSld>
  <p:transition spd="slow">
    <p:push dir="u"/>
  </p:transition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9FD955-94EC-43EC-A1D9-7790751E1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7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6E4DC3-C79F-4922-82EF-A4EF33686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MODULE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8B9E82-9D7C-4EFC-AC79-F607E72DD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63" b="1" i="0">
                <a:solidFill>
                  <a:srgbClr val="8E8B82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8E8B82"/>
                </a:solidFill>
                <a:latin typeface="Noto Sans KR"/>
                <a:ea typeface="Noto Sans KR"/>
                <a:cs typeface="Noto Sans KR"/>
              </a:rPr>
              <a:t>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60C08A-B62A-4269-8536-21651B40E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819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713" b="0" i="0">
                <a:solidFill>
                  <a:srgbClr val="A5A099"/>
                </a:solidFill>
                <a:latin typeface="Noto Sans KR"/>
                <a:ea typeface="Noto Sans KR"/>
                <a:cs typeface="Noto Sans KR"/>
              </a:defRPr>
            </a:pPr>
            <a:r>
              <a:rPr sz="713" b="0" i="0">
                <a:solidFill>
                  <a:srgbClr val="A5A099"/>
                </a:solidFill>
                <a:latin typeface="Noto Sans KR"/>
                <a:ea typeface="Noto Sans KR"/>
                <a:cs typeface="Noto Sans KR"/>
              </a:rPr>
              <a:t>춘천시교육지원청 · AI 기반 디지털 교육혁신 전문성 신장 연수 · 3부 이미지·영상 · 2026.8.11.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8FB423-A77C-4683-9CE4-489A91B12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75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도구 정리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EA6A6C-647B-40C9-BB1F-AA8A6B9DE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11201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0" i="0">
                <a:solidFill>
                  <a:srgbClr val="141413"/>
                </a:solidFill>
                <a:latin typeface="Noto Serif KR"/>
                <a:ea typeface="Noto Serif KR"/>
                <a:cs typeface="Noto Serif KR"/>
              </a:defRPr>
            </a:pPr>
            <a:r>
              <a:rPr sz="2775" b="0" i="0">
                <a:solidFill>
                  <a:srgbClr val="141413"/>
                </a:solidFill>
                <a:latin typeface="Noto Serif KR"/>
                <a:ea typeface="Noto Serif KR"/>
                <a:cs typeface="Noto Serif KR"/>
              </a:rPr>
              <a:t>도구 지형도 — 무엇을 어디서 만드나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35F517-360F-4D66-ADB7-61EF91A49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478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7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AEAA1C-EB8A-4D16-B408-5FE5FB301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rPr>
              <a:t>도구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4B9673-BD32-4976-9BB7-F342D280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847850"/>
            <a:ext cx="4191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7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A1AF60-583E-4326-8F4F-A85003A22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943100"/>
            <a:ext cx="3962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rPr>
              <a:t>무엇을 하나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D35DE7-5894-48DA-9F48-A7B623A84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847850"/>
            <a:ext cx="3581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7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57CAE2-2989-4F18-88D3-302B99C1D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943100"/>
            <a:ext cx="335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rPr>
              <a:t>오늘의 용도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BA45CF-E409-495F-9583-72A6D1E93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003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92A66B-CFD9-4DCE-A426-3CC6E29E7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86025"/>
            <a:ext cx="224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Gemini 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2298D5-DA89-46DF-A700-107B6625C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400300"/>
            <a:ext cx="4191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FD1C26-D820-4D78-893A-8F243CE57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486025"/>
            <a:ext cx="3962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이미지 생성 · 짧은 영상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32D9A4-2DED-44CC-9184-B90C58993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00300"/>
            <a:ext cx="3581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54F06D-48B8-4D3F-B09E-D1F06A44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486025"/>
            <a:ext cx="335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카드뉴스 · 간단한 움직임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3064F3-BDDE-46F9-9CC9-93ACC55D4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9DAC6B-7666-4E84-8D35-CDED3CE6A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38475"/>
            <a:ext cx="224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Google Flow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89B1FC-61E0-4EDE-B55F-C125F5CD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952750"/>
            <a:ext cx="4191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463960-34AA-448E-A848-B2C7D99FD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038475"/>
            <a:ext cx="3962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본격 영상 생성 (Veo 3.1)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04DE77-A327-4128-80A3-F446F92B3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952750"/>
            <a:ext cx="3581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24AFA6-490C-4182-82F1-37406BC7F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038475"/>
            <a:ext cx="335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키프레임 → 클립. 만 18세 이상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F1A59C-0C10-4113-9A06-4980E7742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052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56D271-9DDE-42A3-90F4-36DE36201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224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Flow · Frames to Video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0E8FD2-40FF-4A1B-B8DF-2447770FD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505200"/>
            <a:ext cx="4191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C9449A-F9C1-4030-B558-6D84F3135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590925"/>
            <a:ext cx="3962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시작 프레임을 지정해 영상 생성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ABD069-0B38-48B6-A41E-BADC833A9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505200"/>
            <a:ext cx="3581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5A5149-7639-4CC1-B4A8-C4E395DB9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590925"/>
            <a:ext cx="335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⭐ 오늘의 주력 기능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686B51-1C7E-4F2A-8B8A-77CB23978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576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7B8648-0ECB-4730-960D-F964E1781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224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Flow · 에이전트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2E761B9-FF03-43ED-8F1F-BB7CF2CB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057650"/>
            <a:ext cx="4191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375A64A-2912-4967-A925-FECA50B13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143375"/>
            <a:ext cx="3962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말로 시키면 모델 선택까지 대신 실행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BB1286D-C457-41D0-AAAA-755982DB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057650"/>
            <a:ext cx="3581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60ED9B4-4E11-4EB2-91F8-275653FF6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143375"/>
            <a:ext cx="335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앵커(기준 이미지)를 프로젝트에 등록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EFA66CF-B820-4266-8501-E802906C3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119BE53-DF0F-4CF8-AB67-FF3F7BB9F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224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CapCut 등 편집기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C5AC372-8D17-4D29-A7B4-4508A0C79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610100"/>
            <a:ext cx="4191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8E192D7-C789-49BC-A916-BD4D09799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695825"/>
            <a:ext cx="3962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클립 조립 · 자막 · 소리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B078374-D90E-496A-A23B-529D4BD22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610100"/>
            <a:ext cx="3581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DB88D44-005B-473E-B5A5-9698C577D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695825"/>
            <a:ext cx="335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최종 편집은 여기서</a:t>
            </a:r>
          </a:p>
        </p:txBody>
      </p:sp>
    </p:spTree>
    <p:extLst>
      <p:ext uri="{BB962C8B-B14F-4D97-AF65-F5344CB8AC3E}">
        <p14:creationId xmlns:p14="http://schemas.microsoft.com/office/powerpoint/2010/main" val="1429144747"/>
      </p:ext>
    </p:extLst>
  </p:cSld>
  <p:transition spd="slow">
    <p:fade/>
  </p:transition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427DB9-2462-4226-A26F-508DB0EF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7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39B240-D334-464E-88F7-261A93953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MODULE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C81CDF-4EAE-4812-9421-9E7B97F9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63" b="1" i="0">
                <a:solidFill>
                  <a:srgbClr val="8E8B82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8E8B82"/>
                </a:solidFill>
                <a:latin typeface="Noto Sans KR"/>
                <a:ea typeface="Noto Sans KR"/>
                <a:cs typeface="Noto Sans KR"/>
              </a:rPr>
              <a:t>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629208-AAEB-46CE-9C00-888C4C922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819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713" b="0" i="0">
                <a:solidFill>
                  <a:srgbClr val="A5A099"/>
                </a:solidFill>
                <a:latin typeface="Noto Sans KR"/>
                <a:ea typeface="Noto Sans KR"/>
                <a:cs typeface="Noto Sans KR"/>
              </a:defRPr>
            </a:pPr>
            <a:r>
              <a:rPr sz="713" b="0" i="0">
                <a:solidFill>
                  <a:srgbClr val="A5A099"/>
                </a:solidFill>
                <a:latin typeface="Noto Sans KR"/>
                <a:ea typeface="Noto Sans KR"/>
                <a:cs typeface="Noto Sans KR"/>
              </a:rPr>
              <a:t>춘천시교육지원청 · AI 기반 디지털 교육혁신 전문성 신장 연수 · 3부 이미지·영상 · 2026.8.11.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1955D7-75F2-4B01-B705-C12F45F0D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75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공식 근거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85615C-65DF-4239-B859-C2397F85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11201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0" i="0">
                <a:solidFill>
                  <a:srgbClr val="141413"/>
                </a:solidFill>
                <a:latin typeface="Noto Serif KR"/>
                <a:ea typeface="Noto Serif KR"/>
                <a:cs typeface="Noto Serif KR"/>
              </a:defRPr>
            </a:pPr>
            <a:r>
              <a:rPr sz="2775" b="0" i="0">
                <a:solidFill>
                  <a:srgbClr val="141413"/>
                </a:solidFill>
                <a:latin typeface="Noto Serif KR"/>
                <a:ea typeface="Noto Serif KR"/>
                <a:cs typeface="Noto Serif KR"/>
              </a:rPr>
              <a:t>★ 이미지 → 영상 4대 원칙 (Google 공식)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0A4ADE-9866-4860-927F-63E710732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240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64B347-3039-4F91-A78B-7D1779A44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0500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① 좋은 소스 이미지 — 선명하고, 구도가 안정적이고, 인물이 너무 작지 않고, 배경이 복잡하지 않은 것.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E3DA8D-A4C7-4A04-A1E2-A050E816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908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D439CF-1B87-43FF-ADE3-74A25D5F8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717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② ★ 움직임만 쓴다 — 이미지에 이미 있는 인물·배경·조명을 다시 설명하지 않습니다.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8AC9FA-5A3A-4508-93D7-910CD27D8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575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EB3D93-05AA-4CC2-AD6D-CFBCB2148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3850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③ 움직임을 3종류로 나눠 지시 — 카메라 / 인물 / 환경. 다만 한 번에 두 개까지만.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8DA929-F964-47DB-81DF-D228BA19B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243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E5234D-7420-422F-BA8F-57AF7F61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052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④ 오디오는 별도 문장으로 — "배경음:" 처럼 줄을 나눠 씁니다.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451896-01F0-49D1-B16D-12DD676FD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910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BBD4B2-0349-439D-991D-5866537DA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7200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⚠ 손이 애매하게 화면에 걸친 이미지는 왜곡됩니다. 크게 나오거나 아예 안 보이게 구도를 잡으십시오.</a:t>
            </a:r>
          </a:p>
        </p:txBody>
      </p:sp>
    </p:spTree>
    <p:extLst>
      <p:ext uri="{BB962C8B-B14F-4D97-AF65-F5344CB8AC3E}">
        <p14:creationId xmlns:p14="http://schemas.microsoft.com/office/powerpoint/2010/main" val="968433180"/>
      </p:ext>
    </p:extLst>
  </p:cSld>
  <p:transition spd="slow">
    <p:fade/>
  </p:transition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F16157A-3D51-4D04-82D3-405CA34FF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7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551CFA-85E1-4979-A3DE-EDDE7AC75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MODULE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4BE0CF-9BE5-4214-A990-DC19411C9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63" b="1" i="0">
                <a:solidFill>
                  <a:srgbClr val="8E8B82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8E8B82"/>
                </a:solidFill>
                <a:latin typeface="Noto Sans KR"/>
                <a:ea typeface="Noto Sans KR"/>
                <a:cs typeface="Noto Sans KR"/>
              </a:rPr>
              <a:t>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DF9540-5CB0-4602-AE25-B6FC29DCD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819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713" b="0" i="0">
                <a:solidFill>
                  <a:srgbClr val="A5A099"/>
                </a:solidFill>
                <a:latin typeface="Noto Sans KR"/>
                <a:ea typeface="Noto Sans KR"/>
                <a:cs typeface="Noto Sans KR"/>
              </a:defRPr>
            </a:pPr>
            <a:r>
              <a:rPr sz="713" b="0" i="0">
                <a:solidFill>
                  <a:srgbClr val="A5A099"/>
                </a:solidFill>
                <a:latin typeface="Noto Sans KR"/>
                <a:ea typeface="Noto Sans KR"/>
                <a:cs typeface="Noto Sans KR"/>
              </a:rPr>
              <a:t>춘천시교육지원청 · AI 기반 디지털 교육혁신 전문성 신장 연수 · 3부 이미지·영상 · 2026.8.11.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0841C3-148A-4846-971B-5382C2460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75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지도 원칙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DE1D75-DD42-4171-A6FD-A1535B4D5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11201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0" i="0">
                <a:solidFill>
                  <a:srgbClr val="141413"/>
                </a:solidFill>
                <a:latin typeface="Noto Serif KR"/>
                <a:ea typeface="Noto Serif KR"/>
                <a:cs typeface="Noto Serif KR"/>
              </a:defRPr>
            </a:pPr>
            <a:r>
              <a:rPr sz="2775" b="0" i="0">
                <a:solidFill>
                  <a:srgbClr val="141413"/>
                </a:solidFill>
                <a:latin typeface="Noto Serif KR"/>
                <a:ea typeface="Noto Serif KR"/>
                <a:cs typeface="Noto Serif KR"/>
              </a:rPr>
              <a:t>움직임 3종류 — 카메라 1개 + 피사체 1개까지만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378E78-A552-40A5-B7EC-4D1FA1AE8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47850"/>
            <a:ext cx="1333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7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28F8C1-5385-4719-A556-D90BF8CFC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104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rPr>
              <a:t>종류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D80386-C743-4FF7-B585-1294F0D2A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847850"/>
            <a:ext cx="314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7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E20742-8801-4FA3-AA99-B19358FF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943100"/>
            <a:ext cx="2914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rPr>
              <a:t>무엇이 움직이나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CB75BF-A0BA-4817-9C46-EB411C2FF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847850"/>
            <a:ext cx="4191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7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8CBC12-0686-4CE6-94F0-98AAC9190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943100"/>
            <a:ext cx="3962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rPr>
              <a:t>예시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371473-7882-4EB9-9973-7A9B8AD2B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847850"/>
            <a:ext cx="1581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7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216D42-4F2A-44F5-80C9-31BF9FB30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943100"/>
            <a:ext cx="1352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rPr>
              <a:t>안정성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DA85EE-C329-4E4D-829C-2896158BA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38400"/>
            <a:ext cx="1333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F4BB03-4D98-473B-828D-85FF4FA73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110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카메라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425419-6057-43B3-9C32-219468AC7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438400"/>
            <a:ext cx="314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84C3C7-ADE6-42B6-8D3A-ECE4086E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524125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장면은 정지, 카메라만 이동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C003F7-37AF-4961-B9D7-F624381DB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38400"/>
            <a:ext cx="4191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69E1B0-77BA-4562-9970-45B2FA5CD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524125"/>
            <a:ext cx="3962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카메라가 인물에게 천천히 다가간다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7319D6-FE62-45B0-A636-3F03A23D2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438400"/>
            <a:ext cx="1581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159C14-3B3B-4B07-9827-66E624480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524125"/>
            <a:ext cx="135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★★★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551268-A1DE-49D4-AF0F-2741B83E5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28950"/>
            <a:ext cx="1333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BE1FF5-B3CD-4C89-9839-D371F0E06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110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인물·사물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BE9594-C262-43BB-BF8D-C97B2039D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028950"/>
            <a:ext cx="314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1AF2AD-6226-490F-AD3C-D479A83D3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114675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피사체가 움직임 (미묘한 동작에 최적)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94C5EA-B542-4B1D-9974-B5BACB9C5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028950"/>
            <a:ext cx="4191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10B4DE-B429-4846-A911-61B5BCC09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114675"/>
            <a:ext cx="3962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머리카락과 옷이 바람에 부드럽게 흔들린다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7C1B67-1AB7-443C-9F74-20F731ACA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028950"/>
            <a:ext cx="1581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2A303E-7342-4A09-9D9A-023806BFD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114675"/>
            <a:ext cx="135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★★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AA2A402-7035-4CC8-ACC2-0ED5E2B44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0"/>
            <a:ext cx="1333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FFDE13A-7E23-4CBA-942D-AAB2C51CE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10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환경·대기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CB1EE4E-962E-4B6F-B11B-F80DCC455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619500"/>
            <a:ext cx="314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C5D811-C796-4F96-BBE2-7EC6C8702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705225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배경이 살아남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F6EE42-2342-403E-ADD4-35FB636D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619500"/>
            <a:ext cx="4191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6B8B485-5AB2-4184-9655-98B579A9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705225"/>
            <a:ext cx="3962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안개가 풍경을 가로질러 천천히 밀려온다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02EF193-A368-4636-9C24-C92436384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619500"/>
            <a:ext cx="1581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AB35D7E-8376-405B-83E9-6B2DFE21D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705225"/>
            <a:ext cx="135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★★★</a:t>
            </a:r>
          </a:p>
        </p:txBody>
      </p:sp>
    </p:spTree>
    <p:extLst>
      <p:ext uri="{BB962C8B-B14F-4D97-AF65-F5344CB8AC3E}">
        <p14:creationId xmlns:p14="http://schemas.microsoft.com/office/powerpoint/2010/main" val="1736427543"/>
      </p:ext>
    </p:extLst>
  </p:cSld>
  <p:transition spd="slow">
    <p:fade/>
  </p:transition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1817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4C7AE9-5259-461B-BF80-127141907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7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3125B9-C42A-40D8-95EC-5DCFFA2C0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63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MODULE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997ACA-92B9-48C1-854F-254458B72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63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EDF79-EFA9-49F3-A6BD-4B9BBB669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819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713" b="0" i="0">
                <a:solidFill>
                  <a:srgbClr val="7C766E"/>
                </a:solidFill>
                <a:latin typeface="Noto Sans KR"/>
                <a:ea typeface="Noto Sans KR"/>
                <a:cs typeface="Noto Sans KR"/>
              </a:defRPr>
            </a:pPr>
            <a:r>
              <a:rPr sz="713" b="0" i="0">
                <a:solidFill>
                  <a:srgbClr val="7C766E"/>
                </a:solidFill>
                <a:latin typeface="Noto Sans KR"/>
                <a:ea typeface="Noto Sans KR"/>
                <a:cs typeface="Noto Sans KR"/>
              </a:rPr>
              <a:t>춘천시교육지원청 · AI 기반 디지털 교육혁신 전문성 신장 연수 · 3부 이미지·영상 · 2026.8.11.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5174F7-BEE9-483C-AEA6-766570350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1085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38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복사용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562935-E4DA-40E4-B8C2-040307615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1201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 i="0">
                <a:solidFill>
                  <a:srgbClr val="FAF9F5"/>
                </a:solidFill>
                <a:latin typeface="Noto Serif KR"/>
                <a:ea typeface="Noto Serif KR"/>
                <a:cs typeface="Noto Serif KR"/>
              </a:defRPr>
            </a:pPr>
            <a:r>
              <a:rPr sz="2100" b="0" i="0">
                <a:solidFill>
                  <a:srgbClr val="FAF9F5"/>
                </a:solidFill>
                <a:latin typeface="Noto Serif KR"/>
                <a:ea typeface="Noto Serif KR"/>
                <a:cs typeface="Noto Serif KR"/>
              </a:rPr>
              <a:t>영상 프롬프트 — 상황별로 그대로 복사하십시오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77103F-B237-4E94-9C2E-CFE826FA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19200"/>
            <a:ext cx="11353800" cy="4762500"/>
          </a:xfrm>
          <a:prstGeom xmlns:a="http://schemas.openxmlformats.org/drawingml/2006/main" prst="roundRect">
            <a:avLst>
              <a:gd name="adj" fmla="val 2800"/>
            </a:avLst>
          </a:prstGeom>
          <a:solidFill xmlns:a="http://schemas.openxmlformats.org/drawingml/2006/main">
            <a:srgbClr val="252320"/>
          </a:solidFill>
          <a:ln xmlns:a="http://schemas.openxmlformats.org/drawingml/2006/main" w="19050">
            <a:solidFill>
              <a:srgbClr val="CC785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C534C0-FFB9-432C-BC4E-BA965831D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858500" cy="434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9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rPr>
              <a:t>━━━ 기본 틀 ━━━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rPr>
              <a:t>[카메라 움직임]. 인물이 [동작]한다. [환경 변화].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rPr>
              <a:t>배경음: [배경 소리].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rPr>
              <a:t>━━━ 인물 컷 (가장 안전) ━━━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rPr>
              <a:t>카메라가 인물에게 천천히 다가간다.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rPr>
              <a:t>인물이 느리게 눈을 깜빡이고 입가에 옅은 미소가 번진다.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rPr>
              <a:t>잔머리가 공기 중에 살짝 흔들린다.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rPr>
              <a:t>배경음: 조용한 실내음.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rPr>
              <a:t>━━━ 풍경 컷 ━━━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rPr>
              <a:t>드론이 천천히 떠오르며 풍경 전체를 훑는다.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rPr>
              <a:t>구름이 하늘을 가로질러 흐르고 풀밭이 바람에 물결친다.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rPr>
              <a:t>배경음: 부드러운 바람 소리.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rPr>
              <a:t>━━━ ⭐ 일러스트를 살릴 때 (카드뉴스 → 영상) ━━━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rPr>
              <a:t>카메라는 고정. 앞쪽 배경과 뒤쪽 배경이 서로 다른 속도로 밀리게 한다.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rPr>
              <a:t>인물의 머리카락과 옷자락이 부드럽게 흔들린다.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rPr>
              <a:t>작은 빛 입자가 화면 위로 천천히 떠오른다.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rPr>
              <a:t>배경음: 낮게 깔리는 공기음.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rPr>
              <a:t>화면의 한글 문구는 바꾸거나 새로 생성하지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25324734"/>
      </p:ext>
    </p:extLst>
  </p:cSld>
  <p:transition spd="slow">
    <p:fade/>
  </p:transition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429CF8-A420-4E7C-ACCA-278E74C97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7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014421-BE1A-47E7-84F3-3B09EF33A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MODULE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E74A09-A0D4-400E-9B26-72FBCC650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63" b="1" i="0">
                <a:solidFill>
                  <a:srgbClr val="8E8B82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8E8B82"/>
                </a:solidFill>
                <a:latin typeface="Noto Sans KR"/>
                <a:ea typeface="Noto Sans KR"/>
                <a:cs typeface="Noto Sans KR"/>
              </a:rPr>
              <a:t>27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BC0BCE-BBA3-484C-A769-A30D88885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819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713" b="0" i="0">
                <a:solidFill>
                  <a:srgbClr val="A5A099"/>
                </a:solidFill>
                <a:latin typeface="Noto Sans KR"/>
                <a:ea typeface="Noto Sans KR"/>
                <a:cs typeface="Noto Sans KR"/>
              </a:defRPr>
            </a:pPr>
            <a:r>
              <a:rPr sz="713" b="0" i="0">
                <a:solidFill>
                  <a:srgbClr val="A5A099"/>
                </a:solidFill>
                <a:latin typeface="Noto Sans KR"/>
                <a:ea typeface="Noto Sans KR"/>
                <a:cs typeface="Noto Sans KR"/>
              </a:rPr>
              <a:t>춘천시교육지원청 · AI 기반 디지털 교육혁신 전문성 신장 연수 · 3부 이미지·영상 · 2026.8.11.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FF92B7-872F-4210-8E2A-6BDFEAD2A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75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가장 흔한 실수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00B16D-4C05-41F9-85B5-6C8E5DA0F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11201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0" i="0">
                <a:solidFill>
                  <a:srgbClr val="141413"/>
                </a:solidFill>
                <a:latin typeface="Noto Serif KR"/>
                <a:ea typeface="Noto Serif KR"/>
                <a:cs typeface="Noto Serif KR"/>
              </a:defRPr>
            </a:pPr>
            <a:r>
              <a:rPr sz="2775" b="0" i="0">
                <a:solidFill>
                  <a:srgbClr val="141413"/>
                </a:solidFill>
                <a:latin typeface="Noto Serif KR"/>
                <a:ea typeface="Noto Serif KR"/>
                <a:cs typeface="Noto Serif KR"/>
              </a:rPr>
              <a:t>나쁜 예 vs 좋은 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4056A3-50E9-49B7-A5AA-E3F56EDB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66900"/>
            <a:ext cx="5467350" cy="3810000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EFE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634451-7FC7-478B-92D1-CE958A745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425" b="1" i="0">
                <a:solidFill>
                  <a:srgbClr val="6C6A64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i="0">
                <a:solidFill>
                  <a:srgbClr val="6C6A64"/>
                </a:solidFill>
                <a:latin typeface="Noto Sans KR"/>
                <a:ea typeface="Noto Sans KR"/>
                <a:cs typeface="Noto Sans KR"/>
              </a:rPr>
              <a:t>✕ 중복 서술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FCD8CB-DDE3-4E9A-A8A7-F3A3C00BD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491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38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— "해질녘 불어난 강가에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0233AD-3C7C-4FFF-A3C3-6F62FC353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91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38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—  쪽빛 한복을 입은 어린 아이가 서 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1FEE7C-3EA0-4E80-8BD8-3A372FA9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67100"/>
            <a:ext cx="491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38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—  따뜻한 황금빛, 영화 같은 분위기"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64A88B-0EF2-4E58-9497-139C0B4D5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491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38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— 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1A69A6-92E2-4DE6-92E9-14EDD57C7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19600"/>
            <a:ext cx="491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38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— → 이미지에 이미 다 있는 내용입니다.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443F89-5F7C-4B48-9F2C-22875C970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95850"/>
            <a:ext cx="491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38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— → 모델이 혼란스러워하고 결과가 나빠집니다.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12078E-DF5B-48AC-B53D-D4959AE12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66900"/>
            <a:ext cx="5467350" cy="3810000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1817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D4CA9D-F708-4F54-A98C-0123B3D51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764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425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○ 움직임만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9FDACE-260D-42A4-88EC-A4F09B2D7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14600"/>
            <a:ext cx="491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38" b="0" i="0">
                <a:solidFill>
                  <a:srgbClr val="FAF9F5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 i="0">
                <a:solidFill>
                  <a:srgbClr val="FAF9F5"/>
                </a:solidFill>
                <a:latin typeface="Noto Sans KR"/>
                <a:ea typeface="Noto Sans KR"/>
                <a:cs typeface="Noto Sans KR"/>
              </a:rPr>
              <a:t>✦ "인물이 천천히 팔을 들어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3613FA-6788-4584-B4E4-9458023F0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90850"/>
            <a:ext cx="491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38" b="0" i="0">
                <a:solidFill>
                  <a:srgbClr val="FAF9F5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 i="0">
                <a:solidFill>
                  <a:srgbClr val="FAF9F5"/>
                </a:solidFill>
                <a:latin typeface="Noto Sans KR"/>
                <a:ea typeface="Noto Sans KR"/>
                <a:cs typeface="Noto Sans KR"/>
              </a:rPr>
              <a:t>✦  지평선 쪽을 가리킨다.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61BD5A-FBEB-4EB4-BC05-26B4221CA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67100"/>
            <a:ext cx="491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38" b="0" i="0">
                <a:solidFill>
                  <a:srgbClr val="FAF9F5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 i="0">
                <a:solidFill>
                  <a:srgbClr val="FAF9F5"/>
                </a:solidFill>
                <a:latin typeface="Noto Sans KR"/>
                <a:ea typeface="Noto Sans KR"/>
                <a:cs typeface="Noto Sans KR"/>
              </a:rPr>
              <a:t>✦  화면 앞쪽으로 흙탕물이 빠르게 흘러간다.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696985-9C72-4207-B76F-A9BC16F47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43350"/>
            <a:ext cx="491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38" b="0" i="0">
                <a:solidFill>
                  <a:srgbClr val="FAF9F5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 i="0">
                <a:solidFill>
                  <a:srgbClr val="FAF9F5"/>
                </a:solidFill>
                <a:latin typeface="Noto Sans KR"/>
                <a:ea typeface="Noto Sans KR"/>
                <a:cs typeface="Noto Sans KR"/>
              </a:rPr>
              <a:t>✦  카메라가 천천히 다가간다."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ED3905-6871-454B-927D-0918BFDDF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419600"/>
            <a:ext cx="491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38" b="0" i="0">
                <a:solidFill>
                  <a:srgbClr val="FAF9F5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 i="0">
                <a:solidFill>
                  <a:srgbClr val="FAF9F5"/>
                </a:solidFill>
                <a:latin typeface="Noto Sans KR"/>
                <a:ea typeface="Noto Sans KR"/>
                <a:cs typeface="Noto Sans KR"/>
              </a:rPr>
              <a:t>✦ 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70EEC3-8A8B-4BD9-9462-D05551D9E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895850"/>
            <a:ext cx="491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38" b="0" i="0">
                <a:solidFill>
                  <a:srgbClr val="FAF9F5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 i="0">
                <a:solidFill>
                  <a:srgbClr val="FAF9F5"/>
                </a:solidFill>
                <a:latin typeface="Noto Sans KR"/>
                <a:ea typeface="Noto Sans KR"/>
                <a:cs typeface="Noto Sans KR"/>
              </a:rPr>
              <a:t>✦ → 이미지가 장면을, 프롬프트가 움직임을.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274B06-7F84-4B1E-AFDE-25281731B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86450"/>
            <a:ext cx="1120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238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이미지가 장면을 담당하고, 프롬프트가 움직임을 담당합니다. 역할을 겹치지 마십시오.</a:t>
            </a:r>
          </a:p>
        </p:txBody>
      </p:sp>
    </p:spTree>
    <p:extLst>
      <p:ext uri="{BB962C8B-B14F-4D97-AF65-F5344CB8AC3E}">
        <p14:creationId xmlns:p14="http://schemas.microsoft.com/office/powerpoint/2010/main" val="764722838"/>
      </p:ext>
    </p:extLst>
  </p:cSld>
  <p:transition spd="slow">
    <p:fade/>
  </p:transition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1817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4EA61D-05A0-4E09-8057-B1E2D28E6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7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1CF96C-1B95-4B94-BDF7-1BF16B250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63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MODULE 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D31B9B-1C47-4967-A855-F2D501CBF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63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28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B219E5-229A-46D5-86FB-FE215B31A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819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713" b="0" i="0">
                <a:solidFill>
                  <a:srgbClr val="7C766E"/>
                </a:solidFill>
                <a:latin typeface="Noto Sans KR"/>
                <a:ea typeface="Noto Sans KR"/>
                <a:cs typeface="Noto Sans KR"/>
              </a:defRPr>
            </a:pPr>
            <a:r>
              <a:rPr sz="713" b="0" i="0">
                <a:solidFill>
                  <a:srgbClr val="7C766E"/>
                </a:solidFill>
                <a:latin typeface="Noto Sans KR"/>
                <a:ea typeface="Noto Sans KR"/>
                <a:cs typeface="Noto Sans KR"/>
              </a:rPr>
              <a:t>춘천시교육지원청 · AI 기반 디지털 교육혁신 전문성 신장 연수 · 3부 이미지·영상 · 2026.8.11.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732DB4-A988-457E-8883-511C761BE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088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EDITING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70F157-7087-44D4-B31B-8BF58EC07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33550"/>
            <a:ext cx="106680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900" b="0" i="0">
                <a:solidFill>
                  <a:srgbClr val="FAF9F5"/>
                </a:solidFill>
                <a:latin typeface="Noto Serif KR"/>
                <a:ea typeface="Noto Serif KR"/>
                <a:cs typeface="Noto Serif KR"/>
              </a:defRPr>
            </a:pPr>
            <a:r>
              <a:rPr sz="3900" b="0" i="0">
                <a:solidFill>
                  <a:srgbClr val="FAF9F5"/>
                </a:solidFill>
                <a:latin typeface="Noto Serif KR"/>
                <a:ea typeface="Noto Serif KR"/>
                <a:cs typeface="Noto Serif KR"/>
              </a:rPr>
              <a:t>AI 영상은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3900" b="0" i="0">
                <a:solidFill>
                  <a:srgbClr val="FAF9F5"/>
                </a:solidFill>
                <a:latin typeface="Noto Serif KR"/>
                <a:ea typeface="Noto Serif KR"/>
                <a:cs typeface="Noto Serif KR"/>
              </a:defRPr>
            </a:pPr>
            <a:r>
              <a:rPr sz="3900" b="0" i="0">
                <a:solidFill>
                  <a:srgbClr val="FAF9F5"/>
                </a:solidFill>
                <a:latin typeface="Noto Serif KR"/>
                <a:ea typeface="Noto Serif KR"/>
                <a:cs typeface="Noto Serif KR"/>
              </a:rPr>
              <a:t>편집에서 완성됩니다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B4D7EB-BF11-46E0-8ABD-F27205BF8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48100"/>
            <a:ext cx="8953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725" b="0" i="0">
                <a:solidFill>
                  <a:srgbClr val="CFC8B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 i="0">
                <a:solidFill>
                  <a:srgbClr val="CFC8BF"/>
                </a:solidFill>
                <a:latin typeface="Noto Sans KR"/>
                <a:ea typeface="Noto Sans KR"/>
                <a:cs typeface="Noto Sans KR"/>
              </a:rPr>
              <a:t>생성이 아니라 편집에서 대부분의 문제가 해결됩니다. 무기 다섯 개를 드립니다.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122DF0-897F-4C3B-A89E-8B41CDBB9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95900"/>
            <a:ext cx="18478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785C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501482851"/>
      </p:ext>
    </p:extLst>
  </p:cSld>
  <p:transition spd="slow">
    <p:push dir="u"/>
  </p:transition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D89340-14FA-4C92-A856-186A3C93D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7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CBEBED-065C-4D44-809D-AAC248618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MODULE 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AEECE0-241F-40FA-8647-0FEA16D29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63" b="1" i="0">
                <a:solidFill>
                  <a:srgbClr val="8E8B82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8E8B82"/>
                </a:solidFill>
                <a:latin typeface="Noto Sans KR"/>
                <a:ea typeface="Noto Sans KR"/>
                <a:cs typeface="Noto Sans KR"/>
              </a:rPr>
              <a:t>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8D598A-B2F0-4AB4-AA4B-FD6CF255C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819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713" b="0" i="0">
                <a:solidFill>
                  <a:srgbClr val="A5A099"/>
                </a:solidFill>
                <a:latin typeface="Noto Sans KR"/>
                <a:ea typeface="Noto Sans KR"/>
                <a:cs typeface="Noto Sans KR"/>
              </a:defRPr>
            </a:pPr>
            <a:r>
              <a:rPr sz="713" b="0" i="0">
                <a:solidFill>
                  <a:srgbClr val="A5A099"/>
                </a:solidFill>
                <a:latin typeface="Noto Sans KR"/>
                <a:ea typeface="Noto Sans KR"/>
                <a:cs typeface="Noto Sans KR"/>
              </a:rPr>
              <a:t>춘천시교육지원청 · AI 기반 디지털 교육혁신 전문성 신장 연수 · 3부 이미지·영상 · 2026.8.11.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4DB2C3-1828-40BE-BFB0-D713B1998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75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원인 진단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58C099-69A5-4D52-8825-767B359D6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11201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0" i="0">
                <a:solidFill>
                  <a:srgbClr val="141413"/>
                </a:solidFill>
                <a:latin typeface="Noto Serif KR"/>
                <a:ea typeface="Noto Serif KR"/>
                <a:cs typeface="Noto Serif KR"/>
              </a:defRPr>
            </a:pPr>
            <a:r>
              <a:rPr sz="2775" b="0" i="0">
                <a:solidFill>
                  <a:srgbClr val="141413"/>
                </a:solidFill>
                <a:latin typeface="Noto Serif KR"/>
                <a:ea typeface="Noto Serif KR"/>
                <a:cs typeface="Noto Serif KR"/>
              </a:rPr>
              <a:t>왜 AI 영상은 이어 붙이면 어색한가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36E9AE-09FC-44F3-B657-8388AA641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47850"/>
            <a:ext cx="5524500" cy="3848100"/>
          </a:xfrm>
          <a:prstGeom xmlns:a="http://schemas.openxmlformats.org/drawingml/2006/main" prst="roundRect">
            <a:avLst>
              <a:gd name="adj" fmla="val 3465"/>
            </a:avLst>
          </a:prstGeom>
          <a:solidFill xmlns:a="http://schemas.openxmlformats.org/drawingml/2006/main">
            <a:srgbClr val="EFE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02B451-9C72-4AFC-96C7-4951F2A3D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47850"/>
            <a:ext cx="55245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DE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785486-DBA9-4B52-9DEC-22687677A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5067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이미지와 영상은 구조가 다릅니다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362DD5-C8EF-4C3F-82D1-5766DFA70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506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이미지 — 한 대화 안에서 맥락이 유지됩니다.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45B4E4-4B52-4335-B525-F54231F71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506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577217-C1A2-4BDA-B15E-6B96FABC2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506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영상 — 클립마다 독립적으로 생성됩니다.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F1542A-7A42-46C5-BB68-2769E5467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24300"/>
            <a:ext cx="506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클립 A를 만든 기억이 클립 B에 남지 않습니다.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FE3472-6D7C-45EC-B3D7-8AB2A670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05300"/>
            <a:ext cx="506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37696B-84C9-4412-8D1E-3B3D6447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86300"/>
            <a:ext cx="506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전달되는 것은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5E6849-E92F-4E17-91DC-A0A9C9991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67300"/>
            <a:ext cx="506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내가 다시 넣은 프롬프트와 참조 이미지뿐.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13446C-9F35-416F-A978-A9EE2367B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48300"/>
            <a:ext cx="506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4AF424-72CF-46D2-99C0-6DFD3F08F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29300"/>
            <a:ext cx="506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→ 그래서 영상 단계의 일관성 관리가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D1AB8A-E463-4A4E-AAE0-CC27F3527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10300"/>
            <a:ext cx="506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   이미지 단계보다 훨씬 어렵습니다.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44CA01-1BBA-44C9-B266-2258E43DE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47850"/>
            <a:ext cx="5524500" cy="3848100"/>
          </a:xfrm>
          <a:prstGeom xmlns:a="http://schemas.openxmlformats.org/drawingml/2006/main" prst="roundRect">
            <a:avLst>
              <a:gd name="adj" fmla="val 3465"/>
            </a:avLst>
          </a:prstGeom>
          <a:solidFill xmlns:a="http://schemas.openxmlformats.org/drawingml/2006/main">
            <a:srgbClr val="1817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62EB94-5546-4603-9702-2B5AE714D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47850"/>
            <a:ext cx="55245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C7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0B2937-BB6A-490A-9A77-7A85F944F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95500"/>
            <a:ext cx="5067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rPr>
              <a:t>세 종류의 드리프트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502B63-362C-4119-92C7-B6B607077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81300"/>
            <a:ext cx="506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① 캐릭터 드리프트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949B4B-E801-485D-B889-A257996B0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62300"/>
            <a:ext cx="506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   얼굴·비율·의상·머리가 미묘하게 달라짐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A4140C-6BD3-41BA-B101-108C990F7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43300"/>
            <a:ext cx="506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84E15D-AF57-41D0-A2F9-FE0A785F6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24300"/>
            <a:ext cx="506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② 환경 드리프트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7DF926-1EDA-4751-8F6D-AF6AAB802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05300"/>
            <a:ext cx="506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   조명·색조·배치가 달라짐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C39EC9-52E4-46C9-B39F-C1CE2A74A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86300"/>
            <a:ext cx="506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3DE855-BFFA-4185-8F92-883357F9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506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③ 스타일 드리프트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30BB4B-03EE-4A80-B704-DBB216F21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48300"/>
            <a:ext cx="506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   컷 사이 톤이 안 맞음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370E61-A93B-42E3-AB3C-B104D35EA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829300"/>
            <a:ext cx="506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C36E863-24BD-49B3-BDCD-5E92BD84F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210300"/>
            <a:ext cx="506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→ 완전히 없앨 수는 없습니다. 줄이고 감춥니다.</a:t>
            </a:r>
          </a:p>
        </p:txBody>
      </p:sp>
    </p:spTree>
    <p:extLst>
      <p:ext uri="{BB962C8B-B14F-4D97-AF65-F5344CB8AC3E}">
        <p14:creationId xmlns:p14="http://schemas.microsoft.com/office/powerpoint/2010/main" val="1173027306"/>
      </p:ext>
    </p:extLst>
  </p:cSld>
  <p:transition spd="slow">
    <p:fade/>
  </p:transition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CAF2E40-4FBB-4FF5-9D5E-79C1D89E2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7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899E33-FFE7-4676-A66F-9C9A4B14F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MODULE 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CC203F-5AF8-4EDD-8860-168399DDE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63" b="1" i="0">
                <a:solidFill>
                  <a:srgbClr val="8E8B82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8E8B82"/>
                </a:solidFill>
                <a:latin typeface="Noto Sans KR"/>
                <a:ea typeface="Noto Sans KR"/>
                <a:cs typeface="Noto Sans KR"/>
              </a:rPr>
              <a:t>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780304-E1D7-45B5-A471-8EB9D8CA5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819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713" b="0" i="0">
                <a:solidFill>
                  <a:srgbClr val="A5A099"/>
                </a:solidFill>
                <a:latin typeface="Noto Sans KR"/>
                <a:ea typeface="Noto Sans KR"/>
                <a:cs typeface="Noto Sans KR"/>
              </a:defRPr>
            </a:pPr>
            <a:r>
              <a:rPr sz="713" b="0" i="0">
                <a:solidFill>
                  <a:srgbClr val="A5A099"/>
                </a:solidFill>
                <a:latin typeface="Noto Sans KR"/>
                <a:ea typeface="Noto Sans KR"/>
                <a:cs typeface="Noto Sans KR"/>
              </a:rPr>
              <a:t>춘천시교육지원청 · AI 기반 디지털 교육혁신 전문성 신장 연수 · 3부 이미지·영상 · 2026.8.11.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80D837-FF39-49F0-9380-4C9BA5D91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75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고정 블록과 체이닝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D79FC8-6E8A-4965-BD89-F73B14C11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11201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0" i="0">
                <a:solidFill>
                  <a:srgbClr val="141413"/>
                </a:solidFill>
                <a:latin typeface="Noto Serif KR"/>
                <a:ea typeface="Noto Serif KR"/>
                <a:cs typeface="Noto Serif KR"/>
              </a:defRPr>
            </a:pPr>
            <a:r>
              <a:rPr sz="2775" b="0" i="0">
                <a:solidFill>
                  <a:srgbClr val="141413"/>
                </a:solidFill>
                <a:latin typeface="Noto Serif KR"/>
                <a:ea typeface="Noto Serif KR"/>
                <a:cs typeface="Noto Serif KR"/>
              </a:rPr>
              <a:t>무기 1·2 — 생성 단계에서 줄이기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BBD56D-8CCC-409B-A970-8CD067AD1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47850"/>
            <a:ext cx="5524500" cy="3848100"/>
          </a:xfrm>
          <a:prstGeom xmlns:a="http://schemas.openxmlformats.org/drawingml/2006/main" prst="roundRect">
            <a:avLst>
              <a:gd name="adj" fmla="val 3465"/>
            </a:avLst>
          </a:prstGeom>
          <a:solidFill xmlns:a="http://schemas.openxmlformats.org/drawingml/2006/main">
            <a:srgbClr val="EFE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F2395E-EEC2-4234-AEB9-E099FDD11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47850"/>
            <a:ext cx="55245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DE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7BFB76-DEDA-4EC7-B29F-B9DE57FF5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5067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무기 1 · 고정 블록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667A21-51DC-4940-9351-826DC1A15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506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구글 공식: "장면 일관성이 있는 여러 클립을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7E680C-9A03-4DD0-822E-1405EE757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506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만들려면 이전 프롬프트의 필수 디테일을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25F55A-C202-4212-8C60-CB018F8BD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05200"/>
            <a:ext cx="506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전부 반복하라고 명시적으로 지시해야 한다"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1DCA51-6375-4F87-9C01-22FB8CD37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506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147360-ABC0-4A44-8AC5-46080199F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506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① 그림체 블록 — 모든 컷에 그대로 복사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4C66B8-0502-4644-84CC-8403E8BAA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91050"/>
            <a:ext cx="506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② 인물 블록  — 모든 컷에 그대로 복사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3D423C-D4BF-4F8F-9BDF-93E606331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506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③ 장소 블록  — 같은 장소인 컷에만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F8B8BF-A53C-4B6A-BE91-C6B3222F6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14950"/>
            <a:ext cx="506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④ 컷 블록   — 이 부분만 교체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B37A41-76B1-4424-AEE7-778FC2721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76900"/>
            <a:ext cx="506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⑤ 소리 블록  — 배경음 지정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489D38-9F6A-467C-8162-06B6F3585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47850"/>
            <a:ext cx="5524500" cy="3848100"/>
          </a:xfrm>
          <a:prstGeom xmlns:a="http://schemas.openxmlformats.org/drawingml/2006/main" prst="roundRect">
            <a:avLst>
              <a:gd name="adj" fmla="val 3465"/>
            </a:avLst>
          </a:prstGeom>
          <a:solidFill xmlns:a="http://schemas.openxmlformats.org/drawingml/2006/main">
            <a:srgbClr val="1817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BCBCAC-B60C-4ED2-9677-E3F610DA0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47850"/>
            <a:ext cx="55245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C7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02F48D-6A8B-4DD2-B7F3-B5801484B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95500"/>
            <a:ext cx="5067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rPr>
              <a:t>무기 2 · 체이닝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782E2F-D4C7-47D1-B71E-1E103C952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81300"/>
            <a:ext cx="506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① 클립 A 생성 → 마지막 프레임 저장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269319-737F-4B40-82BD-BBE3CBA4B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43250"/>
            <a:ext cx="506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② 그 프레임을 클립 B의 시작 프레임으로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9F4831-AB8B-4CFA-ADCC-402E1DD2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05200"/>
            <a:ext cx="506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③ 프롬프트에 "이 프레임에서 이어서" 명시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63A12E-5242-4EC4-B25B-D33734228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67150"/>
            <a:ext cx="506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85CA39-C164-4C10-982B-168AB6741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506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"이 프레임에서 그대로 이어서 가.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0C3CC1-031D-41F9-8D4C-BE4537E0A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91050"/>
            <a:ext cx="506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 인물, 옷, 빛의 방향, 색감을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9DF208-3866-4263-8493-4199321BE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953000"/>
            <a:ext cx="506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 입력 프레임과 똑같이 유지해 줘.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0E60A0-B281-42BA-A9F7-E4F487DA4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314950"/>
            <a:ext cx="506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 카메라는 고정. 컷 전환 없음."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2C6C8EE-0A50-40F4-8156-F30D69326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676900"/>
            <a:ext cx="506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4E90AD-852B-4594-8A61-5ED2CAAE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038850"/>
            <a:ext cx="506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→ 시작·끝 프레임을 모두 지정하면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396BD6B-39CE-46D6-A95C-6700B2663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400800"/>
            <a:ext cx="506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   사이를 채우는 브리지 클립이 나옵니다.</a:t>
            </a:r>
          </a:p>
        </p:txBody>
      </p:sp>
    </p:spTree>
    <p:extLst>
      <p:ext uri="{BB962C8B-B14F-4D97-AF65-F5344CB8AC3E}">
        <p14:creationId xmlns:p14="http://schemas.microsoft.com/office/powerpoint/2010/main" val="1693299576"/>
      </p:ext>
    </p:extLst>
  </p:cSld>
  <p:transition spd="slow">
    <p:fade/>
  </p:transition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B8CFE3E-B21F-485B-83EB-2C61EA306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7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E9AF0B-E0ED-4F18-82EC-39677C3B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MODULE 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110B4E-14D3-46E5-9121-8E97E4BBE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63" b="1" i="0">
                <a:solidFill>
                  <a:srgbClr val="8E8B82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8E8B82"/>
                </a:solidFill>
                <a:latin typeface="Noto Sans KR"/>
                <a:ea typeface="Noto Sans KR"/>
                <a:cs typeface="Noto Sans KR"/>
              </a:rPr>
              <a:t>31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327B37-9E1E-4939-91CF-09995ED43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819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713" b="0" i="0">
                <a:solidFill>
                  <a:srgbClr val="A5A099"/>
                </a:solidFill>
                <a:latin typeface="Noto Sans KR"/>
                <a:ea typeface="Noto Sans KR"/>
                <a:cs typeface="Noto Sans KR"/>
              </a:defRPr>
            </a:pPr>
            <a:r>
              <a:rPr sz="713" b="0" i="0">
                <a:solidFill>
                  <a:srgbClr val="A5A099"/>
                </a:solidFill>
                <a:latin typeface="Noto Sans KR"/>
                <a:ea typeface="Noto Sans KR"/>
                <a:cs typeface="Noto Sans KR"/>
              </a:rPr>
              <a:t>춘천시교육지원청 · AI 기반 디지털 교육혁신 전문성 신장 연수 · 3부 이미지·영상 · 2026.8.11.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281A96-3DA6-470F-852C-A86620609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75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가장 실용적인 두 가지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528BCF-E739-4B3E-894A-32A5A227E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11201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0" i="0">
                <a:solidFill>
                  <a:srgbClr val="141413"/>
                </a:solidFill>
                <a:latin typeface="Noto Serif KR"/>
                <a:ea typeface="Noto Serif KR"/>
                <a:cs typeface="Noto Serif KR"/>
              </a:defRPr>
            </a:pPr>
            <a:r>
              <a:rPr sz="2775" b="0" i="0">
                <a:solidFill>
                  <a:srgbClr val="141413"/>
                </a:solidFill>
                <a:latin typeface="Noto Serif KR"/>
                <a:ea typeface="Noto Serif KR"/>
                <a:cs typeface="Noto Serif KR"/>
              </a:rPr>
              <a:t>무기 3·4 — 편집 단계에서 감추기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3B8CA6-3E4B-4185-AA52-865479A2E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47850"/>
            <a:ext cx="5524500" cy="3848100"/>
          </a:xfrm>
          <a:prstGeom xmlns:a="http://schemas.openxmlformats.org/drawingml/2006/main" prst="roundRect">
            <a:avLst>
              <a:gd name="adj" fmla="val 3465"/>
            </a:avLst>
          </a:prstGeom>
          <a:solidFill xmlns:a="http://schemas.openxmlformats.org/drawingml/2006/main">
            <a:srgbClr val="EFE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9BBB6B-7AAA-4BD7-B0EC-5A04D3EF5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47850"/>
            <a:ext cx="55245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DE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1427E4-1FA4-4A8C-BD82-69148BA94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5067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무기 3 · 붙기 어려우면 더 크게 바꿔라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EF235E-A572-41B3-95B5-F25DCCE6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506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앵글이 비슷할수록 미세 불일치가 도드라집니다.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340F55-4610-41C3-927E-D055BAE62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506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29D7C9-611A-4F99-A303-BE28FF181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05200"/>
            <a:ext cx="506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→ 컷 2와 컷 3이 자꾸 안 붙으면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89C01F-618D-4235-85A8-678344C1F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506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   컷 3을 더 비슷하게 만들지 말고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6096DC-AC05-485E-A308-BD8CA647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506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   ★ 더 다르게 만드십시오.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FCECC6-2E78-4C1E-B0AE-273F7036A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91050"/>
            <a:ext cx="506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514808-3BC3-482C-92E6-739264380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506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멀리서 잡은 컷 ↔ 얼굴 클로즈업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2C7AA3-4028-4A37-BEB4-2625D50A5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14950"/>
            <a:ext cx="506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이렇게 과감히 바꾸면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878B7D-9A3D-4686-AE6D-2DF2BBE28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76900"/>
            <a:ext cx="506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불일치가 "각도 차이"로 흡수됩니다.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B2D1FC-CE4E-4BF2-9C25-62FC49B5C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38850"/>
            <a:ext cx="506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33AFA7-A821-404E-9133-C5A7FB241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506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한 장면을 3컷으로: 와이드 / 미디엄 / 클로즈업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9116C5-9478-42F2-AB99-31A025BEB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47850"/>
            <a:ext cx="5524500" cy="3848100"/>
          </a:xfrm>
          <a:prstGeom xmlns:a="http://schemas.openxmlformats.org/drawingml/2006/main" prst="roundRect">
            <a:avLst>
              <a:gd name="adj" fmla="val 3465"/>
            </a:avLst>
          </a:prstGeom>
          <a:solidFill xmlns:a="http://schemas.openxmlformats.org/drawingml/2006/main">
            <a:srgbClr val="1817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81ABF1-F2A1-4071-905B-DA52161E6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47850"/>
            <a:ext cx="55245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C7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5D77C6-C842-4CBF-8AD2-C1AF6D934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95500"/>
            <a:ext cx="5067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rPr>
              <a:t>무기 4 · ★★ J컷 · L컷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C211D3-B8A7-416B-A519-0613F077D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81300"/>
            <a:ext cx="506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J컷 — 다음 장면의 소리가 먼저 들어오고,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524FA4-D191-4D3A-BC37-83BDB81E7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43250"/>
            <a:ext cx="506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     그다음에 그림이 바뀐다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CA8C65-B90F-408F-98B0-E3288AF5A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05200"/>
            <a:ext cx="506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L컷 — 앞 장면의 소리가 이어지는 상태에서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E8C565-7C7C-42A7-9EAE-988D009BF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67150"/>
            <a:ext cx="506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     그림만 먼저 바뀐다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B17959-C11B-4697-AAB7-C2D7CAE14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506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2DAEE9-C3F4-43F4-A0A9-C2E516DF6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91050"/>
            <a:ext cx="506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왜 결정적인가: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9B3FF2-6282-440A-9E41-AEE5AA623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953000"/>
            <a:ext cx="506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그림은 컷마다 튀지만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CFACD9-2BD5-44A6-924E-487DB8263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314950"/>
            <a:ext cx="506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소리는 내가 직접 깔기 때문에 튀지 않습니다.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434C20B-A2F2-4D96-B7CE-6CFBBB7A4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676900"/>
            <a:ext cx="506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D72578-82BC-4E7D-B418-EF3AF1E66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038850"/>
            <a:ext cx="506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→ 소리를 컷 경계보다 0.5초 먼저 시작하면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4F0A225-FF51-4C19-8E26-A61BC0A96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400800"/>
            <a:ext cx="506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   두 컷이 하나의 장면처럼 붙습니다.</a:t>
            </a:r>
          </a:p>
        </p:txBody>
      </p:sp>
    </p:spTree>
    <p:extLst>
      <p:ext uri="{BB962C8B-B14F-4D97-AF65-F5344CB8AC3E}">
        <p14:creationId xmlns:p14="http://schemas.microsoft.com/office/powerpoint/2010/main" val="2101155767"/>
      </p:ext>
    </p:extLst>
  </p:cSld>
  <p:transition spd="slow">
    <p:fade/>
  </p:transition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8C769A6-2FF1-4C9D-A1AD-D565F9813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7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37057C-15D8-46BB-99A7-A7D38EC25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MODULE 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DB4196-4841-40D8-BCDC-DDE707251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63" b="1" i="0">
                <a:solidFill>
                  <a:srgbClr val="8E8B82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8E8B82"/>
                </a:solidFill>
                <a:latin typeface="Noto Sans KR"/>
                <a:ea typeface="Noto Sans KR"/>
                <a:cs typeface="Noto Sans KR"/>
              </a:rPr>
              <a:t>32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EC13F3-A3D6-4F07-BA51-5AF53B741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819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713" b="0" i="0">
                <a:solidFill>
                  <a:srgbClr val="A5A099"/>
                </a:solidFill>
                <a:latin typeface="Noto Sans KR"/>
                <a:ea typeface="Noto Sans KR"/>
                <a:cs typeface="Noto Sans KR"/>
              </a:defRPr>
            </a:pPr>
            <a:r>
              <a:rPr sz="713" b="0" i="0">
                <a:solidFill>
                  <a:srgbClr val="A5A099"/>
                </a:solidFill>
                <a:latin typeface="Noto Sans KR"/>
                <a:ea typeface="Noto Sans KR"/>
                <a:cs typeface="Noto Sans KR"/>
              </a:rPr>
              <a:t>춘천시교육지원청 · AI 기반 디지털 교육혁신 전문성 신장 연수 · 3부 이미지·영상 · 2026.8.11.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91B123-4A1E-44EB-BC94-641CC3C56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75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우선순위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08154E-26C7-48AA-9FDF-0E7BB7969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11201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0" i="0">
                <a:solidFill>
                  <a:srgbClr val="141413"/>
                </a:solidFill>
                <a:latin typeface="Noto Serif KR"/>
                <a:ea typeface="Noto Serif KR"/>
                <a:cs typeface="Noto Serif KR"/>
              </a:defRPr>
            </a:pPr>
            <a:r>
              <a:rPr sz="2775" b="0" i="0">
                <a:solidFill>
                  <a:srgbClr val="141413"/>
                </a:solidFill>
                <a:latin typeface="Noto Serif KR"/>
                <a:ea typeface="Noto Serif KR"/>
                <a:cs typeface="Noto Serif KR"/>
              </a:rPr>
              <a:t>무기 5 — 완벽주의에서 빠져나오기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DB8EB7-0FDF-4AA2-A48C-856EBF8DF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47850"/>
            <a:ext cx="1047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7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49EF1A-8664-4CD5-B6AA-C6A84499F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819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rPr>
              <a:t>순위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FD21D5-20AB-4559-93E4-9A8AD9A27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847850"/>
            <a:ext cx="666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7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76274B-E4A5-450D-B1A3-3FAE65991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943100"/>
            <a:ext cx="643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rPr>
              <a:t>편집 판단 기준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A24E7B-CB89-45C4-B6FD-BF10068EB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47850"/>
            <a:ext cx="25336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7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FFAD57-FA24-4841-ACC2-63DBA8E80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943100"/>
            <a:ext cx="2305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rPr>
              <a:t>가중치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AF05CE-5F8B-4854-950E-13212051B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0"/>
            <a:ext cx="1047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5B3B75-A68F-44AC-8D33-B0ACD21E6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66975"/>
            <a:ext cx="819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2830D4-3450-46EC-9464-590D8346E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381250"/>
            <a:ext cx="666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557318-03F2-4604-B864-165D12ADC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466975"/>
            <a:ext cx="6438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감정 — 관객이 느끼게 하는가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473394-AE97-41E7-92BB-6285E7E69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81250"/>
            <a:ext cx="25336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493E86-3148-4E51-9AF6-1743F11F0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66975"/>
            <a:ext cx="2305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51%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14DD70-E04A-47BB-85D4-6574425E3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14650"/>
            <a:ext cx="1047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3CC3CF-B766-40E1-A9D4-3FE833AE9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819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1EDE7E-AE57-4280-9C21-976A0CCAB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914650"/>
            <a:ext cx="666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D8C698-B43B-4C88-8724-97EA0699B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000375"/>
            <a:ext cx="6438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이야기 — 이야기를 진전시키는가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1176B7-14DF-48C3-BBD2-02BEF4FAB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14650"/>
            <a:ext cx="25336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43BBD6-335E-4F4C-8109-2F0264501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00375"/>
            <a:ext cx="2305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23%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0804B7-1AC5-49CD-9EA1-2D4502F57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48050"/>
            <a:ext cx="1047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363654-002E-4B3C-ADCE-72330AAD1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819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259153-F749-4A62-80BE-D44A840FB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448050"/>
            <a:ext cx="666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08083B-9BD3-4E0A-8AAB-298306DDA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533775"/>
            <a:ext cx="6438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리듬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01493E-A7CF-426A-B63D-0599DF58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448050"/>
            <a:ext cx="25336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C1AB38-7C71-4429-89F7-80F943B6C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533775"/>
            <a:ext cx="2305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10%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90B275-D77B-4843-A305-7725B9F54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81450"/>
            <a:ext cx="1047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62A413-C837-46C8-BBB8-2363D0B41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67175"/>
            <a:ext cx="819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F0FE3E-9BA0-40BC-8F03-E3FB64E76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81450"/>
            <a:ext cx="666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F6ACF82-07DE-4659-9C40-43C4162FF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067175"/>
            <a:ext cx="6438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시선 유도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3F3E9A7-4E78-4251-B544-A6F914429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981450"/>
            <a:ext cx="25336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AE58033-F1BF-4680-B57F-4CE2F7AD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067175"/>
            <a:ext cx="2305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7%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309F168-DD14-496D-811E-2D6F8C43A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14850"/>
            <a:ext cx="1047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23BE107-04FC-4394-B283-7C71BC89B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00575"/>
            <a:ext cx="819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A83E385-6913-42C1-880F-EF6022DF8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514850"/>
            <a:ext cx="666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3731786-6477-4633-9532-DAFA32696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600575"/>
            <a:ext cx="6438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화면 평면 (좌우 축)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2D5C029-6B3A-48C2-81B7-952E387A9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514850"/>
            <a:ext cx="25336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39E7E9B-008D-4049-9917-1A8309E90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600575"/>
            <a:ext cx="2305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5%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CDA5AB6-A906-4804-9E23-539118708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48250"/>
            <a:ext cx="1047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C85E10C-62B3-439B-9D09-98B8BC654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33975"/>
            <a:ext cx="819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6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AD077DD-9ED2-46E8-80F3-105422C12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048250"/>
            <a:ext cx="666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11D87E4-FC5F-4097-BE21-954316B11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133975"/>
            <a:ext cx="6438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공간 연속성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756C711-F524-4169-941B-0758EAC53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048250"/>
            <a:ext cx="25336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C5E436A-DE17-47EB-9981-873F8AA92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133975"/>
            <a:ext cx="2305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4%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51EC1F2-1C55-4C8A-A239-C351FD4BB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00700"/>
            <a:ext cx="11201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088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감정 하나가 나머지 다섯 개를 합친 것보다 큽니다. 연속성 오류는 가장 먼저 버려도 되는 항목입니다.</a:t>
            </a:r>
          </a:p>
        </p:txBody>
      </p:sp>
    </p:spTree>
    <p:extLst>
      <p:ext uri="{BB962C8B-B14F-4D97-AF65-F5344CB8AC3E}">
        <p14:creationId xmlns:p14="http://schemas.microsoft.com/office/powerpoint/2010/main" val="128575804"/>
      </p:ext>
    </p:extLst>
  </p:cSld>
  <p:transition spd="slow">
    <p:fade/>
  </p:transition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0379B4-497F-4D90-9F3D-CE6986372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7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ABA62E-5F40-419B-BE79-DE9BA366D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MODULE 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0C5000-0B60-4EAA-8BEF-060E652C9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63" b="1" i="0">
                <a:solidFill>
                  <a:srgbClr val="8E8B82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8E8B82"/>
                </a:solidFill>
                <a:latin typeface="Noto Sans KR"/>
                <a:ea typeface="Noto Sans KR"/>
                <a:cs typeface="Noto Sans KR"/>
              </a:rPr>
              <a:t>33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6F7D36-2CD8-4861-8863-335982498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819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713" b="0" i="0">
                <a:solidFill>
                  <a:srgbClr val="A5A099"/>
                </a:solidFill>
                <a:latin typeface="Noto Sans KR"/>
                <a:ea typeface="Noto Sans KR"/>
                <a:cs typeface="Noto Sans KR"/>
              </a:defRPr>
            </a:pPr>
            <a:r>
              <a:rPr sz="713" b="0" i="0">
                <a:solidFill>
                  <a:srgbClr val="A5A099"/>
                </a:solidFill>
                <a:latin typeface="Noto Sans KR"/>
                <a:ea typeface="Noto Sans KR"/>
                <a:cs typeface="Noto Sans KR"/>
              </a:rPr>
              <a:t>춘천시교육지원청 · AI 기반 디지털 교육혁신 전문성 신장 연수 · 3부 이미지·영상 · 2026.8.11.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CFA155-B5A6-4323-88AC-9486262CC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75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8초로 만들고 4~6초만 쓴다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6425B1-F217-4975-B307-48004963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11201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0" i="0">
                <a:solidFill>
                  <a:srgbClr val="141413"/>
                </a:solidFill>
                <a:latin typeface="Noto Serif KR"/>
                <a:ea typeface="Noto Serif KR"/>
                <a:cs typeface="Noto Serif KR"/>
              </a:defRPr>
            </a:pPr>
            <a:r>
              <a:rPr sz="2775" b="0" i="0">
                <a:solidFill>
                  <a:srgbClr val="141413"/>
                </a:solidFill>
                <a:latin typeface="Noto Serif KR"/>
                <a:ea typeface="Noto Serif KR"/>
                <a:cs typeface="Noto Serif KR"/>
              </a:rPr>
              <a:t>★ 오늘 가져가실 가장 실용적인 습관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57A4A1-1733-4026-8E35-C392D3CB0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47850"/>
            <a:ext cx="5524500" cy="3848100"/>
          </a:xfrm>
          <a:prstGeom xmlns:a="http://schemas.openxmlformats.org/drawingml/2006/main" prst="roundRect">
            <a:avLst>
              <a:gd name="adj" fmla="val 3465"/>
            </a:avLst>
          </a:prstGeom>
          <a:solidFill xmlns:a="http://schemas.openxmlformats.org/drawingml/2006/main">
            <a:srgbClr val="EFE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481685-5206-4446-AB90-A4D27A34E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47850"/>
            <a:ext cx="55245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DE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019D20-83F6-4611-B8FC-A69743803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5067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왜 그런가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95A7B7-EBAA-4A59-85AF-B9EB6B85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506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AI 클립은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89746C-5895-4F08-B40A-80A28DC3F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0400"/>
            <a:ext cx="506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처음 0.3~0.5초에 모션이 붙고,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160D1B-8C3C-4707-A4FA-99D3AEA1E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506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마지막 0.3~0.5초에 모션이 죽거나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A3FE2A-74EB-4332-9708-B3761BAC6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38600"/>
            <a:ext cx="506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드리프트가 시작됩니다.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CBD395-44B1-47C0-A18B-7555C756F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506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B0BD54-5432-4699-99DC-D74B6442F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506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→ 그 구간을 잘라내면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DA9824-DF04-46B7-9879-AF1870C91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95900"/>
            <a:ext cx="506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   "AI 티"의 상당 부분이 사라집니다.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88F615-5BB7-4384-AE4A-A346ECD5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47850"/>
            <a:ext cx="5524500" cy="3848100"/>
          </a:xfrm>
          <a:prstGeom xmlns:a="http://schemas.openxmlformats.org/drawingml/2006/main" prst="roundRect">
            <a:avLst>
              <a:gd name="adj" fmla="val 3465"/>
            </a:avLst>
          </a:prstGeom>
          <a:solidFill xmlns:a="http://schemas.openxmlformats.org/drawingml/2006/main">
            <a:srgbClr val="1817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222E82-5D0A-4165-9CE7-068834E05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47850"/>
            <a:ext cx="55245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C7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3DA451-7660-4D56-A423-BF7AB783F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95500"/>
            <a:ext cx="5067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rPr>
              <a:t>어떻게 하나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A46411-A14A-4A46-86A1-7368AAA1F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81300"/>
            <a:ext cx="506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① 8초로 생성한다 (여유분 확보)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C42009-48A5-4C8F-BFC5-E9F3799A6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00400"/>
            <a:ext cx="506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② 편집에서 앞 0.3초를 자른다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483FEA-1D49-4354-951A-3523C3078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19500"/>
            <a:ext cx="506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③ 뒤 0.5초를 자른다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A34E75-C566-4FC4-A581-3F3339803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38600"/>
            <a:ext cx="506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④ 남은 4~6초만 쓴다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A0874F-E15E-4065-BF44-5F59A22BB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57700"/>
            <a:ext cx="506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0635FE-9CFB-46EF-922F-2E7F61973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76800"/>
            <a:ext cx="506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이 습관 하나로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C5663D-C6C4-4E2A-B77B-DC9CC673F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295900"/>
            <a:ext cx="506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결과물 완성도가 눈에 띄게 달라집니다.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45699D-7198-4C78-8280-D7D4D9673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67400"/>
            <a:ext cx="1120140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E8E0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EEE4F8-59EA-4DF7-91A2-6AB78CD94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91225"/>
            <a:ext cx="1076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앞 0.3초 · 뒤 0.5초는 기본으로 자릅니다. 이것만 습관이 되어도 결과가 달라집니다.</a:t>
            </a:r>
          </a:p>
        </p:txBody>
      </p:sp>
    </p:spTree>
    <p:extLst>
      <p:ext uri="{BB962C8B-B14F-4D97-AF65-F5344CB8AC3E}">
        <p14:creationId xmlns:p14="http://schemas.microsoft.com/office/powerpoint/2010/main" val="843587985"/>
      </p:ext>
    </p:extLst>
  </p:cSld>
  <p:transition spd="slow">
    <p:fade/>
  </p:transition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2AFA0C8-C91B-48CF-B3C1-BE2BD3F6D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7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0569C7-6ED4-4A5E-A248-BE6579E66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MODULE 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EDBE19-2F18-4F8D-9DA5-FB17342F6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63" b="1" i="0">
                <a:solidFill>
                  <a:srgbClr val="8E8B82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8E8B82"/>
                </a:solidFill>
                <a:latin typeface="Noto Sans KR"/>
                <a:ea typeface="Noto Sans KR"/>
                <a:cs typeface="Noto Sans KR"/>
              </a:rPr>
              <a:t>34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1B32B6-C13B-4752-9E36-C2AA26166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819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713" b="0" i="0">
                <a:solidFill>
                  <a:srgbClr val="A5A099"/>
                </a:solidFill>
                <a:latin typeface="Noto Sans KR"/>
                <a:ea typeface="Noto Sans KR"/>
                <a:cs typeface="Noto Sans KR"/>
              </a:defRPr>
            </a:pPr>
            <a:r>
              <a:rPr sz="713" b="0" i="0">
                <a:solidFill>
                  <a:srgbClr val="A5A099"/>
                </a:solidFill>
                <a:latin typeface="Noto Sans KR"/>
                <a:ea typeface="Noto Sans KR"/>
                <a:cs typeface="Noto Sans KR"/>
              </a:rPr>
              <a:t>춘천시교육지원청 · AI 기반 디지털 교육혁신 전문성 신장 연수 · 3부 이미지·영상 · 2026.8.11.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B7BAE6-AFBF-4229-8019-BB2CBE501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75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막혔을 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D72CF7-C43E-45C6-814A-44DECFBE6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11201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0" i="0">
                <a:solidFill>
                  <a:srgbClr val="141413"/>
                </a:solidFill>
                <a:latin typeface="Noto Serif KR"/>
                <a:ea typeface="Noto Serif KR"/>
                <a:cs typeface="Noto Serif KR"/>
              </a:defRPr>
            </a:pPr>
            <a:r>
              <a:rPr sz="2775" b="0" i="0">
                <a:solidFill>
                  <a:srgbClr val="141413"/>
                </a:solidFill>
                <a:latin typeface="Noto Serif KR"/>
                <a:ea typeface="Noto Serif KR"/>
                <a:cs typeface="Noto Serif KR"/>
              </a:rPr>
              <a:t>부자연스러움 유형별 대처표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7FCD21-0F35-43D2-8136-BB6CD27FF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47850"/>
            <a:ext cx="266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7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B886F6-1C41-4339-B2F0-62C2A1B35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243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rPr>
              <a:t>증상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2D1FE3-95B3-4EDD-BF51-B81E96AF9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847850"/>
            <a:ext cx="3810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7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B2BE30-4156-4437-A41D-0C3FB3E8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943100"/>
            <a:ext cx="3581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rPr>
              <a:t>생성 단계 대처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660213-033E-424B-BB8F-F47FE0D56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847850"/>
            <a:ext cx="3771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7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B70DBE-4D9F-4DA2-A721-8CADD688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943100"/>
            <a:ext cx="3543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rPr>
              <a:t>편집 단계 대처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1057B6-57DD-4E3C-82CB-B7FC15174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266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5C2056-F537-45CB-975D-F9D4CCE83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2438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63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모프 (얼굴·사물이 녹아내림)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B4BB92-E520-4F7C-A161-BEC9A2034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362200"/>
            <a:ext cx="3810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9E84DA-609E-4244-9E0B-3CC954881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447925"/>
            <a:ext cx="3581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63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동작을 단순하게 (천천히, 부드럽게)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276071-8940-4B83-B36B-54D3DA831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62200"/>
            <a:ext cx="3771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6CB364-1087-4ADB-9894-4F3B71402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447925"/>
            <a:ext cx="3543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63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모프 구간을 잘라낸다. 못 살리면 재생성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2E437A-18CC-476E-A2B0-6B4EEF8AF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76550"/>
            <a:ext cx="266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2B033B-3671-4147-B8A3-D5F268E13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62275"/>
            <a:ext cx="2438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63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색 튐 (컷마다 색온도 다름)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10432F-1B41-4CF0-8DA7-D148D6021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876550"/>
            <a:ext cx="3810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B8FC4C-8516-43A3-BB68-0DDD4046C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962275"/>
            <a:ext cx="3581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63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조명 방향·시간대·색감을 문장으로 고정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B68266-609D-4D7E-8F1D-EEDC4E0C0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876550"/>
            <a:ext cx="3771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6AD877-3CDD-4584-96FD-F376C8206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962275"/>
            <a:ext cx="3543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63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가장 잘 나온 컷 기준으로 맞추고 전체에 필터 1개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449516-4FD6-4323-8B2F-F9753BC48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90900"/>
            <a:ext cx="266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B13922-CE1B-4110-AE7D-FD88F5EE0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2438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63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얼굴이 달라짐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4708A9-0D12-42BF-9BA5-29FEB8CD5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390900"/>
            <a:ext cx="3810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B57469-D607-4440-B87C-A61620137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476625"/>
            <a:ext cx="3581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63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캐릭터 블록 고정 + 기준 이미지 재첨부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4FD426-FB9A-4385-A5A3-AC64F5024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90900"/>
            <a:ext cx="3771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57E705-8DF1-462D-8F16-D273E5D77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476625"/>
            <a:ext cx="3543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63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그 컷만 멀리서 잡은 화면·뒷모습으로 대체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F15297-4330-46BC-828A-5626BEAF0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05250"/>
            <a:ext cx="266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F08CA00-6C83-4B32-940D-25A7C0AD8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0975"/>
            <a:ext cx="2438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63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손·손가락 이상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307FD63-431B-478D-A0DE-A8BB359CC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905250"/>
            <a:ext cx="3810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5501FC3-80EA-4E31-80C8-6B52D836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990975"/>
            <a:ext cx="3581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63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손이 화면에 크게 안 나오게 구도 지정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7F000A4-1C9D-480D-BC42-FE9EFCF13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905250"/>
            <a:ext cx="3771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9721511-F3F8-486B-843C-43FE3512C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990975"/>
            <a:ext cx="3543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63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그 구간 잘라내기 또는 손이 안 보이게 크롭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4BBB9C7-CE71-4ACC-9ED7-39E93DE0D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19600"/>
            <a:ext cx="266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1305BB3-5EEA-4267-9919-23402C406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2438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63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좌우 뒤집힘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FFDC257-93E3-4D0C-99AA-244225BE5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419600"/>
            <a:ext cx="3810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1E43A08-6181-4E3D-A772-E1AD66805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505325"/>
            <a:ext cx="3581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63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프롬프트에 좌·우 배치 명시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71808B1-995B-424A-A104-72ADA0B25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419600"/>
            <a:ext cx="3771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3B519F0-D38E-405A-94AC-C19F00D7D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505325"/>
            <a:ext cx="3543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63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편집기에서 수평 반전 (화면에 글자 있으면 불가)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989A87C-B89C-4228-B22B-7760E06C2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33950"/>
            <a:ext cx="266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FBAE492-88D8-488E-97E3-F1FF3E326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9675"/>
            <a:ext cx="2438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63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화면 속 깨진 글자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17518B3-6AFB-4D4E-809B-E12860F50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933950"/>
            <a:ext cx="3810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C9C5F84-4826-4639-B9E2-A2E1AF159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019675"/>
            <a:ext cx="3581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63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"화면 안에 글자 넣지 말 것"으로 배제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1A2344D-1F94-48DF-8F61-708A75E2C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933950"/>
            <a:ext cx="3771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31D9DC9-974E-48FC-9EB9-FF61C3736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019675"/>
            <a:ext cx="3543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63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자막·타이틀은 편집기에서 얹기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33A914D-2838-45B8-BDED-BF49B9237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48300"/>
            <a:ext cx="266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9FDB328-528C-4482-BF7E-5CCFDBD5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34025"/>
            <a:ext cx="2438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63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첫·끝 0.5초가 어색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FF3EF93-CAD1-46EC-B4A0-48CF37D07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448300"/>
            <a:ext cx="3810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4492F78-1BE2-4FD3-9F17-18F176973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534025"/>
            <a:ext cx="3581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63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8초로 생성해 여유분 확보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539D49E-FB16-4FCA-BF29-149658DFF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448300"/>
            <a:ext cx="3771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AD5063D-B50C-4A2A-8BD6-41E82EF9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534025"/>
            <a:ext cx="3543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63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⭐ 앞 0.3초 / 뒤 0.5초 기본 트림</a:t>
            </a:r>
          </a:p>
        </p:txBody>
      </p:sp>
    </p:spTree>
    <p:extLst>
      <p:ext uri="{BB962C8B-B14F-4D97-AF65-F5344CB8AC3E}">
        <p14:creationId xmlns:p14="http://schemas.microsoft.com/office/powerpoint/2010/main" val="135872891"/>
      </p:ext>
    </p:extLst>
  </p:cSld>
  <p:transition spd="slow">
    <p:fade/>
  </p:transition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049693D-0EB5-4FF8-90E3-ADBD73B59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7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2C738A-913E-4F57-AC0B-A363C74B0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MODULE 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123D51-A339-4857-AED7-5FAB0852C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63" b="1" i="0">
                <a:solidFill>
                  <a:srgbClr val="8E8B82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8E8B82"/>
                </a:solidFill>
                <a:latin typeface="Noto Sans KR"/>
                <a:ea typeface="Noto Sans KR"/>
                <a:cs typeface="Noto Sans KR"/>
              </a:rPr>
              <a:t>35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F15C5-601F-4214-9B8B-5E6282AFB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819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713" b="0" i="0">
                <a:solidFill>
                  <a:srgbClr val="A5A099"/>
                </a:solidFill>
                <a:latin typeface="Noto Sans KR"/>
                <a:ea typeface="Noto Sans KR"/>
                <a:cs typeface="Noto Sans KR"/>
              </a:defRPr>
            </a:pPr>
            <a:r>
              <a:rPr sz="713" b="0" i="0">
                <a:solidFill>
                  <a:srgbClr val="A5A099"/>
                </a:solidFill>
                <a:latin typeface="Noto Sans KR"/>
                <a:ea typeface="Noto Sans KR"/>
                <a:cs typeface="Noto Sans KR"/>
              </a:rPr>
              <a:t>춘천시교육지원청 · AI 기반 디지털 교육혁신 전문성 신장 연수 · 3부 이미지·영상 · 2026.8.11.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BB924C-D9BA-40D9-8E85-4D62993D5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75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실패 대비 3단 우회안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EBD6D0-2A40-485D-80CB-D3E0E5697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11201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0" i="0">
                <a:solidFill>
                  <a:srgbClr val="141413"/>
                </a:solidFill>
                <a:latin typeface="Noto Serif KR"/>
                <a:ea typeface="Noto Serif KR"/>
                <a:cs typeface="Noto Serif KR"/>
              </a:defRPr>
            </a:pPr>
            <a:r>
              <a:rPr sz="2775" b="0" i="0">
                <a:solidFill>
                  <a:srgbClr val="141413"/>
                </a:solidFill>
                <a:latin typeface="Noto Serif KR"/>
                <a:ea typeface="Noto Serif KR"/>
                <a:cs typeface="Noto Serif KR"/>
              </a:rPr>
              <a:t>한국어 대사 — 솔직하게 말씀드립니다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23F296-67C5-40A7-AE94-8C11A8CB6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47850"/>
            <a:ext cx="5524500" cy="3848100"/>
          </a:xfrm>
          <a:prstGeom xmlns:a="http://schemas.openxmlformats.org/drawingml/2006/main" prst="roundRect">
            <a:avLst>
              <a:gd name="adj" fmla="val 3465"/>
            </a:avLst>
          </a:prstGeom>
          <a:solidFill xmlns:a="http://schemas.openxmlformats.org/drawingml/2006/main">
            <a:srgbClr val="EFE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BA01DE-059E-4F99-9E97-657576D83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47850"/>
            <a:ext cx="55245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DE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326A5F-1DD6-4FB9-A9DE-151D8933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5067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공식 문서로 확인되는 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BDC3CB-EF2D-434D-B61D-12859C08F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506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✅ 한국어는 지원 언어 목록에 포함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088257-CFD5-417D-8D4D-725A17009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506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A977CE-88A3-4D95-9820-0ABC222E3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506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⚠ 같은 문서가 경고합니다: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ACE729-1150-4917-9851-966629DCA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0"/>
            <a:ext cx="506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  "최상의 결과를 위해 영어 프롬프트 권장.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6E8B0A-63E6-442A-9DAE-A499CFEA1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52900"/>
            <a:ext cx="506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   생성 품질은 언어에 따라 달라질 수 있음"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043716-A717-4F24-99B9-FF569E533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95800"/>
            <a:ext cx="506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20928E-8C67-459E-A466-F8332A9F0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38700"/>
            <a:ext cx="506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❌ "한국어 음성을 생성한다"고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9E6579-CEB7-479D-B60C-70E3A002B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81600"/>
            <a:ext cx="506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   보증하는 공식 문구는 없습니다.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4FD120-CBDE-48EA-B274-6AB98E51B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0"/>
            <a:ext cx="506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D68C83-77B4-471E-BECD-5957C99AD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67400"/>
            <a:ext cx="506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실무 보고: 같은 프롬프트로도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A76866-FC1F-4B80-9892-D44F0AEF5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10300"/>
            <a:ext cx="506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어떤 건 영어로, 어떤 건 한국어로 — 비결정적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48CAA6-DE83-4AF3-A102-FA29C679D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47850"/>
            <a:ext cx="5524500" cy="3848100"/>
          </a:xfrm>
          <a:prstGeom xmlns:a="http://schemas.openxmlformats.org/drawingml/2006/main" prst="roundRect">
            <a:avLst>
              <a:gd name="adj" fmla="val 3465"/>
            </a:avLst>
          </a:prstGeom>
          <a:solidFill xmlns:a="http://schemas.openxmlformats.org/drawingml/2006/main">
            <a:srgbClr val="1817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728050-581D-477B-88A2-D812BC69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47850"/>
            <a:ext cx="55245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C7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9AC814-06EA-4097-A613-B850C1F95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95500"/>
            <a:ext cx="5067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rPr>
              <a:t>3단 우회안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329BF4-74FD-4B77-9251-074CF5C72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81300"/>
            <a:ext cx="506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1안 (권장) ★★★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064D54-648A-4D5B-8162-A5CEF8580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24200"/>
            <a:ext cx="506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  영상은 무음·배경음만 생성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A4B2B5-B9AC-43B5-A488-9B07A360A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67100"/>
            <a:ext cx="506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  → 편집기에서 한국어 육성/TTS 얹기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CE6E39-BEA7-4ECD-9815-A21046F05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506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51E142-F644-4AA7-A5F6-AB04ED5A4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52900"/>
            <a:ext cx="506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2안 ★★★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477F59-57CE-477A-ADC5-764688871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95800"/>
            <a:ext cx="506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  영상은 무음 생성 → 자막으로 대사 처리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8EC95B-49C4-4EF7-B3BD-55CA1BF53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38700"/>
            <a:ext cx="506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3BBCC0-B6FF-4DF8-A070-953B9371D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81600"/>
            <a:ext cx="506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3안 (도전) ★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481A36-E80E-4432-B6AB-E06E89747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524500"/>
            <a:ext cx="506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  프롬프트 본문은 영어, 대사만 한국어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D4B9F9-019B-479B-95A8-BAF5EDFC9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867400"/>
            <a:ext cx="506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  → 불안정. 시연용으로만</a:t>
            </a:r>
          </a:p>
        </p:txBody>
      </p:sp>
    </p:spTree>
    <p:extLst>
      <p:ext uri="{BB962C8B-B14F-4D97-AF65-F5344CB8AC3E}">
        <p14:creationId xmlns:p14="http://schemas.microsoft.com/office/powerpoint/2010/main" val="1772524711"/>
      </p:ext>
    </p:extLst>
  </p:cSld>
  <p:transition spd="slow">
    <p:fade/>
  </p:transition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1817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20EEEA-AA5A-4E92-8744-655170903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7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D3628E-1A19-456F-AD7B-AA155D5B9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63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MODULE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CEF318-6F3F-4768-AA1A-837DFAD1A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63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36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3C26EC-71E7-4B2F-B09C-002DD7E6C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819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713" b="0" i="0">
                <a:solidFill>
                  <a:srgbClr val="7C766E"/>
                </a:solidFill>
                <a:latin typeface="Noto Sans KR"/>
                <a:ea typeface="Noto Sans KR"/>
                <a:cs typeface="Noto Sans KR"/>
              </a:defRPr>
            </a:pPr>
            <a:r>
              <a:rPr sz="713" b="0" i="0">
                <a:solidFill>
                  <a:srgbClr val="7C766E"/>
                </a:solidFill>
                <a:latin typeface="Noto Sans KR"/>
                <a:ea typeface="Noto Sans KR"/>
                <a:cs typeface="Noto Sans KR"/>
              </a:rPr>
              <a:t>춘천시교육지원청 · AI 기반 디지털 교육혁신 전문성 신장 연수 · 3부 이미지·영상 · 2026.8.11.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804A47-AEC4-498F-9E49-3192D7EF0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088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SAFETY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03EE63-4449-475A-88ED-0C9556826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33550"/>
            <a:ext cx="106680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900" b="0" i="0">
                <a:solidFill>
                  <a:srgbClr val="FAF9F5"/>
                </a:solidFill>
                <a:latin typeface="Noto Serif KR"/>
                <a:ea typeface="Noto Serif KR"/>
                <a:cs typeface="Noto Serif KR"/>
              </a:defRPr>
            </a:pPr>
            <a:r>
              <a:rPr sz="3900" b="0" i="0">
                <a:solidFill>
                  <a:srgbClr val="FAF9F5"/>
                </a:solidFill>
                <a:latin typeface="Noto Serif KR"/>
                <a:ea typeface="Noto Serif KR"/>
                <a:cs typeface="Noto Serif KR"/>
              </a:rPr>
              <a:t>대외 배포 전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3900" b="0" i="0">
                <a:solidFill>
                  <a:srgbClr val="FAF9F5"/>
                </a:solidFill>
                <a:latin typeface="Noto Serif KR"/>
                <a:ea typeface="Noto Serif KR"/>
                <a:cs typeface="Noto Serif KR"/>
              </a:defRPr>
            </a:pPr>
            <a:r>
              <a:rPr sz="3900" b="0" i="0">
                <a:solidFill>
                  <a:srgbClr val="FAF9F5"/>
                </a:solidFill>
                <a:latin typeface="Noto Serif KR"/>
                <a:ea typeface="Noto Serif KR"/>
                <a:cs typeface="Noto Serif KR"/>
              </a:rPr>
              <a:t>반드시 확인할 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363357-0882-4759-8DA3-808CF9A78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48100"/>
            <a:ext cx="8953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725" b="0" i="0">
                <a:solidFill>
                  <a:srgbClr val="CFC8B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 i="0">
                <a:solidFill>
                  <a:srgbClr val="CFC8BF"/>
                </a:solidFill>
                <a:latin typeface="Noto Sans KR"/>
                <a:ea typeface="Noto Sans KR"/>
                <a:cs typeface="Noto Sans KR"/>
              </a:rPr>
              <a:t>워터마크 · 저작권 · 표기. 이걸 모르고 배포하면 되돌리기 어렵습니다.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6ABC31-66A1-4102-8277-9554EBF99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95900"/>
            <a:ext cx="18478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785C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827796385"/>
      </p:ext>
    </p:extLst>
  </p:cSld>
  <p:transition spd="slow">
    <p:push dir="u"/>
  </p:transition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62429A2-BC1C-454E-BB8B-B5BCEECB6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7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BE9B01-C725-4EB1-A17B-9BB3D7E97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MODULE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C53570-6ADC-424E-8330-C705EF55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63" b="1" i="0">
                <a:solidFill>
                  <a:srgbClr val="8E8B82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8E8B82"/>
                </a:solidFill>
                <a:latin typeface="Noto Sans KR"/>
                <a:ea typeface="Noto Sans KR"/>
                <a:cs typeface="Noto Sans KR"/>
              </a:rPr>
              <a:t>37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6B95D0-DA75-4F67-A2F8-6E15A16EE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819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713" b="0" i="0">
                <a:solidFill>
                  <a:srgbClr val="A5A099"/>
                </a:solidFill>
                <a:latin typeface="Noto Sans KR"/>
                <a:ea typeface="Noto Sans KR"/>
                <a:cs typeface="Noto Sans KR"/>
              </a:defRPr>
            </a:pPr>
            <a:r>
              <a:rPr sz="713" b="0" i="0">
                <a:solidFill>
                  <a:srgbClr val="A5A099"/>
                </a:solidFill>
                <a:latin typeface="Noto Sans KR"/>
                <a:ea typeface="Noto Sans KR"/>
                <a:cs typeface="Noto Sans KR"/>
              </a:rPr>
              <a:t>춘천시교육지원청 · AI 기반 디지털 교육혁신 전문성 신장 연수 · 3부 이미지·영상 · 2026.8.11.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52147C-ED1A-4C07-9308-9C88C35C7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75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★ 필수 확인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5750BF-1CE6-40B5-8A89-297949780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11201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0" i="0">
                <a:solidFill>
                  <a:srgbClr val="141413"/>
                </a:solidFill>
                <a:latin typeface="Noto Serif KR"/>
                <a:ea typeface="Noto Serif KR"/>
                <a:cs typeface="Noto Serif KR"/>
              </a:defRPr>
            </a:pPr>
            <a:r>
              <a:rPr sz="2775" b="0" i="0">
                <a:solidFill>
                  <a:srgbClr val="141413"/>
                </a:solidFill>
                <a:latin typeface="Noto Serif KR"/>
                <a:ea typeface="Noto Serif KR"/>
                <a:cs typeface="Noto Serif KR"/>
              </a:rPr>
              <a:t>교육 현장에서 반드시 알아야 할 8가지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C1D064-D2B3-4D61-A5A4-EA6E9945C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47850"/>
            <a:ext cx="476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7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6E73F1-E92D-4F17-80CA-1D557BE73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24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rPr>
              <a:t>#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88A714-C97B-49BF-A3AC-1C1B5BFD5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47850"/>
            <a:ext cx="5391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7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E7B397-C8D9-4A89-92F1-7FC0A54FF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43100"/>
            <a:ext cx="516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rPr>
              <a:t>사실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5B7CFA-93D6-4E3B-8DBD-88DE6CE3C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47850"/>
            <a:ext cx="438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7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CC28B8-9E2B-4926-A53C-D2F0822F0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43100"/>
            <a:ext cx="415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rPr>
              <a:t>실무 영향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20AEFF-2DD6-43A6-8A63-68AFA0878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43150"/>
            <a:ext cx="476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4DB425-74AC-4B4B-8B75-D4F725087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24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25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5B5C68-0ECF-479F-A2D1-8DDDC4E9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43150"/>
            <a:ext cx="5391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34B6A8-3110-4D88-B613-319AA992D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28875"/>
            <a:ext cx="516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25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AI가 100% 생성한 산출물은 저작물로 인정·등록되지 않는다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CB8AA8-FE48-4653-AF94-43ABFB407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43150"/>
            <a:ext cx="438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4B1A64-EBCB-426C-9D91-2D561FCEA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28875"/>
            <a:ext cx="415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25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대회 출품은 가능. 단 '본인 창작' 입증에 프롬프트 기록 필수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E44262-899F-406B-9CB8-751E22F1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38450"/>
            <a:ext cx="476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8C46D7-99EB-46A1-B4F3-6B881515A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24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25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A1689C-971F-42B8-BA5E-65DBE4CEF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38450"/>
            <a:ext cx="5391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61D317-32C6-4F6E-9ADC-44A7A3B6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24175"/>
            <a:ext cx="516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25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Google Flow는 만 18세 이상만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1DBCBA-E491-4E80-B20A-A7E5BECA8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38450"/>
            <a:ext cx="438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3C2C55-E6EC-476C-BCEA-9CD2C5E4F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24175"/>
            <a:ext cx="415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25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초·중·고 학생은 직접 사용 불가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1FD17D-8519-4F6A-BB1D-05E871A17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0"/>
            <a:ext cx="476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19F9E7-5658-470E-BF63-6D5239B4D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9475"/>
            <a:ext cx="24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25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87D0FE-C6D6-407B-BBDB-636E7288D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33750"/>
            <a:ext cx="5391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A92190-1CE2-4905-9464-1153A6D6B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19475"/>
            <a:ext cx="516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25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한국 Google 계정 최소 연령은 만 14세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0E09E7-9E1E-4419-A94B-8943C762C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33750"/>
            <a:ext cx="438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B61932-A8A5-4053-B278-7A0FE61C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19475"/>
            <a:ext cx="415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25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초5~중1은 학교 Workspace 계정이 사실상 유일한 경로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7971B5-E693-4358-AEF6-0E591CF8A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29050"/>
            <a:ext cx="476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11384A-CBE9-48B4-B097-C971EE4E8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24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25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F6E19D3-8E47-4F50-A305-4B916AE30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29050"/>
            <a:ext cx="5391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30F6502-5A8F-4F09-A27D-CA1E26D8F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14775"/>
            <a:ext cx="516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25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영상 편집기 내장 음원은 개인·비상업 한정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720237-F194-48D0-A78B-9C628B728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29050"/>
            <a:ext cx="438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59DF1FE-4FE1-4E7F-B674-7B0C1C32E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14775"/>
            <a:ext cx="415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25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대회 출품작·유튜브에 쓰면 약관 위반 소지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470B6C8-54B3-48BF-8849-40AED4A99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24350"/>
            <a:ext cx="476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660A176-368A-4ADC-8F81-27EC05FED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0075"/>
            <a:ext cx="24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25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F3B49E4-EB4A-45D2-B388-2E2B50EA5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24350"/>
            <a:ext cx="5391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DBE9086-3A89-4485-A2EC-782E6604C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10075"/>
            <a:ext cx="516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25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음악 생성 무료 플랜은 비상업 + 출처표시 의무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6D5587E-01AE-4953-BBFA-F614AEE6F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324350"/>
            <a:ext cx="438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20AED6A-AB20-467F-857E-F9BCBD53D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10075"/>
            <a:ext cx="415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25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크레딧에 출처를 표기하거나 유료로 생성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40ED3D8-5459-4588-9C03-D4EA8201E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476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B730848-56E6-4B2F-A84C-07D42C23D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24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25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6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ACF3066-D4D1-446C-89EC-52830B41F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19650"/>
            <a:ext cx="5391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CB3E7B1-6F7A-4CDA-9E7F-AD06D5CB2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05375"/>
            <a:ext cx="516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25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Flow 무료·중간 요금제 영상엔 가시 워터마크가 박힌다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C151057-E7BF-414F-BD90-269981B0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819650"/>
            <a:ext cx="438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6E19EBA-DFB3-4491-9A09-7273E933C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05375"/>
            <a:ext cx="415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25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심사위원 사전 고지 필요. 잘라내기 지도는 금물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A7D8E5C-5B05-45D9-9A43-809437E7D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14950"/>
            <a:ext cx="476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4760BBF-612E-4241-BCE8-585484FBB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00675"/>
            <a:ext cx="24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25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7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CE192D0-B184-4B1B-8817-AB570131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314950"/>
            <a:ext cx="5391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D78DDE7-10F6-4957-8DAB-A7E1DF622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400675"/>
            <a:ext cx="516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25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모든 Google 생성물에 SynthID 비가시 워터마크가 들어간다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31C1BEE-A9CB-4CA2-9803-00C31E2A0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314950"/>
            <a:ext cx="438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F0805C0-93C9-4E74-B334-275F1E02C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400675"/>
            <a:ext cx="415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25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AI 생성 여부 확인 가능. 사람이 만든 척은 약관 위반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518866F-5C96-4978-BA3F-E13C7BA3C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10250"/>
            <a:ext cx="476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1CB92C3-FFBC-4E8B-8CE9-D490E40F2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24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25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8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EF434B0-8E26-45CF-88F7-4AB088B8E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810250"/>
            <a:ext cx="5391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8D88B03-BAEC-4FFA-B360-DF7E0C4DC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895975"/>
            <a:ext cx="516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25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교육부가 2026학년도부터 「AI 활용 과정 표기」를 공식화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DD33426-172B-45A7-BFDF-431720B59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810250"/>
            <a:ext cx="438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63D40F7-4DCE-40BC-9E93-6C8F76730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895975"/>
            <a:ext cx="415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25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크레딧 표기와 프롬프트 기록은 선택이 아니라 지도 사항</a:t>
            </a:r>
          </a:p>
        </p:txBody>
      </p:sp>
    </p:spTree>
    <p:extLst>
      <p:ext uri="{BB962C8B-B14F-4D97-AF65-F5344CB8AC3E}">
        <p14:creationId xmlns:p14="http://schemas.microsoft.com/office/powerpoint/2010/main" val="1616899440"/>
      </p:ext>
    </p:extLst>
  </p:cSld>
  <p:transition spd="slow">
    <p:fade/>
  </p:transition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C01775-62D9-487A-8305-D2FB293F4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7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8E54A5-C020-44AA-9CEE-489DB644B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MODULE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CCF21F-D434-45CE-9F82-C41EE0EF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63" b="1" i="0">
                <a:solidFill>
                  <a:srgbClr val="8E8B82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8E8B82"/>
                </a:solidFill>
                <a:latin typeface="Noto Sans KR"/>
                <a:ea typeface="Noto Sans KR"/>
                <a:cs typeface="Noto Sans KR"/>
              </a:rPr>
              <a:t>38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86564D-A7FD-4CBB-B568-4FE0A2A80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819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713" b="0" i="0">
                <a:solidFill>
                  <a:srgbClr val="A5A099"/>
                </a:solidFill>
                <a:latin typeface="Noto Sans KR"/>
                <a:ea typeface="Noto Sans KR"/>
                <a:cs typeface="Noto Sans KR"/>
              </a:defRPr>
            </a:pPr>
            <a:r>
              <a:rPr sz="713" b="0" i="0">
                <a:solidFill>
                  <a:srgbClr val="A5A099"/>
                </a:solidFill>
                <a:latin typeface="Noto Sans KR"/>
                <a:ea typeface="Noto Sans KR"/>
                <a:cs typeface="Noto Sans KR"/>
              </a:rPr>
              <a:t>춘천시교육지원청 · AI 기반 디지털 교육혁신 전문성 신장 연수 · 3부 이미지·영상 · 2026.8.11.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61677B-4963-4362-9CB5-D8780E74C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75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표기의 진실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6F875C-2EAE-4465-818B-2EFCE7273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11201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0" i="0">
                <a:solidFill>
                  <a:srgbClr val="141413"/>
                </a:solidFill>
                <a:latin typeface="Noto Serif KR"/>
                <a:ea typeface="Noto Serif KR"/>
                <a:cs typeface="Noto Serif KR"/>
              </a:defRPr>
            </a:pPr>
            <a:r>
              <a:rPr sz="2775" b="0" i="0">
                <a:solidFill>
                  <a:srgbClr val="141413"/>
                </a:solidFill>
                <a:latin typeface="Noto Serif KR"/>
                <a:ea typeface="Noto Serif KR"/>
                <a:cs typeface="Noto Serif KR"/>
              </a:rPr>
              <a:t>SynthID가 실제로 하는 일 — 오해하기 쉬운 부분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3CFEAA-751C-425A-A4A4-6D3A2189D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47850"/>
            <a:ext cx="5524500" cy="3848100"/>
          </a:xfrm>
          <a:prstGeom xmlns:a="http://schemas.openxmlformats.org/drawingml/2006/main" prst="roundRect">
            <a:avLst>
              <a:gd name="adj" fmla="val 3465"/>
            </a:avLst>
          </a:prstGeom>
          <a:solidFill xmlns:a="http://schemas.openxmlformats.org/drawingml/2006/main">
            <a:srgbClr val="EFE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D3DA3D-3D23-4EA6-BCB9-F610D5EA9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47850"/>
            <a:ext cx="55245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DE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DFC9C4-FCC1-4685-9860-D93A48B2F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5067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SynthID가 하는 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20D239-B4DF-4813-B030-AC8A39442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506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구글이 만든 모든 생성물에 들어가는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3BBE62-CFFA-46E6-BBAC-EB7E9A9EE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506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눈에 보이지 않는 워터마크입니다.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0E2825-626C-4AB0-B338-E8523473F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506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0AD573-9061-4567-A2A8-A8BC72424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24300"/>
            <a:ext cx="506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제미나이에 올리면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4132E6-74EB-41D0-B391-BE2493ED0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05300"/>
            <a:ext cx="506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"AI가 만든 것인가"를 확인해 줍니다.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D793DA-28F8-4F39-9F20-4EAF66953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86300"/>
            <a:ext cx="506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C2E513-994C-4C54-A6C9-ADA9F4687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67300"/>
            <a:ext cx="506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제미나이 앱은 우측 하단에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633D49-ECE7-4CB6-806C-0276AD00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48300"/>
            <a:ext cx="506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눈에 보이는 워터마크까지 붙입니다.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41EA11-D62C-40D2-9BB9-BC9AFF199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47850"/>
            <a:ext cx="5524500" cy="3848100"/>
          </a:xfrm>
          <a:prstGeom xmlns:a="http://schemas.openxmlformats.org/drawingml/2006/main" prst="roundRect">
            <a:avLst>
              <a:gd name="adj" fmla="val 3465"/>
            </a:avLst>
          </a:prstGeom>
          <a:solidFill xmlns:a="http://schemas.openxmlformats.org/drawingml/2006/main">
            <a:srgbClr val="1817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0B4392-2A5E-48CE-BA16-D4AF58440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47850"/>
            <a:ext cx="55245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C7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3A3A60-17C9-411C-A64D-A46543572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95500"/>
            <a:ext cx="5067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rPr>
              <a:t>SynthID가 하지 않는 일 ⚠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9B1876-E154-4A7D-ABCF-43A6B717E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81300"/>
            <a:ext cx="506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★ "누가, 언제, 어느 계정으로 만들었는지"는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984B17-E324-4D0E-8DC5-837AC9D83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62300"/>
            <a:ext cx="506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   담겨 있지 않습니다.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EA9337-4963-4E44-8DCB-C4DEF4F96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43300"/>
            <a:ext cx="506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51F565-D303-4044-9917-5ED0AEF8D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24300"/>
            <a:ext cx="506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→ 소유권 증명 수단이 아닙니다.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4EACDD-DCFD-4D4E-B8BC-7C1ED78CF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05300"/>
            <a:ext cx="506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→ "내가 만들었다"를 증명해 주지 않습니다.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BE4BAC-A22F-4166-A064-5C31C0B7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86300"/>
            <a:ext cx="506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76FE38-58D5-4C17-8D73-63FCE8423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506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그래서 프롬프트 기록이 필요합니다.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ED4CF9-1316-488C-9181-374210F65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48300"/>
            <a:ext cx="506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"내가 한 일"을 입증하는 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7CE197-575D-40CE-8BBA-004767817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829300"/>
            <a:ext cx="506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워터마크가 아니라 과정 기록입니다.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9D85B1-2FBF-4B45-AD25-B384188AD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67400"/>
            <a:ext cx="1120140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E8E0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21B6FA-7F45-4817-B2EF-E775DFB72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91225"/>
            <a:ext cx="1076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SynthID는 'AI가 만들었는가'만 답합니다. '내가 만들었다'는 프롬프트 기록으로 증명합니다.</a:t>
            </a:r>
          </a:p>
        </p:txBody>
      </p:sp>
    </p:spTree>
    <p:extLst>
      <p:ext uri="{BB962C8B-B14F-4D97-AF65-F5344CB8AC3E}">
        <p14:creationId xmlns:p14="http://schemas.microsoft.com/office/powerpoint/2010/main" val="1611214945"/>
      </p:ext>
    </p:extLst>
  </p:cSld>
  <p:transition spd="slow">
    <p:fade/>
  </p:transition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1817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E44A40-107E-4B14-9C24-59B77A79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7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BBAB6C-E162-4EFF-A602-E7F3A6373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63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MODULE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438070-D06A-4047-9BE6-266CF33B1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63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39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64C6FB-B95C-4E75-BDE2-53243EE30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819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713" b="0" i="0">
                <a:solidFill>
                  <a:srgbClr val="7C766E"/>
                </a:solidFill>
                <a:latin typeface="Noto Sans KR"/>
                <a:ea typeface="Noto Sans KR"/>
                <a:cs typeface="Noto Sans KR"/>
              </a:defRPr>
            </a:pPr>
            <a:r>
              <a:rPr sz="713" b="0" i="0">
                <a:solidFill>
                  <a:srgbClr val="7C766E"/>
                </a:solidFill>
                <a:latin typeface="Noto Sans KR"/>
                <a:ea typeface="Noto Sans KR"/>
                <a:cs typeface="Noto Sans KR"/>
              </a:rPr>
              <a:t>춘천시교육지원청 · AI 기반 디지털 교육혁신 전문성 신장 연수 · 3부 이미지·영상 · 2026.8.11.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BF53AD-2AB8-435D-9037-0D467820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1085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38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배포용 양식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695F89-1834-43C3-938B-8B5652D01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1201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 i="0">
                <a:solidFill>
                  <a:srgbClr val="FAF9F5"/>
                </a:solidFill>
                <a:latin typeface="Noto Serif KR"/>
                <a:ea typeface="Noto Serif KR"/>
                <a:cs typeface="Noto Serif KR"/>
              </a:defRPr>
            </a:pPr>
            <a:r>
              <a:rPr sz="2100" b="0" i="0">
                <a:solidFill>
                  <a:srgbClr val="FAF9F5"/>
                </a:solidFill>
                <a:latin typeface="Noto Serif KR"/>
                <a:ea typeface="Noto Serif KR"/>
                <a:cs typeface="Noto Serif KR"/>
              </a:rPr>
              <a:t>프롬프트 기록 양식 — 만든 것마다 남깁니다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EC9156-419A-4998-BB86-13841C546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19200"/>
            <a:ext cx="11353800" cy="4762500"/>
          </a:xfrm>
          <a:prstGeom xmlns:a="http://schemas.openxmlformats.org/drawingml/2006/main" prst="roundRect">
            <a:avLst>
              <a:gd name="adj" fmla="val 2800"/>
            </a:avLst>
          </a:prstGeom>
          <a:solidFill xmlns:a="http://schemas.openxmlformats.org/drawingml/2006/main">
            <a:srgbClr val="252320"/>
          </a:solidFill>
          <a:ln xmlns:a="http://schemas.openxmlformats.org/drawingml/2006/main" w="19050">
            <a:solidFill>
              <a:srgbClr val="CC785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1E2347-4A2B-4195-BDB6-E7760F719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858500" cy="434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023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rPr>
              <a:t>━━━ AI 활용 기록 ━━━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rPr>
              <a:t>작품명 :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rPr>
              <a:t>제작자 :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rPr>
              <a:t>제작일 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rPr>
              <a:t>[1] 사용한 도구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rPr>
              <a:t> 이미지 :                     (예: Gemini 나노바나나 2)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rPr>
              <a:t> 영상   :                     (예: Google Flow · Veo 3.1 Lite)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rPr>
              <a:t> 음악   :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rPr>
              <a:t> 편집   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rPr>
              <a:t>[2] 내가 정한 것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rPr>
              <a:t> 기획·구성 :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rPr>
              <a:t> 스타일 방향 :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rPr>
              <a:t> 수정 요청 내용 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rPr>
              <a:t>[3] 사용한 프롬프트 (주요 컷)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rPr>
              <a:t> 컷 1 :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rPr>
              <a:t> 컷 2 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rPr>
              <a:t>[4] AI 결과물을 어떻게 고쳤나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rPr>
              <a:t> (자른 부분 / 다시 만든 부분 / 얹은 자막·소리)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rPr>
              <a:t>[5] 확인한 것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rPr>
              <a:t> ☐ 화면 속 글자 오탈자   ☐ 사실 관계   ☐ 워터마크·라이선스</a:t>
            </a:r>
          </a:p>
        </p:txBody>
      </p:sp>
    </p:spTree>
    <p:extLst>
      <p:ext uri="{BB962C8B-B14F-4D97-AF65-F5344CB8AC3E}">
        <p14:creationId xmlns:p14="http://schemas.microsoft.com/office/powerpoint/2010/main" val="110416653"/>
      </p:ext>
    </p:extLst>
  </p:cSld>
  <p:transition spd="slow">
    <p:fade/>
  </p:transition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B4DFE9-9111-41E5-BB48-BD2957043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7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0D7BA0-D178-47E1-9FD1-96623307E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MODULE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C3E58C-31E5-4577-8F7C-DE8C2C6E4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63" b="1" i="0">
                <a:solidFill>
                  <a:srgbClr val="8E8B82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8E8B82"/>
                </a:solidFill>
                <a:latin typeface="Noto Sans KR"/>
                <a:ea typeface="Noto Sans KR"/>
                <a:cs typeface="Noto Sans KR"/>
              </a:rPr>
              <a:t>40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0EE744-C856-4603-AB3C-C82E9AD32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819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713" b="0" i="0">
                <a:solidFill>
                  <a:srgbClr val="A5A099"/>
                </a:solidFill>
                <a:latin typeface="Noto Sans KR"/>
                <a:ea typeface="Noto Sans KR"/>
                <a:cs typeface="Noto Sans KR"/>
              </a:defRPr>
            </a:pPr>
            <a:r>
              <a:rPr sz="713" b="0" i="0">
                <a:solidFill>
                  <a:srgbClr val="A5A099"/>
                </a:solidFill>
                <a:latin typeface="Noto Sans KR"/>
                <a:ea typeface="Noto Sans KR"/>
                <a:cs typeface="Noto Sans KR"/>
              </a:rPr>
              <a:t>춘천시교육지원청 · AI 기반 디지털 교육혁신 전문성 신장 연수 · 3부 이미지·영상 · 2026.8.11.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6734E5-1050-4945-AAFD-585070A40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112014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CC7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52C970-33D7-4FFC-8A5D-4F0AA085C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65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🖐  실습 8-B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ACB849-5313-4F9E-B6D9-35235DBED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477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350" b="1" i="0">
                <a:solidFill>
                  <a:srgbClr val="FBE7D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FBE7DF"/>
                </a:solidFill>
                <a:latin typeface="Noto Sans KR"/>
                <a:ea typeface="Noto Sans KR"/>
                <a:cs typeface="Noto Sans KR"/>
              </a:rPr>
              <a:t>25분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5043BE-3D91-4024-949F-C5082970D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76350"/>
            <a:ext cx="11201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475" b="0" i="0">
                <a:solidFill>
                  <a:srgbClr val="141413"/>
                </a:solidFill>
                <a:latin typeface="Noto Serif KR"/>
                <a:ea typeface="Noto Serif KR"/>
                <a:cs typeface="Noto Serif KR"/>
              </a:defRPr>
            </a:pPr>
            <a:r>
              <a:rPr sz="2475" b="0" i="0">
                <a:solidFill>
                  <a:srgbClr val="141413"/>
                </a:solidFill>
                <a:latin typeface="Noto Serif KR"/>
                <a:ea typeface="Noto Serif KR"/>
                <a:cs typeface="Noto Serif KR"/>
              </a:rPr>
              <a:t>카드뉴스를 8초 영상으로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C38186-F124-49C7-AD2C-2A6A6C573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47850"/>
            <a:ext cx="11201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350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목표  만든 카드뉴스 1장에 움직임만 더해 영상 만들기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D40E60-65B6-46A7-90E0-F6524190B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0"/>
            <a:ext cx="72390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FE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04B178-F6FB-47EC-AF50-C89E375FD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25" b="1" i="0">
                <a:solidFill>
                  <a:srgbClr val="6C6A64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6C6A64"/>
                </a:solidFill>
                <a:latin typeface="Noto Sans KR"/>
                <a:ea typeface="Noto Sans KR"/>
                <a:cs typeface="Noto Sans KR"/>
              </a:rPr>
              <a:t>이렇게 진행합니다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5BAAFC-7B02-4C6A-A756-4BF46A84D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19400"/>
            <a:ext cx="672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1.  실습 8-A에서 만든 카드뉴스 중 1장을 고릅니다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510C9A-CA6A-4786-8240-13DC0D216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672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2.  Flow에서 Frames to Video — 그 이미지를 시작 프레임으로 넣습니다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BC506A-E5DB-4F42-8AAD-75306C14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57600"/>
            <a:ext cx="672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3.  「일러스트 살리기」 프롬프트를 넣습니다 (움직임만!)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FDA77E-8726-4F5F-B1DC-6B26FAAA2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76700"/>
            <a:ext cx="672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4.  8초로 생성합니다 (4초로 만들면 잘라낼 여유가 없습니다)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6C2377-1AAB-4685-9A55-E0707809B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672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5.  앞 0.3초 · 뒤 0.5초를 잘라 4~6초만 씁니다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9C0718-A049-419E-A4FF-5B167A579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14900"/>
            <a:ext cx="672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6.  워터마크와 공개 범위를 확인한 뒤 실습 가이드 게시판에 올립니다 (10MB 초과 영상은 패들렛)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85C600-D214-4C91-AD72-D1876FBD5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86000"/>
            <a:ext cx="36957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817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3977E8-4360-4C54-87A6-D3FD45BC6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76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25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손에 남는 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E7898D-40F3-4781-94E9-81FF6BE38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19400"/>
            <a:ext cx="32004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42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rPr>
              <a:t>8초 홍보 영상 클립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25CEA7-D1C9-408B-9393-A4E8D2803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476750"/>
            <a:ext cx="320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125" b="0" i="0">
                <a:solidFill>
                  <a:srgbClr val="B8B1A8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 i="0">
                <a:solidFill>
                  <a:srgbClr val="B8B1A8"/>
                </a:solidFill>
                <a:latin typeface="Noto Sans KR"/>
                <a:ea typeface="Noto Sans KR"/>
                <a:cs typeface="Noto Sans KR"/>
              </a:rPr>
              <a:t>완성한 영상을 실습 가이드 게시판에 '실습 8-B'로 올립니다. 10MB가 넘으면 패들렛에 올립니다.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D5A864-8C82-47C8-9A9D-96924F865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76900"/>
            <a:ext cx="11201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200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https://ksb6857.github.io/ai-training-260811/</a:t>
            </a:r>
          </a:p>
        </p:txBody>
      </p:sp>
    </p:spTree>
    <p:extLst>
      <p:ext uri="{BB962C8B-B14F-4D97-AF65-F5344CB8AC3E}">
        <p14:creationId xmlns:p14="http://schemas.microsoft.com/office/powerpoint/2010/main" val="1591513711"/>
      </p:ext>
    </p:extLst>
  </p:cSld>
  <p:transition spd="slow">
    <p:fade/>
  </p:transition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1817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752724-3AE8-4428-9F49-CF9F6FD99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7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C08158-1CE5-4D1A-9C59-08ECBFAFC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63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CLOSING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000B1D-6101-4669-8CFA-21AE7804C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63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41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15E905-7119-40AE-ADA9-A584C80D6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819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713" b="0" i="0">
                <a:solidFill>
                  <a:srgbClr val="7C766E"/>
                </a:solidFill>
                <a:latin typeface="Noto Sans KR"/>
                <a:ea typeface="Noto Sans KR"/>
                <a:cs typeface="Noto Sans KR"/>
              </a:defRPr>
            </a:pPr>
            <a:r>
              <a:rPr sz="713" b="0" i="0">
                <a:solidFill>
                  <a:srgbClr val="7C766E"/>
                </a:solidFill>
                <a:latin typeface="Noto Sans KR"/>
                <a:ea typeface="Noto Sans KR"/>
                <a:cs typeface="Noto Sans KR"/>
              </a:rPr>
              <a:t>춘천시교육지원청 · AI 기반 디지털 교육혁신 전문성 신장 연수 · 3부 이미지·영상 · 2026.8.11.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824DD0-3F2E-4549-A75B-86F91EF30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990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550" b="0" i="0">
                <a:solidFill>
                  <a:srgbClr val="CFC8BF"/>
                </a:solidFill>
                <a:latin typeface="Noto Serif KR"/>
                <a:ea typeface="Noto Serif KR"/>
                <a:cs typeface="Noto Serif KR"/>
              </a:defRPr>
            </a:pPr>
            <a:r>
              <a:rPr sz="2550" b="0" i="0">
                <a:solidFill>
                  <a:srgbClr val="CFC8BF"/>
                </a:solidFill>
                <a:latin typeface="Noto Serif KR"/>
                <a:ea typeface="Noto Serif KR"/>
                <a:cs typeface="Noto Serif KR"/>
              </a:rPr>
              <a:t>한 장은 누구나 만듭니다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10064D-E5D8-4646-BE74-BFAD889DE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10382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450" b="0" i="0">
                <a:solidFill>
                  <a:srgbClr val="FAF9F5"/>
                </a:solidFill>
                <a:latin typeface="Noto Serif KR"/>
                <a:ea typeface="Noto Serif KR"/>
                <a:cs typeface="Noto Serif KR"/>
              </a:defRPr>
            </a:pPr>
            <a:r>
              <a:rPr sz="3450" b="0" i="0">
                <a:solidFill>
                  <a:srgbClr val="FAF9F5"/>
                </a:solidFill>
                <a:latin typeface="Noto Serif KR"/>
                <a:ea typeface="Noto Serif KR"/>
                <a:cs typeface="Noto Serif KR"/>
              </a:rPr>
              <a:t>여덟 장을 같은 화풍으로 만드는 것이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450" b="0" i="0">
                <a:solidFill>
                  <a:srgbClr val="FAF9F5"/>
                </a:solidFill>
                <a:latin typeface="Noto Serif KR"/>
                <a:ea typeface="Noto Serif KR"/>
                <a:cs typeface="Noto Serif KR"/>
              </a:defRPr>
            </a:pPr>
            <a:r>
              <a:rPr sz="3450" b="0" i="0">
                <a:solidFill>
                  <a:srgbClr val="FAF9F5"/>
                </a:solidFill>
                <a:latin typeface="Noto Serif KR"/>
                <a:ea typeface="Noto Serif KR"/>
                <a:cs typeface="Noto Serif KR"/>
              </a:rPr>
              <a:t>실력입니다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CAFC8B-8E7C-447B-958C-B7D0C8A2C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725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그리고 그 실력은 재능이 아니라 규칙에서 나옵니다 — 고정 블록, 기준 이미지, 3회 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0447A4-F204-4565-B700-410E7547F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29150"/>
            <a:ext cx="971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500" b="0" i="0">
                <a:solidFill>
                  <a:srgbClr val="D6CEC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D6CEC5"/>
                </a:solidFill>
                <a:latin typeface="Noto Sans KR"/>
                <a:ea typeface="Noto Sans KR"/>
                <a:cs typeface="Noto Sans KR"/>
              </a:rPr>
              <a:t>완벽한 결과물을 만들려 하지 마십시오. 쓸 수 있는 결과물을 완주하는 것이 먼저입니다.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 i="0">
                <a:solidFill>
                  <a:srgbClr val="D6CEC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D6CEC5"/>
                </a:solidFill>
                <a:latin typeface="Noto Sans KR"/>
                <a:ea typeface="Noto Sans KR"/>
                <a:cs typeface="Noto Sans KR"/>
              </a:rPr>
              <a:t>연속성 오류보다 지루한 이야기가 훨씬 큰 문제입니다.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42D512-AEA1-436E-8C90-A0B0A1715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531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 i="0">
                <a:solidFill>
                  <a:srgbClr val="8E8B82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E8B82"/>
                </a:solidFill>
                <a:latin typeface="Consolas"/>
                <a:ea typeface="Consolas"/>
                <a:cs typeface="Consolas"/>
              </a:rPr>
              <a:t>실습 자료 · 결과물  ·  https://ksb6857.github.io/ai-training-260811/</a:t>
            </a:r>
          </a:p>
        </p:txBody>
      </p:sp>
    </p:spTree>
    <p:extLst>
      <p:ext uri="{BB962C8B-B14F-4D97-AF65-F5344CB8AC3E}">
        <p14:creationId xmlns:p14="http://schemas.microsoft.com/office/powerpoint/2010/main" val="908026076"/>
      </p:ext>
    </p:extLst>
  </p:cSld>
  <p:transition spd="slow">
    <p:push dir="u"/>
  </p:transition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2026-08-10T08:25:30.1260000Z</dcterms:created>
  <dcterms:modified xsi:type="dcterms:W3CDTF">2026-08-10T08:25:30.1260000Z</dcterms:modified>
</coreProperties>
</file>