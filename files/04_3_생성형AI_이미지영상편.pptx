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9b6112577b04299" /><Relationship Type="http://schemas.openxmlformats.org/officeDocument/2006/relationships/extended-properties" Target="/docProps/app.xml" Id="Rbf3299e9221f461b" /><Relationship Type="http://schemas.openxmlformats.org/officeDocument/2006/relationships/officeDocument" Target="/ppt/presentation.xml" Id="Rad6566aa17d8461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7a501a4dd124356"/>
  </p:sldMasterIdLst>
  <p:notesMasterIdLst>
    <p:notesMasterId xmlns:r="http://schemas.openxmlformats.org/officeDocument/2006/relationships" r:id="R0226607c26da454f"/>
  </p:notesMasterIdLst>
  <p:sldIdLst>
    <p:sldId xmlns:r="http://schemas.openxmlformats.org/officeDocument/2006/relationships" id="256" r:id="Rb4da9291977d4242"/>
    <p:sldId xmlns:r="http://schemas.openxmlformats.org/officeDocument/2006/relationships" id="257" r:id="Re1391e256e7e451f"/>
    <p:sldId xmlns:r="http://schemas.openxmlformats.org/officeDocument/2006/relationships" id="258" r:id="Rfb61e1c9c4154f15"/>
    <p:sldId xmlns:r="http://schemas.openxmlformats.org/officeDocument/2006/relationships" id="259" r:id="R3fe3a6c5ff174d4f"/>
    <p:sldId xmlns:r="http://schemas.openxmlformats.org/officeDocument/2006/relationships" id="260" r:id="R3a6ab040a6a045d1"/>
    <p:sldId xmlns:r="http://schemas.openxmlformats.org/officeDocument/2006/relationships" id="261" r:id="Rf6cf69110abe4e36"/>
    <p:sldId xmlns:r="http://schemas.openxmlformats.org/officeDocument/2006/relationships" id="262" r:id="Rf60760b691934e8a"/>
    <p:sldId xmlns:r="http://schemas.openxmlformats.org/officeDocument/2006/relationships" id="263" r:id="R3eb3f11bf7cb4bf6"/>
    <p:sldId xmlns:r="http://schemas.openxmlformats.org/officeDocument/2006/relationships" id="264" r:id="R92d37ef5f28e44ba"/>
    <p:sldId xmlns:r="http://schemas.openxmlformats.org/officeDocument/2006/relationships" id="265" r:id="R6024d82d36e140b2"/>
    <p:sldId xmlns:r="http://schemas.openxmlformats.org/officeDocument/2006/relationships" id="266" r:id="Rbdef97829171446e"/>
    <p:sldId xmlns:r="http://schemas.openxmlformats.org/officeDocument/2006/relationships" id="267" r:id="R0dfab887073f4e39"/>
    <p:sldId xmlns:r="http://schemas.openxmlformats.org/officeDocument/2006/relationships" id="268" r:id="Re540f783d69b4c3a"/>
    <p:sldId xmlns:r="http://schemas.openxmlformats.org/officeDocument/2006/relationships" id="269" r:id="R51c850eb0b6e4454"/>
    <p:sldId xmlns:r="http://schemas.openxmlformats.org/officeDocument/2006/relationships" id="270" r:id="R4b6e59bc65024733"/>
    <p:sldId xmlns:r="http://schemas.openxmlformats.org/officeDocument/2006/relationships" id="271" r:id="R1caf45306da5490d"/>
    <p:sldId xmlns:r="http://schemas.openxmlformats.org/officeDocument/2006/relationships" id="272" r:id="Rf276185180d349d8"/>
    <p:sldId xmlns:r="http://schemas.openxmlformats.org/officeDocument/2006/relationships" id="273" r:id="R6502444240744664"/>
    <p:sldId xmlns:r="http://schemas.openxmlformats.org/officeDocument/2006/relationships" id="274" r:id="R787f8532145d4829"/>
    <p:sldId xmlns:r="http://schemas.openxmlformats.org/officeDocument/2006/relationships" id="275" r:id="R3872eae7ff0a4d56"/>
    <p:sldId xmlns:r="http://schemas.openxmlformats.org/officeDocument/2006/relationships" id="276" r:id="R667d1295ada64bb6"/>
    <p:sldId xmlns:r="http://schemas.openxmlformats.org/officeDocument/2006/relationships" id="277" r:id="R04308d01da7d4c14"/>
    <p:sldId xmlns:r="http://schemas.openxmlformats.org/officeDocument/2006/relationships" id="278" r:id="R417824b4b8e240da"/>
    <p:sldId xmlns:r="http://schemas.openxmlformats.org/officeDocument/2006/relationships" id="279" r:id="R9971d65b1de240ac"/>
    <p:sldId xmlns:r="http://schemas.openxmlformats.org/officeDocument/2006/relationships" id="280" r:id="Red412c03bbde49a0"/>
    <p:sldId xmlns:r="http://schemas.openxmlformats.org/officeDocument/2006/relationships" id="281" r:id="R19956451064d464c"/>
    <p:sldId xmlns:r="http://schemas.openxmlformats.org/officeDocument/2006/relationships" id="282" r:id="R6b2f647dac48475e"/>
    <p:sldId xmlns:r="http://schemas.openxmlformats.org/officeDocument/2006/relationships" id="283" r:id="R44e45ff4786d45e2"/>
    <p:sldId xmlns:r="http://schemas.openxmlformats.org/officeDocument/2006/relationships" id="284" r:id="R77d9ff5724d14549"/>
    <p:sldId xmlns:r="http://schemas.openxmlformats.org/officeDocument/2006/relationships" id="285" r:id="R8b21d4c047c54183"/>
    <p:sldId xmlns:r="http://schemas.openxmlformats.org/officeDocument/2006/relationships" id="286" r:id="Rf2a35ca902544936"/>
    <p:sldId xmlns:r="http://schemas.openxmlformats.org/officeDocument/2006/relationships" id="287" r:id="Rf92e99cabbae405c"/>
    <p:sldId xmlns:r="http://schemas.openxmlformats.org/officeDocument/2006/relationships" id="288" r:id="Rc6a68dfb3bf34ae1"/>
    <p:sldId xmlns:r="http://schemas.openxmlformats.org/officeDocument/2006/relationships" id="289" r:id="R0a683fb738d5437b"/>
    <p:sldId xmlns:r="http://schemas.openxmlformats.org/officeDocument/2006/relationships" id="290" r:id="R9e1a1eb164b84870"/>
    <p:sldId xmlns:r="http://schemas.openxmlformats.org/officeDocument/2006/relationships" id="291" r:id="R3f77c3fcc03b4540"/>
    <p:sldId xmlns:r="http://schemas.openxmlformats.org/officeDocument/2006/relationships" id="292" r:id="Rc7555cc94bac40c9"/>
    <p:sldId xmlns:r="http://schemas.openxmlformats.org/officeDocument/2006/relationships" id="293" r:id="R6ada6891d99f41a7"/>
    <p:sldId xmlns:r="http://schemas.openxmlformats.org/officeDocument/2006/relationships" id="294" r:id="Rc463d505285648ec"/>
    <p:sldId xmlns:r="http://schemas.openxmlformats.org/officeDocument/2006/relationships" id="295" r:id="R5e0167ce91f049b3"/>
    <p:sldId xmlns:r="http://schemas.openxmlformats.org/officeDocument/2006/relationships" id="296" r:id="R6a8326abe0e8401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94e271600594257" /><Relationship Type="http://schemas.openxmlformats.org/officeDocument/2006/relationships/slideMaster" Target="/ppt/slideMasters/slideMaster1.xml" Id="Ra7a501a4dd124356" /><Relationship Type="http://schemas.openxmlformats.org/officeDocument/2006/relationships/notesMaster" Target="/ppt/notesMasters/notesMaster1.xml" Id="R0226607c26da454f" /><Relationship Type="http://schemas.openxmlformats.org/officeDocument/2006/relationships/presProps" Target="/ppt/presProps.xml" Id="R097e2db47b6547a4" /><Relationship Type="http://schemas.openxmlformats.org/officeDocument/2006/relationships/tableStyles" Target="/ppt/tableStyles.xml" Id="R1c5bcb6711004992" /><Relationship Type="http://schemas.openxmlformats.org/officeDocument/2006/relationships/slide" Target="/ppt/slides/slide1.xml" Id="Rb4da9291977d4242" /><Relationship Type="http://schemas.openxmlformats.org/officeDocument/2006/relationships/slide" Target="/ppt/slides/slide2.xml" Id="Re1391e256e7e451f" /><Relationship Type="http://schemas.openxmlformats.org/officeDocument/2006/relationships/slide" Target="/ppt/slides/slide3.xml" Id="Rfb61e1c9c4154f15" /><Relationship Type="http://schemas.openxmlformats.org/officeDocument/2006/relationships/slide" Target="/ppt/slides/slide4.xml" Id="R3fe3a6c5ff174d4f" /><Relationship Type="http://schemas.openxmlformats.org/officeDocument/2006/relationships/slide" Target="/ppt/slides/slide5.xml" Id="R3a6ab040a6a045d1" /><Relationship Type="http://schemas.openxmlformats.org/officeDocument/2006/relationships/slide" Target="/ppt/slides/slide6.xml" Id="Rf6cf69110abe4e36" /><Relationship Type="http://schemas.openxmlformats.org/officeDocument/2006/relationships/slide" Target="/ppt/slides/slide7.xml" Id="Rf60760b691934e8a" /><Relationship Type="http://schemas.openxmlformats.org/officeDocument/2006/relationships/slide" Target="/ppt/slides/slide8.xml" Id="R3eb3f11bf7cb4bf6" /><Relationship Type="http://schemas.openxmlformats.org/officeDocument/2006/relationships/slide" Target="/ppt/slides/slide9.xml" Id="R92d37ef5f28e44ba" /><Relationship Type="http://schemas.openxmlformats.org/officeDocument/2006/relationships/slide" Target="/ppt/slides/slide10.xml" Id="R6024d82d36e140b2" /><Relationship Type="http://schemas.openxmlformats.org/officeDocument/2006/relationships/slide" Target="/ppt/slides/slide11.xml" Id="Rbdef97829171446e" /><Relationship Type="http://schemas.openxmlformats.org/officeDocument/2006/relationships/slide" Target="/ppt/slides/slide12.xml" Id="R0dfab887073f4e39" /><Relationship Type="http://schemas.openxmlformats.org/officeDocument/2006/relationships/slide" Target="/ppt/slides/slide13.xml" Id="Re540f783d69b4c3a" /><Relationship Type="http://schemas.openxmlformats.org/officeDocument/2006/relationships/slide" Target="/ppt/slides/slide14.xml" Id="R51c850eb0b6e4454" /><Relationship Type="http://schemas.openxmlformats.org/officeDocument/2006/relationships/slide" Target="/ppt/slides/slide15.xml" Id="R4b6e59bc65024733" /><Relationship Type="http://schemas.openxmlformats.org/officeDocument/2006/relationships/slide" Target="/ppt/slides/slide16.xml" Id="R1caf45306da5490d" /><Relationship Type="http://schemas.openxmlformats.org/officeDocument/2006/relationships/slide" Target="/ppt/slides/slide17.xml" Id="Rf276185180d349d8" /><Relationship Type="http://schemas.openxmlformats.org/officeDocument/2006/relationships/slide" Target="/ppt/slides/slide18.xml" Id="R6502444240744664" /><Relationship Type="http://schemas.openxmlformats.org/officeDocument/2006/relationships/slide" Target="/ppt/slides/slide19.xml" Id="R787f8532145d4829" /><Relationship Type="http://schemas.openxmlformats.org/officeDocument/2006/relationships/slide" Target="/ppt/slides/slide20.xml" Id="R3872eae7ff0a4d56" /><Relationship Type="http://schemas.openxmlformats.org/officeDocument/2006/relationships/slide" Target="/ppt/slides/slide21.xml" Id="R667d1295ada64bb6" /><Relationship Type="http://schemas.openxmlformats.org/officeDocument/2006/relationships/slide" Target="/ppt/slides/slide22.xml" Id="R04308d01da7d4c14" /><Relationship Type="http://schemas.openxmlformats.org/officeDocument/2006/relationships/slide" Target="/ppt/slides/slide23.xml" Id="R417824b4b8e240da" /><Relationship Type="http://schemas.openxmlformats.org/officeDocument/2006/relationships/slide" Target="/ppt/slides/slide24.xml" Id="R9971d65b1de240ac" /><Relationship Type="http://schemas.openxmlformats.org/officeDocument/2006/relationships/slide" Target="/ppt/slides/slide25.xml" Id="Red412c03bbde49a0" /><Relationship Type="http://schemas.openxmlformats.org/officeDocument/2006/relationships/slide" Target="/ppt/slides/slide26.xml" Id="R19956451064d464c" /><Relationship Type="http://schemas.openxmlformats.org/officeDocument/2006/relationships/slide" Target="/ppt/slides/slide27.xml" Id="R6b2f647dac48475e" /><Relationship Type="http://schemas.openxmlformats.org/officeDocument/2006/relationships/slide" Target="/ppt/slides/slide28.xml" Id="R44e45ff4786d45e2" /><Relationship Type="http://schemas.openxmlformats.org/officeDocument/2006/relationships/slide" Target="/ppt/slides/slide29.xml" Id="R77d9ff5724d14549" /><Relationship Type="http://schemas.openxmlformats.org/officeDocument/2006/relationships/slide" Target="/ppt/slides/slide30.xml" Id="R8b21d4c047c54183" /><Relationship Type="http://schemas.openxmlformats.org/officeDocument/2006/relationships/slide" Target="/ppt/slides/slide31.xml" Id="Rf2a35ca902544936" /><Relationship Type="http://schemas.openxmlformats.org/officeDocument/2006/relationships/slide" Target="/ppt/slides/slide32.xml" Id="Rf92e99cabbae405c" /><Relationship Type="http://schemas.openxmlformats.org/officeDocument/2006/relationships/slide" Target="/ppt/slides/slide33.xml" Id="Rc6a68dfb3bf34ae1" /><Relationship Type="http://schemas.openxmlformats.org/officeDocument/2006/relationships/slide" Target="/ppt/slides/slide34.xml" Id="R0a683fb738d5437b" /><Relationship Type="http://schemas.openxmlformats.org/officeDocument/2006/relationships/slide" Target="/ppt/slides/slide35.xml" Id="R9e1a1eb164b84870" /><Relationship Type="http://schemas.openxmlformats.org/officeDocument/2006/relationships/slide" Target="/ppt/slides/slide36.xml" Id="R3f77c3fcc03b4540" /><Relationship Type="http://schemas.openxmlformats.org/officeDocument/2006/relationships/slide" Target="/ppt/slides/slide37.xml" Id="Rc7555cc94bac40c9" /><Relationship Type="http://schemas.openxmlformats.org/officeDocument/2006/relationships/slide" Target="/ppt/slides/slide38.xml" Id="R6ada6891d99f41a7" /><Relationship Type="http://schemas.openxmlformats.org/officeDocument/2006/relationships/slide" Target="/ppt/slides/slide39.xml" Id="Rc463d505285648ec" /><Relationship Type="http://schemas.openxmlformats.org/officeDocument/2006/relationships/slide" Target="/ppt/slides/slide40.xml" Id="R5e0167ce91f049b3" /><Relationship Type="http://schemas.openxmlformats.org/officeDocument/2006/relationships/slide" Target="/ppt/slides/slide41.xml" Id="R6a8326abe0e840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2223c1baf7478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1df4dda6844bcf" /><Relationship Type="http://schemas.openxmlformats.org/officeDocument/2006/relationships/notesMaster" Target="/ppt/notesMasters/notesMaster1.xml" Id="R5c653fd81d3842c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ce565a118e4412" /><Relationship Type="http://schemas.openxmlformats.org/officeDocument/2006/relationships/notesMaster" Target="/ppt/notesMasters/notesMaster1.xml" Id="R163ed0c5a80d417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fbd38b67544426a" /><Relationship Type="http://schemas.openxmlformats.org/officeDocument/2006/relationships/notesMaster" Target="/ppt/notesMasters/notesMaster1.xml" Id="Re8c8fb17522443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4c9dc9f742742aa" /><Relationship Type="http://schemas.openxmlformats.org/officeDocument/2006/relationships/notesMaster" Target="/ppt/notesMasters/notesMaster1.xml" Id="R40c28e0b96a040f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3c592148024a5d" /><Relationship Type="http://schemas.openxmlformats.org/officeDocument/2006/relationships/notesMaster" Target="/ppt/notesMasters/notesMaster1.xml" Id="R64ac619c6170417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c6a75f7f0f4a1c" /><Relationship Type="http://schemas.openxmlformats.org/officeDocument/2006/relationships/notesMaster" Target="/ppt/notesMasters/notesMaster1.xml" Id="R8638e421b036495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4d9854bdb6e41a1" /><Relationship Type="http://schemas.openxmlformats.org/officeDocument/2006/relationships/notesMaster" Target="/ppt/notesMasters/notesMaster1.xml" Id="R9f0e5dcd10c545b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1e64dea75764bb7" /><Relationship Type="http://schemas.openxmlformats.org/officeDocument/2006/relationships/notesMaster" Target="/ppt/notesMasters/notesMaster1.xml" Id="Rb31de5c4fa7c435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df3ce8059334e14" /><Relationship Type="http://schemas.openxmlformats.org/officeDocument/2006/relationships/notesMaster" Target="/ppt/notesMasters/notesMaster1.xml" Id="R5c3c28f19c4f499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b65edbad105457d" /><Relationship Type="http://schemas.openxmlformats.org/officeDocument/2006/relationships/notesMaster" Target="/ppt/notesMasters/notesMaster1.xml" Id="Rcb82ee0db33b43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b2e594769aa4dda" /><Relationship Type="http://schemas.openxmlformats.org/officeDocument/2006/relationships/notesMaster" Target="/ppt/notesMasters/notesMaster1.xml" Id="R8bcf573285da484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c1704aeb453446a" /><Relationship Type="http://schemas.openxmlformats.org/officeDocument/2006/relationships/notesMaster" Target="/ppt/notesMasters/notesMaster1.xml" Id="Raacaa1921d4b4d7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353a8a3b674808" /><Relationship Type="http://schemas.openxmlformats.org/officeDocument/2006/relationships/notesMaster" Target="/ppt/notesMasters/notesMaster1.xml" Id="R7505c8e5107a41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86d7eb36318404c" /><Relationship Type="http://schemas.openxmlformats.org/officeDocument/2006/relationships/notesMaster" Target="/ppt/notesMasters/notesMaster1.xml" Id="R697fe72e738242f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e285657e04042c5" /><Relationship Type="http://schemas.openxmlformats.org/officeDocument/2006/relationships/notesMaster" Target="/ppt/notesMasters/notesMaster1.xml" Id="Ref294ca127944ce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466c1f5d1b14de7" /><Relationship Type="http://schemas.openxmlformats.org/officeDocument/2006/relationships/notesMaster" Target="/ppt/notesMasters/notesMaster1.xml" Id="Rcd14ac8b5b9c4e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7d79bd5b0f0749e1" /><Relationship Type="http://schemas.openxmlformats.org/officeDocument/2006/relationships/notesMaster" Target="/ppt/notesMasters/notesMaster1.xml" Id="R1ed37099795e465c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727b5a9f48d4eda" /><Relationship Type="http://schemas.openxmlformats.org/officeDocument/2006/relationships/notesMaster" Target="/ppt/notesMasters/notesMaster1.xml" Id="R90d67bad14994ed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6cc87d012594241" /><Relationship Type="http://schemas.openxmlformats.org/officeDocument/2006/relationships/notesMaster" Target="/ppt/notesMasters/notesMaster1.xml" Id="Rd06ad1d6933646d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18495ef1ff24748" /><Relationship Type="http://schemas.openxmlformats.org/officeDocument/2006/relationships/notesMaster" Target="/ppt/notesMasters/notesMaster1.xml" Id="R6c037500e00a49f1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f24a2ef9eec4947" /><Relationship Type="http://schemas.openxmlformats.org/officeDocument/2006/relationships/notesMaster" Target="/ppt/notesMasters/notesMaster1.xml" Id="R7c26b015ac6c490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f77ceb40bd34cc6" /><Relationship Type="http://schemas.openxmlformats.org/officeDocument/2006/relationships/notesMaster" Target="/ppt/notesMasters/notesMaster1.xml" Id="Re1677a911bae4ad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aa73ee430c6e4cf3" /><Relationship Type="http://schemas.openxmlformats.org/officeDocument/2006/relationships/notesMaster" Target="/ppt/notesMasters/notesMaster1.xml" Id="Raf2cdc5a83314f6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6ee49d213c044bd" /><Relationship Type="http://schemas.openxmlformats.org/officeDocument/2006/relationships/notesMaster" Target="/ppt/notesMasters/notesMaster1.xml" Id="R0c6d5a7c65d049b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64f6561bae2438e" /><Relationship Type="http://schemas.openxmlformats.org/officeDocument/2006/relationships/notesMaster" Target="/ppt/notesMasters/notesMaster1.xml" Id="R571e98960b044cc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79c247c1bc654afe" /><Relationship Type="http://schemas.openxmlformats.org/officeDocument/2006/relationships/notesMaster" Target="/ppt/notesMasters/notesMaster1.xml" Id="R91597c5140eb49c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eda61244bd644b9" /><Relationship Type="http://schemas.openxmlformats.org/officeDocument/2006/relationships/notesMaster" Target="/ppt/notesMasters/notesMaster1.xml" Id="Rc3734acf40b44b7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bb4f1a6f6e3b4bd5" /><Relationship Type="http://schemas.openxmlformats.org/officeDocument/2006/relationships/notesMaster" Target="/ppt/notesMasters/notesMaster1.xml" Id="Raf5cf004b23048a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21fa4b5679e74ff1" /><Relationship Type="http://schemas.openxmlformats.org/officeDocument/2006/relationships/notesMaster" Target="/ppt/notesMasters/notesMaster1.xml" Id="R69a3e168d177491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3076418f8444582" /><Relationship Type="http://schemas.openxmlformats.org/officeDocument/2006/relationships/notesMaster" Target="/ppt/notesMasters/notesMaster1.xml" Id="R1206b5fcded04467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9765739a23d48ef" /><Relationship Type="http://schemas.openxmlformats.org/officeDocument/2006/relationships/notesMaster" Target="/ppt/notesMasters/notesMaster1.xml" Id="R3f777b739c1947bc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5d8ca5495e4c4f4d" /><Relationship Type="http://schemas.openxmlformats.org/officeDocument/2006/relationships/notesMaster" Target="/ppt/notesMasters/notesMaster1.xml" Id="R1947401d0d5049d6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f2a0f9aae824b8f" /><Relationship Type="http://schemas.openxmlformats.org/officeDocument/2006/relationships/notesMaster" Target="/ppt/notesMasters/notesMaster1.xml" Id="R6405630ae8bc4e9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135d43f8b0a24ccc" /><Relationship Type="http://schemas.openxmlformats.org/officeDocument/2006/relationships/notesMaster" Target="/ppt/notesMasters/notesMaster1.xml" Id="Rc0043c9dfe9d4f8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ef266223e64941ab" /><Relationship Type="http://schemas.openxmlformats.org/officeDocument/2006/relationships/notesMaster" Target="/ppt/notesMasters/notesMaster1.xml" Id="R543da4b23fd1405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22913ed61f724cef" /><Relationship Type="http://schemas.openxmlformats.org/officeDocument/2006/relationships/notesMaster" Target="/ppt/notesMasters/notesMaster1.xml" Id="Rf777ac3c906e49a9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777c8dca745c49c3" /><Relationship Type="http://schemas.openxmlformats.org/officeDocument/2006/relationships/notesMaster" Target="/ppt/notesMasters/notesMaster1.xml" Id="R0c2315c756bd486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953a6c0a2d4d4308" /><Relationship Type="http://schemas.openxmlformats.org/officeDocument/2006/relationships/notesMaster" Target="/ppt/notesMasters/notesMaster1.xml" Id="R84895c91a7ad408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eae60e224c14780" /><Relationship Type="http://schemas.openxmlformats.org/officeDocument/2006/relationships/notesMaster" Target="/ppt/notesMasters/notesMaster1.xml" Id="R4e1b1356edd646a4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c3f11d3eb5554777" /><Relationship Type="http://schemas.openxmlformats.org/officeDocument/2006/relationships/notesMaster" Target="/ppt/notesMasters/notesMaster1.xml" Id="R2b32fa9bc28b4e46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3a13d10d7e584397" /><Relationship Type="http://schemas.openxmlformats.org/officeDocument/2006/relationships/notesMaster" Target="/ppt/notesMasters/notesMaster1.xml" Id="Re155b2f58fcb43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3부입니다. 이미지와 영상을 다룹니다.</a:t>
            </a:r>
          </a:p>
          <a:p xmlns:a="http://schemas.openxmlformats.org/drawingml/2006/main">
            <a:r>
              <a:t>시작하기 전에 오늘 3부의 결론부터 말씀드리겠습니다 — 이미지 한 장은 누구나 만듭니다. 어려운 건 여덟 장을 같은 화풍으로 만드는 것입니다.</a:t>
            </a:r>
          </a:p>
          <a:p xmlns:a="http://schemas.openxmlformats.org/drawingml/2006/main">
            <a:r>
              <a:t>카드뉴스 세 장을 만들었는데 그림체가 다 다르면 못 씁니다. 홍보 영상 여덟 컷의 주인공 얼굴이 매 컷 달라지면 못 씁니다.</a:t>
            </a:r>
          </a:p>
          <a:p xmlns:a="http://schemas.openxmlformats.org/drawingml/2006/main">
            <a:r>
              <a:t>오늘 배울 것은 예쁜 그림 만드는 법이 아니라 '일관성을 만드는 규칙'입니다.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기본기부터 갑니다. 프롬프트 쓰는 법입니다.</a:t>
            </a:r>
          </a:p>
          <a:p xmlns:a="http://schemas.openxmlformats.org/drawingml/2006/main">
            <a:r>
              <a:t>많은 분이 "예쁘게 그려 줘"라고 씁니다. 그러면 매번 다른 게 나옵니다. 복불복입니다.</a:t>
            </a:r>
          </a:p>
          <a:p xmlns:a="http://schemas.openxmlformats.org/drawingml/2006/main">
            <a:r>
              <a:t>오늘 배울 다섯 단계를 쓰면 의도한 그림이 나오고, 고쳐 달라는 지시도 통합니다.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먼저 모델 지형도를 정리하겠습니다. '나노바나나'는 하나의 모델 이름이 아니라 네 개 모델의 통칭입니다.</a:t>
            </a:r>
          </a:p>
          <a:p xmlns:a="http://schemas.openxmlformats.org/drawingml/2006/main">
            <a:r>
              <a:t>표에서 두 번째 줄을 보십시오. 캐릭터 참조 — 인물 일관성을 유지하는 슬롯입니다. Lite에는 아예 없고, 기본은 4명, Pro는 5명까지입니다.</a:t>
            </a:r>
          </a:p>
          <a:p xmlns:a="http://schemas.openxmlformats.org/drawingml/2006/main">
            <a:r>
              <a:t>세 번째 줄이 오늘 자주 만나실 함정입니다. 스타일 레퍼런스 슬롯이 기본 모델에는 없습니다. "이 그림체로 그려 줘" 하고 참조 이미지를 넣었는데 무시당하는 이유가 이겁니다.</a:t>
            </a:r>
          </a:p>
          <a:p xmlns:a="http://schemas.openxmlformats.org/drawingml/2006/main">
            <a:r>
              <a:t>→ 해결책은 둘입니다. Pro로 바꾸거나, 이미지 대신 텍스트 스타일 블록으로 화풍을 서술하는 것. 오늘은 후자를 씁니다. 무료로도 되니까요.</a:t>
            </a:r>
          </a:p>
          <a:p xmlns:a="http://schemas.openxmlformats.org/drawingml/2006/main">
            <a:r>
              <a:t>※ 첫 줄이 재미있습니다. 사물은 많이 넣을 수 있는데 인물은 적습니다. 사람 얼굴을 유지하는 게 그만큼 어렵다는 뜻입니다.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https://cloud.google.com/blog/products/ai-machine-learning/ultimate-prompting-guide-for-nano-banana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 오해 하나를 풀고 가겠습니다. "AI 이미지는 영어로 써야 잘 나온다"는 말, 많이 들어 보셨을 겁니다.</a:t>
            </a:r>
          </a:p>
          <a:p xmlns:a="http://schemas.openxmlformats.org/drawingml/2006/main">
            <a:r>
              <a:t>예전에는 맞는 말이었습니다. 구 모델의 공식 최적 언어 목록에 한국어가 없었습니다.</a:t>
            </a:r>
          </a:p>
          <a:p xmlns:a="http://schemas.openxmlformats.org/drawingml/2006/main">
            <a:r>
              <a:t>그런데 나노바나나 Pro부터 한국어가 공식 최적 언어 목록에 들어갔습니다. 지금은 한국어로 그냥 쓰시면 됩니다.</a:t>
            </a:r>
          </a:p>
          <a:p xmlns:a="http://schemas.openxmlformats.org/drawingml/2006/main">
            <a:r>
              <a:t>이게 왜 중요하냐면 — 영어로 쓰려고 번역기를 거치는 순간 뉘앙스가 뭉개집니다. "따뜻한 느낌으로"를 영어로 옮기면 다른 뜻이 됩니다.</a:t>
            </a:r>
          </a:p>
          <a:p xmlns:a="http://schemas.openxmlformats.org/drawingml/2006/main">
            <a:r>
              <a:t>오늘 나오는 모든 예시 프롬프트는 한국어입니다. 그대로 복사해 쓰시면 됩니다.</a:t>
            </a:r>
          </a:p>
          <a:p xmlns:a="http://schemas.openxmlformats.org/drawingml/2006/main">
            <a:r>
              <a:t>※ 예외 하나 — 음악 생성 도구의 스타일 태그는 영어로 씁니다. 문장이 아니라 태그 목록이기 때문입니다.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다섯 단계입니다. 하나만 기억하신다면 ①번입니다.</a:t>
            </a:r>
          </a:p>
          <a:p xmlns:a="http://schemas.openxmlformats.org/drawingml/2006/main">
            <a:r>
              <a:t>「이 그림을 어디에 쓸 건지」를 먼저 쓰십시오. "카드뉴스 첫 장으로 쓸 거야", "발표 슬라이드에 넣을 거야" — 이 한마디가 모델의 구도·여백·완성도 기준을 통째로 바꿉니다.</a:t>
            </a:r>
          </a:p>
          <a:p xmlns:a="http://schemas.openxmlformats.org/drawingml/2006/main">
            <a:r>
              <a:t>용도를 안 쓰면 AI는 '그냥 예쁜 그림'을 만듭니다. 카드뉴스로 쓰려는데 인물이 화면 정중앙을 꽉 채우고 있으면 글자 넣을 자리가 없습니다.</a:t>
            </a:r>
          </a:p>
          <a:p xmlns:a="http://schemas.openxmlformats.org/drawingml/2006/main">
            <a:r>
              <a:t>④번도 자주 빠뜨립니다. "오른쪽 상단은 글자 공간으로 비워 둘 것" 같은 지시를 넣으면 그대로 쓸 수 있는 그림이 나옵니다.</a:t>
            </a:r>
          </a:p>
          <a:p xmlns:a="http://schemas.openxmlformats.org/drawingml/2006/main">
            <a:r>
              <a:t>⑤번 제약은 긍정형으로 쓰는 게 요령입니다. 뒤에서 설명드립니다.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같은 텀블러를 그리는데 결과가 다릅니다.</a:t>
            </a:r>
          </a:p>
          <a:p xmlns:a="http://schemas.openxmlformats.org/drawingml/2006/main">
            <a:r>
              <a:t>왼쪽처럼 쓰면 매번 다른 게 나오고, 마음에 안 들어도 어디를 고쳐 달라고 해야 할지 모릅니다. 그래서 "다시"만 반복하게 됩니다.</a:t>
            </a:r>
          </a:p>
          <a:p xmlns:a="http://schemas.openxmlformats.org/drawingml/2006/main">
            <a:r>
              <a:t>오른쪽은 용도·주제·조명·디테일이 다 들어 있습니다. 결과가 의도에 가깝고, 무엇보다 "조명을 오른쪽에서"처럼 수정 지시를 콕 집어 할 수 있습니다.</a:t>
            </a:r>
          </a:p>
          <a:p xmlns:a="http://schemas.openxmlformats.org/drawingml/2006/main">
            <a:r>
              <a:t>※ 이 차이를 한 문장으로 — 프롬프트를 자세히 쓰는 이유는 좋은 결과 때문이기도 하지만, **고칠 수 있게 만들기 위해서**입니다.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구글이 공식 문서로 밝힌 네 가지 원칙입니다.</a:t>
            </a:r>
          </a:p>
          <a:p xmlns:a="http://schemas.openxmlformats.org/drawingml/2006/main">
            <a:r>
              <a:t>두 번째가 실무에서 제일 자주 틀리는 부분입니다. "사람 없이"라고 쓰면 오히려 사람이 나옵니다. 모델은 '없음'을 잘 처리하지 못합니다. "텅 빈 거리"라고 원하는 상태를 쓰십시오.</a:t>
            </a:r>
          </a:p>
          <a:p xmlns:a="http://schemas.openxmlformats.org/drawingml/2006/main">
            <a:r>
              <a:t>세 번째 — 카메라 용어를 쓰라는 건 영어를 쓰라는 게 아닙니다. "낮은 각도에서 올려다보는", "멀리서 전체가 보이게"처럼 한국어로 쓰셔도 됩니다.</a:t>
            </a:r>
          </a:p>
          <a:p xmlns:a="http://schemas.openxmlformats.org/drawingml/2006/main">
            <a:r>
              <a:t>다섯 번째가 결과 품질을 크게 올립니다. "옷"이 아니라 "네이비 트위드", "갑옷"이 아니라 "은잎 무늬가 새겨진 판금 갑옷". 재질 이름 하나로 그림이 달라집니다.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https://cloud.google.com/blog/products/ai-machine-learning/ultimate-prompting-guide-for-nano-banana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앞의 5단계와 함께 기억하실 다섯 요소입니다. 스타일·주체·배경·행동·구도.</a:t>
            </a:r>
          </a:p>
          <a:p xmlns:a="http://schemas.openxmlformats.org/drawingml/2006/main">
            <a:r>
              <a:t>가장 자주 빠뜨리는 것이 '구도'입니다. 이걸 넣으면 카드뉴스로 바로 쓸 수 있는 그림이 나옵니다.</a:t>
            </a:r>
          </a:p>
          <a:p xmlns:a="http://schemas.openxmlformats.org/drawingml/2006/main">
            <a:r>
              <a:t>그리고 한글 글자를 넣을 때 요령 두 가지 — 넣을 문구를 완성된 한국어로 따옴표 안에 그대로 쓰는 것, 그리고 "3단계 인포그래픽으로"처럼 정보 구조를 지정하는 것입니다.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assets/infographics/09_이미지프롬프트_5요소_Claude.png</a:t>
            </a:r>
          </a:p>
          <a:p xmlns:a="http://schemas.openxmlformats.org/drawingml/2006/main">
            <a:r>
              <a:t>- https://support.google.com/gemini/answer/14286560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그대로 복사해서 쓰시면 됩니다. 대괄호 안만 각자 사업으로 바꾸십시오.</a:t>
            </a:r>
          </a:p>
          <a:p xmlns:a="http://schemas.openxmlformats.org/drawingml/2006/main">
            <a:r>
              <a:t>[텍스트] 부분을 주목해 주십시오. "수수춘천이라고 써 줘"가 아니라 따옴표 안에 완성된 문구를 그대로 넣었습니다. 이렇게 해야 글자가 덜 깨집니다.</a:t>
            </a:r>
          </a:p>
          <a:p xmlns:a="http://schemas.openxmlformats.org/drawingml/2006/main">
            <a:r>
              <a:t>그래도 한글은 자주 깨집니다. 그때는 두 가지 방법이 있습니다.</a:t>
            </a:r>
          </a:p>
          <a:p xmlns:a="http://schemas.openxmlformats.org/drawingml/2006/main">
            <a:r>
              <a:t>① 생성 후 '더보기 → Redo with Pro'로 다시 만들기</a:t>
            </a:r>
          </a:p>
          <a:p xmlns:a="http://schemas.openxmlformats.org/drawingml/2006/main">
            <a:r>
              <a:t>② 글자 없이 그림만 만들고 글자는 파워포인트나 캔바에서 얹기</a:t>
            </a:r>
          </a:p>
          <a:p xmlns:a="http://schemas.openxmlformats.org/drawingml/2006/main">
            <a:r>
              <a:t>실무에서는 ②번이 훨씬 빠르고 확실합니다. 저도 대외 배포물은 대부분 ②로 만듭니다.</a:t>
            </a:r>
          </a:p>
          <a:p xmlns:a="http://schemas.openxmlformats.org/drawingml/2006/main">
            <a:r>
              <a:t>[▶ 웹가이드] 「이미지·영상」 섹션의 '16:9 인포그래픽 프롬프트' 카드로 전환 — [프롬프트 복사] 버튼을 눌러 제미나이에 붙여 넣고 실제 생성까지 시연합니다. 생성되는 동안 다음 슬라이드로 넘어가면 시간이 비지 않습니다.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https://support.google.com/gemini/answer/14286560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여기부터가 3부의 본론입니다.</a:t>
            </a:r>
          </a:p>
          <a:p xmlns:a="http://schemas.openxmlformats.org/drawingml/2006/main">
            <a:r>
              <a:t>한 장 만드는 건 쉽습니다. 문제는 두 번째, 세 번째 장입니다. 그림체가 달라지고 인물 얼굴이 달라집니다.</a:t>
            </a:r>
          </a:p>
          <a:p xmlns:a="http://schemas.openxmlformats.org/drawingml/2006/main">
            <a:r>
              <a:t>해결책은 딱 한 문장으로 정리됩니다 — 그림체와 인물 서술은 한 글자도 안 바꾸고 복사하고, 배경·행동·구도만 갈아끼운다.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구글 공식 가이드가 프롬프트를 다섯 축으로 나눕니다. 그림체·인물·배경·행동·구도.</a:t>
            </a:r>
          </a:p>
          <a:p xmlns:a="http://schemas.openxmlformats.org/drawingml/2006/main">
            <a:r>
              <a:t>일관성 작업에서는 앞의 두 개를 고정하고 뒤의 세 개만 바꿉니다. 이게 전부입니다.</a:t>
            </a:r>
          </a:p>
          <a:p xmlns:a="http://schemas.openxmlformats.org/drawingml/2006/main">
            <a:r>
              <a:t>여기서 헷갈리기 쉬운 게 있습니다. Subject는 '주제'가 아니라 '누가·무엇이 나오는가', 즉 인물·피사체입니다.</a:t>
            </a:r>
          </a:p>
          <a:p xmlns:a="http://schemas.openxmlformats.org/drawingml/2006/main">
            <a:r>
              <a:t>주인공은 여덟 컷 내내 같은 사람이므로 생김새·옷 서술을 한 글자도 바꾸지 않고 복사합니다. 컷마다 달라지는 건 그 인물이 어디서, 무엇을 하며, 어떻게 잡히는가입니다.</a:t>
            </a:r>
          </a:p>
          <a:p xmlns:a="http://schemas.openxmlformats.org/drawingml/2006/main">
            <a:r>
              <a:t>※ 실무 요령 — 고정 블록을 메모장에 저장해 두고 매 컷 복사하십시오. 기억에 의존하면 반드시 달라집니다.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이게 오늘 만들 가장 중요한 파일입니다. 파일이라고 해 봐야 메모장 한 장입니다.</a:t>
            </a:r>
          </a:p>
          <a:p xmlns:a="http://schemas.openxmlformats.org/drawingml/2006/main">
            <a:r>
              <a:t>네 줄로 되어 있습니다 — 그림체, 색과 빛, 질감, 화면.</a:t>
            </a:r>
          </a:p>
          <a:p xmlns:a="http://schemas.openxmlformats.org/drawingml/2006/main">
            <a:r>
              <a:t>'색·빛' 줄에서 "빛은 화면 왼쪽 위에서"라는 구절을 주목해 주십시오. 조명 방향 한 줄이 컷 사이 색 튐을 크게 줄입니다. 이걸 안 쓰면 어떤 컷은 밝고 어떤 컷은 어둡습니다.</a:t>
            </a:r>
          </a:p>
          <a:p xmlns:a="http://schemas.openxmlformats.org/drawingml/2006/main">
            <a:r>
              <a:t>'최대 6색'도 실전 요령입니다. 색 수를 제한하면 여러 장이 훨씬 잘 어울립니다.</a:t>
            </a:r>
          </a:p>
          <a:p xmlns:a="http://schemas.openxmlformats.org/drawingml/2006/main">
            <a:r>
              <a:t>※ 실습 순서 — 스타일 블록을 먼저 정하고, 그다음 첫 장을 만드십시오. 반대로 하면 세 장이 다 다른 그림이 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캐릭터 일관성 다섯 원칙입니다. 순서대로 지키면 됩니다.</a:t>
            </a:r>
          </a:p>
          <a:p xmlns:a="http://schemas.openxmlformats.org/drawingml/2006/main">
            <a:r>
              <a:t>①번이 의외로 결정적입니다. "그 아이", "주인공"이라고 쓰면 매번 다른 사람이 나옵니다. 고유한 이름을 붙이는 순간 모델이 그 이름과 외형을 연결합니다.</a:t>
            </a:r>
          </a:p>
          <a:p xmlns:a="http://schemas.openxmlformats.org/drawingml/2006/main">
            <a:r>
              <a:t>④번을 설명드리겠습니다. 지금 만드는 한 장면을 고치는 동안은 같은 대화에서 "여기서 이것만 바꿔 줘"로 이어 갑니다. 그런데 다음 장면으로 넘어갈 때는 캐릭터 시트를 다시 첨부하고 시작하십시오.</a:t>
            </a:r>
          </a:p>
          <a:p xmlns:a="http://schemas.openxmlformats.org/drawingml/2006/main">
            <a:r>
              <a:t>왜냐하면 일관성은 대화가 기억해 주는 게 아니라 기준 그림이 지키는 것이기 때문입니다. 대화가 길어질수록 얼굴이 조금씩 흘러갑니다. 이걸 드리프트라고 합니다.</a:t>
            </a:r>
          </a:p>
          <a:p xmlns:a="http://schemas.openxmlformats.org/drawingml/2006/main">
            <a:r>
              <a:t>⑤번은 다음 장에서 자세히 다루겠습니다.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https://cloud.google.com/blog/products/ai-machine-learning/ultimate-prompting-guide-for-nano-banana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 이미지는 아무 그림이나 되는 게 아닙니다. 네 조건을 지켜야 뒤에서 쓸 수 있습니다.</a:t>
            </a:r>
          </a:p>
          <a:p xmlns:a="http://schemas.openxmlformats.org/drawingml/2006/main">
            <a:r>
              <a:t>전신, 정면, 단색 배경, 중립 표정. 이 넷입니다.</a:t>
            </a:r>
          </a:p>
          <a:p xmlns:a="http://schemas.openxmlformats.org/drawingml/2006/main">
            <a:r>
              <a:t>왜 중립 표정이냐면 — 웃는 얼굴을 기준으로 삼으면 슬픈 장면에서도 자꾸 웃습니다. 중립에서 출발해야 감정 변형이 쉽습니다.</a:t>
            </a:r>
          </a:p>
          <a:p xmlns:a="http://schemas.openxmlformats.org/drawingml/2006/main">
            <a:r>
              <a:t>왜 단색 배경이냐면 — 배경이 복잡하면 모델이 인물과 배경을 헷갈립니다. 실루엣이 또렷해야 합니다.</a:t>
            </a:r>
          </a:p>
          <a:p xmlns:a="http://schemas.openxmlformats.org/drawingml/2006/main">
            <a:r>
              <a:t>※ 기준 이미지는 두 장입니다. 스타일 기준(화풍) 한 장, 캐릭터 기준(인물) 한 장. 둘을 나눠서 만드십시오.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기준 이미지를 만드는 가장 빠른 방법입니다. 탐색 → 선택 → 확정 3단계입니다.</a:t>
            </a:r>
          </a:p>
          <a:p xmlns:a="http://schemas.openxmlformats.org/drawingml/2006/main">
            <a:r>
              <a:t>1단계에서 후보 6개를 한 화면에 뽑습니다. 하나씩 만들어 보면 시간이 몇 배 걸립니다. 그리드로 뽑으면 한 번에 비교됩니다.</a:t>
            </a:r>
          </a:p>
          <a:p xmlns:a="http://schemas.openxmlformats.org/drawingml/2006/main">
            <a:r>
              <a:t>2단계는 선택 사항입니다. 6개 중 하나가 거의 마음에 드는데 세부만 아쉬울 때 씁니다.</a:t>
            </a:r>
          </a:p>
          <a:p xmlns:a="http://schemas.openxmlformats.org/drawingml/2006/main">
            <a:r>
              <a:t>3단계가 중요합니다. 그리드에서 잘라낸 이미지에는 번호가 남아 있습니다. 그 상태로 참조에 쓰면 번호까지 따라 그립니다. 반드시 번호 없는 단일 이미지로 다시 뽑으십시오.</a:t>
            </a:r>
          </a:p>
          <a:p xmlns:a="http://schemas.openxmlformats.org/drawingml/2006/main">
            <a:r>
              <a:t>확정한 파일은 `캐릭터기준_이름.png` 처럼 이름을 붙여 저장해 두십시오. 이후 모든 컷에서 이 파일을 첨부합니다.</a:t>
            </a:r>
          </a:p>
          <a:p xmlns:a="http://schemas.openxmlformats.org/drawingml/2006/main">
            <a:r>
              <a:t>※ 이미 마음에 드는 인물이 그려진 컷이 있다면 — 그 이미지를 첨부하고 "이 인물을 기준 이미지 형태로 다시 그려 줘"라고만 하면 됩니다. 훨씬 빠릅니다.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수정할 때 지킬 것입니다.</a:t>
            </a:r>
          </a:p>
          <a:p xmlns:a="http://schemas.openxmlformats.org/drawingml/2006/main">
            <a:r>
              <a:t>왼쪽 ①번이 가장 중요합니다. "옷만 파란색으로 바꿔 줘"라고 하면 배경까지 다 바뀝니다. "옷만 파란색으로 바꾸고, 얼굴·머리·배경·그림체는 원본과 똑같이 유지해 줘"라고 두 줄로 나눠 쓰십시오.</a:t>
            </a:r>
          </a:p>
          <a:p xmlns:a="http://schemas.openxmlformats.org/drawingml/2006/main">
            <a:r>
              <a:t>②번 — "앞서 말했듯이"는 통하지 않습니다. 유지 목록을 매번 다시 쓰셔야 합니다. 귀찮지만 이 반복이 드리프트를 막습니다.</a:t>
            </a:r>
          </a:p>
          <a:p xmlns:a="http://schemas.openxmlformats.org/drawingml/2006/main">
            <a:r>
              <a:t>오른쪽 3회 룰이 오늘 배울 것 중 가장 실용적인 기준입니다. 세 번 고쳤는데도 안 되면 더 고치지 마십시오. 오히려 나빠집니다.</a:t>
            </a:r>
          </a:p>
          <a:p xmlns:a="http://schemas.openxmlformats.org/drawingml/2006/main">
            <a:r>
              <a:t>가장 잘 나온 결과물을 들고 새 대화를 여십시오. 대화가 길어지면 모델이 앞의 지시에 눌려서 새 지시를 잘 못 듣습니다.</a:t>
            </a:r>
          </a:p>
          <a:p xmlns:a="http://schemas.openxmlformats.org/drawingml/2006/main">
            <a:r>
              <a:t>※ 이 기준이 없으면 한 컷에 30분을 씁니다. 실제로 그렇게 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증상별 처방전입니다. 실습 중에 막히면 이 표를 보시면 됩니다.</a:t>
            </a:r>
          </a:p>
          <a:p xmlns:a="http://schemas.openxmlformats.org/drawingml/2006/main">
            <a:r>
              <a:t>가장 자주 만나실 것은 첫 줄과 넷째 줄입니다.</a:t>
            </a:r>
          </a:p>
          <a:p xmlns:a="http://schemas.openxmlformats.org/drawingml/2006/main">
            <a:r>
              <a:t>마지막 줄은 앞에서 본 모델 지형도와 이어집니다. 스타일 참조가 무시되는 건 실력 문제가 아니라 모델에 그 슬롯이 없어서입니다. 이걸 모르면 계속 자기 프롬프트를 탓하게 됩니다.</a:t>
            </a:r>
          </a:p>
          <a:p xmlns:a="http://schemas.openxmlformats.org/drawingml/2006/main">
            <a:r>
              <a:t>※ 이 표는 실습 가이드 웹페이지에도 올려 두었습니다. 실습 중에 각자 화면에 열어 두게 하십시오.</a:t>
            </a:r>
          </a:p>
          <a:p xmlns:a="http://schemas.openxmlformats.org/drawingml/2006/main">
            <a:r>
              <a:t>[▶ 웹가이드] 여기서 가이드의 해당 표 위치를 한 번 보여 주고 넘어갑니다 — "막히면 이 표부터 보세요."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참조 이미지를 여러 장 넣을 때는 반드시 라벨을 붙이십시오. 안 그러면 섞입니다.</a:t>
            </a:r>
          </a:p>
          <a:p xmlns:a="http://schemas.openxmlformats.org/drawingml/2006/main">
            <a:r>
              <a:t>패턴 A는 역할로 부르는 방식입니다. "첫 번째 이미지는 인물 기준이야"라고 선언하고, 아래에서 그 이름으로 부릅니다.</a:t>
            </a:r>
          </a:p>
          <a:p xmlns:a="http://schemas.openxmlformats.org/drawingml/2006/main">
            <a:r>
              <a:t>패턴 B는 고유명사를 씁니다. 여러 컷을 만들 때 이쪽이 훨씬 편합니다. 컷 블록만 갈아끼우면 되니까요.</a:t>
            </a:r>
          </a:p>
          <a:p xmlns:a="http://schemas.openxmlformats.org/drawingml/2006/main">
            <a:r>
              <a:t>라벨 없이 그냥 이미지 세 장을 넣고 "이렇게 만들어 줘"라고 하면, 모델이 어느 이미지에서 무엇을 가져올지 스스로 정합니다. 결과가 복불복이 됩니다.</a:t>
            </a:r>
          </a:p>
          <a:p xmlns:a="http://schemas.openxmlformats.org/drawingml/2006/main">
            <a:r>
              <a:t>※ 예시의 이름은 예시일 뿐입니다. 각자 사업·인물로 바꿔 쓰십시오.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참조 이미지는 많이 넣을수록 좋을 것 같지만, 그렇지 않습니다.</a:t>
            </a:r>
          </a:p>
          <a:p xmlns:a="http://schemas.openxmlformats.org/drawingml/2006/main">
            <a:r>
              <a:t>슬롯이 늘어날수록 모델이 무엇을 우선할지 헷갈립니다. 꼭 지켜야 할 것만 넣으십시오 — 캐릭터 얼굴과 스타일. 나머지는 텍스트로 서술하는 게 낫습니다.</a:t>
            </a:r>
          </a:p>
          <a:p xmlns:a="http://schemas.openxmlformats.org/drawingml/2006/main">
            <a:r>
              <a:t>②번이 실전 요령입니다. 결과가 안 좋을 때 참조 이미지를 더 넣고 싶어집니다. 그전에 텍스트 서술을 먼저 정밀하게 다듬어 보십시오. 대개 그쪽에서 해결됩니다.</a:t>
            </a:r>
          </a:p>
          <a:p xmlns:a="http://schemas.openxmlformats.org/drawingml/2006/main">
            <a:r>
              <a:t>그리고 활용 아이디어 하나 — 춘천의 실제 장소 사진을 참조로 넣으면 지역성이 확 올라갑니다. 소양강, 공지천, 청평사 사진을 넣고 그 배경으로 그리게 하는 식입니다.</a:t>
            </a:r>
          </a:p>
          <a:p xmlns:a="http://schemas.openxmlformats.org/drawingml/2006/main">
            <a:r>
              <a:t>⚠ 단, 사진에 사람 얼굴이 나오지 않게 하십시오. 초상권 문제가 됩니다.</a:t>
            </a:r>
          </a:p>
          <a:p xmlns:a="http://schemas.openxmlformats.org/drawingml/2006/main">
            <a:r>
              <a:t>⚠ 그리고 오디오·영상은 참조로 넣을 수 없습니다. 이미지만 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실제로 만든 결과물을 두 장 나란히 보여 주는 자리입니다.</a:t>
            </a:r>
          </a:p>
          <a:p xmlns:a="http://schemas.openxmlformats.org/drawingml/2006/main">
            <a:r>
              <a:t>⚠ [이미지 교체 필요] — 앞의 스타일 블록으로 직접 만든 카드뉴스 2장을 넣어 주십시오. 같은 블록을 복사해 쓰면 화풍이 유지된다는 것을 보여 주는 것이 목적입니다.</a:t>
            </a:r>
          </a:p>
          <a:p xmlns:a="http://schemas.openxmlformats.org/drawingml/2006/main">
            <a:r>
              <a:t>멘트 — 두 장이 같은 화풍으로 보이는 이유는 같은 스타일 블록을 매번 복사해 붙였기 때문입니다. 특별한 기술이 없습니다.</a:t>
            </a:r>
          </a:p>
          <a:p xmlns:a="http://schemas.openxmlformats.org/drawingml/2006/main">
            <a:r>
              <a:t>그리고 이 정도 결과물이면 학교 배포용, 게시용으로 충분합니다. 완벽한 그림이 아니라 '쓸 수 있는' 그림이 목표입니다.</a:t>
            </a:r>
          </a:p>
          <a:p xmlns:a="http://schemas.openxmlformats.org/drawingml/2006/main">
            <a:r>
              <a:t>※ 자주 나오는 질문 — "글자가 깨졌는데요?" 답: 글자는 편집 프로그램에서 얹는 게 정석입니다. 다음 장에서 다시 말씀드립니다.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8-A입니다. 30분 드립니다.</a:t>
            </a:r>
          </a:p>
          <a:p xmlns:a="http://schemas.openxmlformats.org/drawingml/2006/main">
            <a:r>
              <a:t>2번을 반드시 먼저 하십시오. 스타일 블록 없이 만들기 시작하면 3장이 다 다른 그림이 됩니다. 이게 오늘 실습의 성패를 가릅니다.</a:t>
            </a:r>
          </a:p>
          <a:p xmlns:a="http://schemas.openxmlformats.org/drawingml/2006/main">
            <a:r>
              <a:t>5번 — 글자가 깨지면 두 가지 길이 있다고 했습니다. 시간이 없으면 그냥 글자 없이 만들고 넘어가십시오. 파워포인트에서 얹으면 됩니다.</a:t>
            </a:r>
          </a:p>
          <a:p xmlns:a="http://schemas.openxmlformats.org/drawingml/2006/main">
            <a:r>
              <a:t>6번이 검수입니다. 세 장을 나란히 놓고 보십시오. 화풍이 다르면 스타일 블록이 제대로 안 붙은 겁니다.</a:t>
            </a:r>
          </a:p>
          <a:p xmlns:a="http://schemas.openxmlformats.org/drawingml/2006/main">
            <a:r>
              <a:t>※ 순회 포인트 — ① 스타일 블록을 안 만든 분 ② 매번 다른 말로 스타일을 설명하는 분 ③ 글자 깨짐에 30분을 쓰는 분. 이 셋입니다.</a:t>
            </a:r>
          </a:p>
          <a:p xmlns:a="http://schemas.openxmlformats.org/drawingml/2006/main">
            <a:r>
              <a:t>[▶ 웹가이드] 실습 시작 전에 「실습 9개」의 실습 8 칸을 띄워 목표·순서를 확인시키고, 완성본은 게시판에 '실습 8-A'로 올리게 합니다. 게시판에 올라오는 카드뉴스를 중간중간 화면에 띄우면 분위기가 올라갑니다.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이제 영상입니다. 오늘 쓸 방식은 하나입니다 — 만들어 둔 이미지를 첫 프레임으로 넣고 움직임만 지시하기.</a:t>
            </a:r>
          </a:p>
          <a:p xmlns:a="http://schemas.openxmlformats.org/drawingml/2006/main">
            <a:r>
              <a:t>백지에서 영상을 만드는 것보다 훨씬 안정적이고, 앞에서 만든 일관성이 그대로 이어집니다.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도구가 여러 개라 헷갈리실 텐데, 오늘 쓸 것은 셋째 줄 하나입니다.</a:t>
            </a:r>
          </a:p>
          <a:p xmlns:a="http://schemas.openxmlformats.org/drawingml/2006/main">
            <a:r>
              <a:t>Frames to Video — 만들어 둔 이미지를 시작 프레임으로 지정해서 영상을 만드는 기능입니다.</a:t>
            </a:r>
          </a:p>
          <a:p xmlns:a="http://schemas.openxmlformats.org/drawingml/2006/main">
            <a:r>
              <a:t>넷째 줄 에이전트는 최근에 좋아진 부분입니다. 예전에는 컷마다 기준 이미지를 다시 첨부해야 했는데, 이제 프로젝트에 한 번만 등록해 두면 됩니다. 뒤에서 설명드립니다.</a:t>
            </a:r>
          </a:p>
          <a:p xmlns:a="http://schemas.openxmlformats.org/drawingml/2006/main">
            <a:r>
              <a:t>⚠ 중요한 제약 하나 — Google Flow는 만 18세 이상만 쓸 수 있습니다. 학생과 함께 쓰는 상황이면 그대로 제약이 됩니다.</a:t>
            </a:r>
          </a:p>
          <a:p xmlns:a="http://schemas.openxmlformats.org/drawingml/2006/main">
            <a:r>
              <a:t>⚠ 그리고 자막·타이틀은 영상 생성 단계에서 넣지 마십시오. 편집기에서 얹는 게 정석입니다.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https://support.google.com/flow/answer/16352836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구글 공식 문서가 밝힌 네 가지 원칙입니다.</a:t>
            </a:r>
          </a:p>
          <a:p xmlns:a="http://schemas.openxmlformats.org/drawingml/2006/main">
            <a:r>
              <a:t>②번이 초보자가 제일 많이 틀리는 대목입니다. 공식 문서 원문을 그대로 옮기면 — "소스 이미지가 이미 주체·장면·스타일을 제공한다. 프롬프트는 원하는 움직임에 집중하라. 이미지에 있는 것을 다시 서술하면 모델이 혼란스러워지고 결과가 나빠진다."</a:t>
            </a:r>
          </a:p>
          <a:p xmlns:a="http://schemas.openxmlformats.org/drawingml/2006/main">
            <a:r>
              <a:t>즉, "쪽빛 한복을 입은 아이가 강가에 서 있다. 따뜻한 황금빛 조명"이라고 쓰면 안 됩니다. 그건 이미 이미지에 있습니다.</a:t>
            </a:r>
          </a:p>
          <a:p xmlns:a="http://schemas.openxmlformats.org/drawingml/2006/main">
            <a:r>
              <a:t>대신 "인물이 천천히 팔을 들어 지평선을 가리킨다. 카메라가 천천히 다가간다"라고 쓰십시오.</a:t>
            </a:r>
          </a:p>
          <a:p xmlns:a="http://schemas.openxmlformats.org/drawingml/2006/main">
            <a:r>
              <a:t>③번의 '두 개까지만'이 실전 기준입니다. 셋 다 넣으면 실패율이 급증합니다.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움직임을 세 종류로 나눠서 생각하십시오.</a:t>
            </a:r>
          </a:p>
          <a:p xmlns:a="http://schemas.openxmlformats.org/drawingml/2006/main">
            <a:r>
              <a:t>안정성 별점을 보십시오. 카메라 움직임과 환경 움직임이 별 셋, 인물 동작이 별 둘입니다. 인물이 크게 움직이면 얼굴이 녹아내리거나 손가락이 이상해집니다.</a:t>
            </a:r>
          </a:p>
          <a:p xmlns:a="http://schemas.openxmlformats.org/drawingml/2006/main">
            <a:r>
              <a:t>그래서 지도 원칙은 이겁니다 — "카메라 움직임 1개 + 피사체 동작 1개"까지만.</a:t>
            </a:r>
          </a:p>
          <a:p xmlns:a="http://schemas.openxmlformats.org/drawingml/2006/main">
            <a:r>
              <a:t>욕심내서 "인물이 걸어가면서 손을 흔들고 카메라는 회전하고 배경에 비가 온다"라고 쓰면 거의 실패합니다.</a:t>
            </a:r>
          </a:p>
          <a:p xmlns:a="http://schemas.openxmlformats.org/drawingml/2006/main">
            <a:r>
              <a:t>※ 가장 안전한 조합 — 카메라는 천천히 다가가고, 인물은 눈을 깜빡이거나 옷자락이 흔들리는 정도. 이것만으로도 정지 이미지가 살아납니다.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상황별 템플릿입니다. 그대로 복사해 쓰십시오.</a:t>
            </a:r>
          </a:p>
          <a:p xmlns:a="http://schemas.openxmlformats.org/drawingml/2006/main">
            <a:r>
              <a:t>가장 아래 것이 오늘 실습에 딱 맞습니다. 카드뉴스 같은 일러스트를 영상으로 바꿀 때 쓰는 프롬프트입니다.</a:t>
            </a:r>
          </a:p>
          <a:p xmlns:a="http://schemas.openxmlformats.org/drawingml/2006/main">
            <a:r>
              <a:t>"앞쪽 배경과 뒤쪽 배경이 서로 다른 속도로 밀리게" — 이걸 패럴랙스라고 하는데, 정지 그림을 살아 있게 만드는 가장 확실한 방법입니다.</a:t>
            </a:r>
          </a:p>
          <a:p xmlns:a="http://schemas.openxmlformats.org/drawingml/2006/main">
            <a:r>
              <a:t>맨 마지막 줄을 꼭 넣으십시오. "화면의 한글 문구는 바꾸거나 새로 생성하지 않는다." 이게 없으면 카드뉴스의 글자를 이상하게 다시 그립니다.</a:t>
            </a:r>
          </a:p>
          <a:p xmlns:a="http://schemas.openxmlformats.org/drawingml/2006/main">
            <a:r>
              <a:t>※ 첫 줄 기본 틀만 외우시면 됩니다. 카메라 → 인물 → 환경 → 소리 순서입니다.</a:t>
            </a:r>
          </a:p>
          <a:p xmlns:a="http://schemas.openxmlformats.org/drawingml/2006/main">
            <a:r>
              <a:t>[▶ 웹가이드] 「실습 자료실」의 '8초 영상 — 움직임만 지시하기' 카드로 전환해 복사 버튼을 시연합니다.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 장면으로 정리하겠습니다.</a:t>
            </a:r>
          </a:p>
          <a:p xmlns:a="http://schemas.openxmlformats.org/drawingml/2006/main">
            <a:r>
              <a:t>왼쪽처럼 쓰면 안 됩니다. 이미지에 이미 있는 내용을 다시 설명한 겁니다. 구글 공식 문서가 명시적으로 권하지 않는다고 적어 둔 방식입니다.</a:t>
            </a:r>
          </a:p>
          <a:p xmlns:a="http://schemas.openxmlformats.org/drawingml/2006/main">
            <a:r>
              <a:t>오른쪽이 맞습니다. 움직임만 씁니다.</a:t>
            </a:r>
          </a:p>
          <a:p xmlns:a="http://schemas.openxmlformats.org/drawingml/2006/main">
            <a:r>
              <a:t>이 하나만 지켜도 영상 품질이 눈에 띄게 올라갑니다.</a:t>
            </a:r>
          </a:p>
          <a:p xmlns:a="http://schemas.openxmlformats.org/drawingml/2006/main">
            <a:r>
              <a:t>※ 강의 팁 — 이 슬라이드에서 실제로 두 프롬프트를 돌려 비교해 보이면 설득이 끝납니다. 미리 만들어 두십시오.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여기가 AI 영상 제작에서 가장 어려운 부분입니다. 그리고 대부분의 문제는 생성이 아니라 편집에서 해결됩니다.</a:t>
            </a:r>
          </a:p>
          <a:p xmlns:a="http://schemas.openxmlformats.org/drawingml/2006/main">
            <a:r>
              <a:t>왜 어려운지부터 설명드리고, 무기 다섯 개를 드리겠습니다.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원인을 알면 대처가 쉬워집니다.</a:t>
            </a:r>
          </a:p>
          <a:p xmlns:a="http://schemas.openxmlformats.org/drawingml/2006/main">
            <a:r>
              <a:t>이미지는 한 대화 안에서 맥락이 유지됩니다. 그런데 영상 클립은 각각 독립된 요청입니다. 클립 A를 만든 기억이 클립 B에 전혀 남지 않습니다.</a:t>
            </a:r>
          </a:p>
          <a:p xmlns:a="http://schemas.openxmlformats.org/drawingml/2006/main">
            <a:r>
              <a:t>전달되는 것은 내가 다시 넣은 프롬프트와 참조 이미지뿐입니다. 그래서 세 종류의 드리프트가 생깁니다.</a:t>
            </a:r>
          </a:p>
          <a:p xmlns:a="http://schemas.openxmlformats.org/drawingml/2006/main">
            <a:r>
              <a:t>여기서 중요한 마음가짐 하나 — 드리프트를 완전히 없앨 수는 없습니다. 줄이고, 감추는 겁니다.</a:t>
            </a:r>
          </a:p>
          <a:p xmlns:a="http://schemas.openxmlformats.org/drawingml/2006/main">
            <a:r>
              <a:t>줄이는 건 생성 단계에서, 감추는 건 편집 단계에서 합니다. 지금부터 다섯 가지 무기를 드리겠습니다.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무기 1과 2는 생성 단계에서 드리프트를 줄이는 방법입니다.</a:t>
            </a:r>
          </a:p>
          <a:p xmlns:a="http://schemas.openxmlformats.org/drawingml/2006/main">
            <a:r>
              <a:t>무기 1 고정 블록. 이미지에서 배운 것과 같은 원리입니다. 다섯 덩어리로 나눠서 ④번 컷 블록만 갈아끼웁니다.</a:t>
            </a:r>
          </a:p>
          <a:p xmlns:a="http://schemas.openxmlformats.org/drawingml/2006/main">
            <a:r>
              <a:t>여기에 실전 요령 세 가지를 덧붙이겠습니다.</a:t>
            </a:r>
          </a:p>
          <a:p xmlns:a="http://schemas.openxmlformats.org/drawingml/2006/main">
            <a:r>
              <a:t>첫째, 캐릭터 블록은 한 글자도 바꾸지 않습니다. 의역·요약 금지입니다.</a:t>
            </a:r>
          </a:p>
          <a:p xmlns:a="http://schemas.openxmlformats.org/drawingml/2006/main">
            <a:r>
              <a:t>둘째, 조명 방향을 문장으로 못 박으십시오. "빛은 화면 왼쪽에서" 한 구절이 색 튐을 크게 줄입니다.</a:t>
            </a:r>
          </a:p>
          <a:p xmlns:a="http://schemas.openxmlformats.org/drawingml/2006/main">
            <a:r>
              <a:t>셋째, 화면 좌우 배치를 명시하십시오. "나무는 화면 오른쪽" 같은 식입니다. 이게 좌우가 뒤집히는 사고를 막습니다.</a:t>
            </a:r>
          </a:p>
          <a:p xmlns:a="http://schemas.openxmlformats.org/drawingml/2006/main">
            <a:r>
              <a:t>무기 2 체이닝은 앞 클립의 마지막 프레임을 다음 클립의 시작으로 쓰는 방법입니다. 두 컷을 붙일 때 가장 확실합니다.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무기 3과 4가 오늘 배울 것 중 가장 쓸모 있습니다.</a:t>
            </a:r>
          </a:p>
          <a:p xmlns:a="http://schemas.openxmlformats.org/drawingml/2006/main">
            <a:r>
              <a:t>무기 3은 직관에 반합니다. 두 컷이 안 붙으면 보통 더 비슷하게 만들려고 합니다. 그런데 반대로 하십시오. 더 다르게 만드십시오.</a:t>
            </a:r>
          </a:p>
          <a:p xmlns:a="http://schemas.openxmlformats.org/drawingml/2006/main">
            <a:r>
              <a:t>앵글이 비슷할수록 얼굴이 살짝 달라진 게 도드라집니다. 멀리서 잡은 컷 다음에 얼굴 클로즈업을 붙이면, 그 차이가 "각도가 달라서 그렇지" 하고 흡수됩니다.</a:t>
            </a:r>
          </a:p>
          <a:p xmlns:a="http://schemas.openxmlformats.org/drawingml/2006/main">
            <a:r>
              <a:t>무기 4가 진짜입니다. 품은 제일 적게 들고 효과는 제일 큽니다.</a:t>
            </a:r>
          </a:p>
          <a:p xmlns:a="http://schemas.openxmlformats.org/drawingml/2006/main">
            <a:r>
              <a:t>그림은 컷마다 튑니다. 그런데 소리는 제가 직접 깔기 때문에 안 튑니다. 다음 컷의 소리를 화면보다 0.5초 먼저 시작하면, 관객의 뇌가 "연속된 하나의 장면"으로 처리합니다.</a:t>
            </a:r>
          </a:p>
          <a:p xmlns:a="http://schemas.openxmlformats.org/drawingml/2006/main">
            <a:r>
              <a:t>실습 지시문은 한 줄입니다 — "다음 컷의 소리를 화면보다 0.5초 먼저 시작하세요. 그것만으로 두 컷이 붙습니다."</a:t>
            </a:r>
          </a:p>
          <a:p xmlns:a="http://schemas.openxmlformats.org/drawingml/2006/main">
            <a:r>
              <a:t>⚠ 함정 하나 — AI가 클립마다 오디오를 따로 생성하므로 컷마다 배경음이 다릅니다. 실무에서는 생성된 오디오를 통째로 음소거하고 배경음을 새로 깝니다.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편집자 월터 머치가 매긴 컷 판단 기준입니다. 《눈 깜빡할 사이》라는 책에 나옵니다.</a:t>
            </a:r>
          </a:p>
          <a:p xmlns:a="http://schemas.openxmlformats.org/drawingml/2006/main">
            <a:r>
              <a:t>숫자를 정밀한 측정값으로 오해하시면 안 됩니다. 머치 본인이 "약간 농담 섞인 수치"라고 단서를 달았습니다.</a:t>
            </a:r>
          </a:p>
          <a:p xmlns:a="http://schemas.openxmlformats.org/drawingml/2006/main">
            <a:r>
              <a:t>진짜 의도는 이겁니다 — 감정 하나가 나머지 다섯 개를 합친 것보다 크다. 51 대 49.</a:t>
            </a:r>
          </a:p>
          <a:p xmlns:a="http://schemas.openxmlformats.org/drawingml/2006/main">
            <a:r>
              <a:t>그리고 머치의 원칙은 "타협해야 할 때는 아래(6번)부터 버린다"입니다.</a:t>
            </a:r>
          </a:p>
          <a:p xmlns:a="http://schemas.openxmlformats.org/drawingml/2006/main">
            <a:r>
              <a:t>그래서 연수에서 반드시 하실 말씀은 이겁니다 — "AI 영상의 연속성 오류는 머치 기준으로 5~6번, 가장 먼저 버려도 되는 항목입니다. 얼굴이 살짝 달라진 것보다 이야기가 지루한 게 훨씬 큰 문제입니다."</a:t>
            </a:r>
          </a:p>
          <a:p xmlns:a="http://schemas.openxmlformats.org/drawingml/2006/main">
            <a:r>
              <a:t>여기서 완벽주의에 빠지면 하루가 다 갑니다. 오늘은 완주가 목표입니다.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오늘 3부에서 하나만 가져가신다면 이것입니다.</a:t>
            </a:r>
          </a:p>
          <a:p xmlns:a="http://schemas.openxmlformats.org/drawingml/2006/main">
            <a:r>
              <a:t>AI로 만든 클립은 처음 0.3~0.5초에 모션이 붙기 시작하고, 마지막 0.3~0.5초에 모션이 죽거나 드리프트가 시작됩니다.</a:t>
            </a:r>
          </a:p>
          <a:p xmlns:a="http://schemas.openxmlformats.org/drawingml/2006/main">
            <a:r>
              <a:t>그래서 8초로 생성하고 편집에서 4~6초만 쓰십시오. 앞 0.3초, 뒤 0.5초를 기본으로 잘라 냅니다.</a:t>
            </a:r>
          </a:p>
          <a:p xmlns:a="http://schemas.openxmlformats.org/drawingml/2006/main">
            <a:r>
              <a:t>이 습관 하나로 "AI로 만든 티"의 상당 부분이 사라집니다.</a:t>
            </a:r>
          </a:p>
          <a:p xmlns:a="http://schemas.openxmlformats.org/drawingml/2006/main">
            <a:r>
              <a:t>※ 비용 이야기도 함께 하십시오 — 4초로 만들면 크레딧이 아껴질 것 같지만, 잘라낼 여유가 없어서 결국 다시 만듭니다. 8초로 만드는 게 결과적으로 싸게 먹힙니다.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증상별 대처표입니다. 실습 중에 이 표를 열어 두시면 됩니다.</a:t>
            </a:r>
          </a:p>
          <a:p xmlns:a="http://schemas.openxmlformats.org/drawingml/2006/main">
            <a:r>
              <a:t>왼쪽이 증상, 가운데가 만들 때 대처, 오른쪽이 편집으로 해결하는 방법입니다.</a:t>
            </a:r>
          </a:p>
          <a:p xmlns:a="http://schemas.openxmlformats.org/drawingml/2006/main">
            <a:r>
              <a:t>셋째 줄이 아주 실용적입니다. 어느 컷에서 얼굴이 달라졌다면 그 컷을 다시 만들려고 애쓰지 마시고, 멀리서 잡은 화면이나 뒷모습으로 대체하십시오. 관객은 모릅니다.</a:t>
            </a:r>
          </a:p>
          <a:p xmlns:a="http://schemas.openxmlformats.org/drawingml/2006/main">
            <a:r>
              <a:t>여섯째 줄 — 영상 안에 글자를 넣으려 하지 마십시오. 깨집니다. 자막과 타이틀은 편집기에서 얹는 게 정석입니다.</a:t>
            </a:r>
          </a:p>
          <a:p xmlns:a="http://schemas.openxmlformats.org/drawingml/2006/main">
            <a:r>
              <a:t>마지막 줄이 앞에서 강조한 그 습관입니다.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한국어 대사에 대해서는 솔직하게 말씀드리는 게 낫습니다.</a:t>
            </a:r>
          </a:p>
          <a:p xmlns:a="http://schemas.openxmlformats.org/drawingml/2006/main">
            <a:r>
              <a:t>공식 문서에 한국어가 지원 언어로 들어 있긴 합니다. 그런데 같은 문서가 "최상의 결과를 위해서는 영어를 권장한다"고 경고합니다.</a:t>
            </a:r>
          </a:p>
          <a:p xmlns:a="http://schemas.openxmlformats.org/drawingml/2006/main">
            <a:r>
              <a:t>그리고 어디에도 "한국어 음성을 생성한다"고 보증하는 문구는 없습니다.</a:t>
            </a:r>
          </a:p>
          <a:p xmlns:a="http://schemas.openxmlformats.org/drawingml/2006/main">
            <a:r>
              <a:t>실무에서 보고되는 건 — 같은 프롬프트로도 어떤 건 영어로, 어떤 건 한국어로 나온다는 겁니다. 비결정적입니다.</a:t>
            </a:r>
          </a:p>
          <a:p xmlns:a="http://schemas.openxmlformats.org/drawingml/2006/main">
            <a:r>
              <a:t>그래서 대안을 미리 준비하십시오. 1안과 2안이 확실합니다. 영상은 무음으로 만들고 소리는 편집에서 얹는 겁니다.</a:t>
            </a:r>
          </a:p>
          <a:p xmlns:a="http://schemas.openxmlformats.org/drawingml/2006/main">
            <a:r>
              <a:t>※ 강사 사전 준비 — 연수 당일 아침에 한국어 대사 프롬프트를 서너 번 돌려 성공률을 확인하고, 사실대로 안내하십시오. 이 항목이 만족도에 직결됩니다.</a:t>
            </a:r>
          </a:p>
          <a:p xmlns:a="http://schemas.openxmlformats.org/drawingml/2006/main">
            <a:r>
              <a:t>※ 참고로 배경음악은 이 도구에서 안 만들어집니다. 별개 서비스를 써야 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https://docs.cloud.google.com/vertex-ai/generative-ai/docs/video/best-practice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마지막 모듈입니다. 만든 것을 밖으로 내보내기 전에 확인할 것들입니다.</a:t>
            </a:r>
          </a:p>
          <a:p xmlns:a="http://schemas.openxmlformats.org/drawingml/2006/main">
            <a:r>
              <a:t>이 부분을 빼면 현장에서 사고가 납니다. 특히 대외 홍보물이나 학생 대회 지도에서 그렇습니다.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여덟 가지입니다. 이 표는 학생 지도를 하실 때 그대로 쓰실 수 있습니다.</a:t>
            </a:r>
          </a:p>
          <a:p xmlns:a="http://schemas.openxmlformats.org/drawingml/2006/main">
            <a:r>
              <a:t>2번과 3번이 학교 현장에서 제일 자주 걸립니다. Flow는 만 18세 이상, 한국 구글 계정은 만 14세 이상입니다. 초등학생은 교사가 대신 만들어 주는 구조로 설계해야 합니다.</a:t>
            </a:r>
          </a:p>
          <a:p xmlns:a="http://schemas.openxmlformats.org/drawingml/2006/main">
            <a:r>
              <a:t>6번 워터마크가 홍보물에서 치명적입니다. 무료·중간 요금제로 만든 영상에는 눈에 보이는 워터마크가 박힙니다. 대외 배포용이면 먼저 확인하십시오. 그리고 잘라내라고 지도하시면 안 됩니다.</a:t>
            </a:r>
          </a:p>
          <a:p xmlns:a="http://schemas.openxmlformats.org/drawingml/2006/main">
            <a:r>
              <a:t>8번이 최근에 바뀐 부분입니다. 교육부가 2025년 12월에 발표한 방침으로, 2026학년도부터 AI 활용 과정을 표기하도록 되어 있습니다. "이건 대회 규정일 뿐 아니라 교육부 공식 방침입니다"라고 말씀하시면 됩니다.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https://www.moe.go.kr/boardCnts/viewRenew.do?boardID=294&amp;boardSeq=104984&amp;lev=0&amp;m=020402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여기서 오해가 많습니다.</a:t>
            </a:r>
          </a:p>
          <a:p xmlns:a="http://schemas.openxmlformats.org/drawingml/2006/main">
            <a:r>
              <a:t>SynthID는 "AI가 만들었는가"만 알려 줍니다. 누가, 언제, 어느 계정으로 만들었는지는 담겨 있지 않습니다.</a:t>
            </a:r>
          </a:p>
          <a:p xmlns:a="http://schemas.openxmlformats.org/drawingml/2006/main">
            <a:r>
              <a:t>즉 소유권 증명 수단이 아닙니다. "내가 만들었다"를 증명해 주지 않습니다.</a:t>
            </a:r>
          </a:p>
          <a:p xmlns:a="http://schemas.openxmlformats.org/drawingml/2006/main">
            <a:r>
              <a:t>그래서 프롬프트 기록이 필요한 겁니다. 대회에서 "내가 한 일"을 입증하는 건 워터마크가 아니라 과정 기록입니다.</a:t>
            </a:r>
          </a:p>
          <a:p xmlns:a="http://schemas.openxmlformats.org/drawingml/2006/main">
            <a:r>
              <a:t>그리고 마지막 검수 책임은 사람에게 있습니다. 화면 속 오탈자, 사실 관계, 기관 지침 준수 — 이 셋은 AI가 아니라 사람이 마지막에 확인해야 합니다.</a:t>
            </a:r>
          </a:p>
          <a:p xmlns:a="http://schemas.openxmlformats.org/drawingml/2006/main">
            <a:r>
              <a:t>※ 특히 사실 관계 — AI는 없는 사실을 지어냅니다. 지역 설화나 통계를 다룰 때 특히 조심하십시오.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프롬프트 기록 양식입니다. 학생 지도용으로도, 우리 업무 결과물용으로도 그대로 쓰실 수 있습니다.</a:t>
            </a:r>
          </a:p>
          <a:p xmlns:a="http://schemas.openxmlformats.org/drawingml/2006/main">
            <a:r>
              <a:t>[2]번이 핵심입니다. "내가 정한 것"을 적는 칸입니다. 이게 있어야 "AI가 다 만든 것"이 아니라 "내가 기획하고 AI가 실행한 것"이 됩니다.</a:t>
            </a:r>
          </a:p>
          <a:p xmlns:a="http://schemas.openxmlformats.org/drawingml/2006/main">
            <a:r>
              <a:t>[4]번도 중요합니다. AI 결과물을 어떻게 고쳤는지 적습니다. 자른 부분, 다시 만든 부분, 얹은 자막.</a:t>
            </a:r>
          </a:p>
          <a:p xmlns:a="http://schemas.openxmlformats.org/drawingml/2006/main">
            <a:r>
              <a:t>[5]번은 배포 전 최종 점검입니다. 세 칸만 체크하면 됩니다.</a:t>
            </a:r>
          </a:p>
          <a:p xmlns:a="http://schemas.openxmlformats.org/drawingml/2006/main">
            <a:r>
              <a:t>※ 이 양식은 실습 파일 세트와 실습 가이드 웹페이지에 넣어 두었습니다. 학교에 배포하셔도 됩니다.</a:t>
            </a:r>
          </a:p>
          <a:p xmlns:a="http://schemas.openxmlformats.org/drawingml/2006/main">
            <a:r>
              <a:t>[▶ 웹가이드] 「자료」 섹션에서 실습 파일 ZIP 안의 기록 양식 위치를 보여 줍니다.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[참고]</a:t>
            </a:r>
          </a:p>
          <a:p xmlns:a="http://schemas.openxmlformats.org/drawingml/2006/main">
            <a:r>
              <a:t>- https://www.moe.go.kr/boardCnts/viewRenew.do?boardID=294&amp;boardSeq=104984&amp;lev=0&amp;m=020402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실습 8-B입니다. 25분입니다.</a:t>
            </a:r>
          </a:p>
          <a:p xmlns:a="http://schemas.openxmlformats.org/drawingml/2006/main">
            <a:r>
              <a:t>3번에서 실수하기 쉽습니다. 이미지에 있는 내용을 다시 쓰지 마십시오. 움직임만 씁니다. 앞에서 드린 「일러스트 살리기」 프롬프트를 그대로 쓰시면 됩니다.</a:t>
            </a:r>
          </a:p>
          <a:p xmlns:a="http://schemas.openxmlformats.org/drawingml/2006/main">
            <a:r>
              <a:t>4번 — 8초로 만드십시오. 4초로 만들면 앞뒤를 잘라낼 여유가 없어서 결국 다시 만들게 됩니다.</a:t>
            </a:r>
          </a:p>
          <a:p xmlns:a="http://schemas.openxmlformats.org/drawingml/2006/main">
            <a:r>
              <a:t>6번을 건너뛰지 마십시오. 대외 배포 전에 워터마크가 붙었는지 반드시 확인합니다.</a:t>
            </a:r>
          </a:p>
          <a:p xmlns:a="http://schemas.openxmlformats.org/drawingml/2006/main">
            <a:r>
              <a:t>※ 계정 확인 — Flow는 만 18세 이상입니다. 그리고 교육용 계정 종류에 따라 영상 메뉴가 없을 수 있습니다. 그런 경우 프롬프트 작성까지만 하고 결과는 강사 화면으로 함께 보십시오.</a:t>
            </a:r>
          </a:p>
          <a:p xmlns:a="http://schemas.openxmlformats.org/drawingml/2006/main">
            <a:r>
              <a:t>※ 시간이 부족하면 — 생성 시작까지만 하고, 완성본은 미리 만들어 둔 것을 보여 주십시오.</a:t>
            </a:r>
          </a:p>
          <a:p xmlns:a="http://schemas.openxmlformats.org/drawingml/2006/main">
            <a:r>
              <a:t>[▶ 웹가이드] Flow 화면과 가이드 「실습 자료실」의 영상 프롬프트 카드를 오가며 시연합니다. 완성 영상은 게시판에 '실습 8-B'로 올리게 하십시오.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3부를 마무리하겠습니다.</a:t>
            </a:r>
          </a:p>
          <a:p xmlns:a="http://schemas.openxmlformats.org/drawingml/2006/main">
            <a:r>
              <a:t>오늘 배운 것을 한 문장으로 줄이면 — 한 장은 누구나 만들지만, 여덟 장을 같은 화풍으로 만드는 것이 실력이라는 겁니다.</a:t>
            </a:r>
          </a:p>
          <a:p xmlns:a="http://schemas.openxmlformats.org/drawingml/2006/main">
            <a:r>
              <a:t>그리고 그 실력은 재능이 아니라 규칙에서 나옵니다. 고정 블록을 메모장에 저장하고, 기준 이미지를 만들어 두고, 세 번 고쳐서 안 되면 새로 시작하는 것. 이 셋입니다.</a:t>
            </a:r>
          </a:p>
          <a:p xmlns:a="http://schemas.openxmlformats.org/drawingml/2006/main">
            <a:r>
              <a:t>마지막으로 한 가지만 당부드리겠습니다. 완벽한 결과물을 만들려고 하지 마십시오. 쓸 수 있는 결과물을 완주하는 것이 먼저입니다.</a:t>
            </a:r>
          </a:p>
          <a:p xmlns:a="http://schemas.openxmlformats.org/drawingml/2006/main">
            <a:r>
              <a:t>얼굴이 살짝 달라진 것보다 이야기가 지루한 게 훨씬 큰 문제라는 것 — 이 말씀을 기억해 주시면 좋겠습니다. 고맙습니다.</a:t>
            </a:r>
          </a:p>
          <a:p xmlns:a="http://schemas.openxmlformats.org/drawingml/2006/main">
            <a:r>
              <a:t>[▶ 웹가이드] 마무리로 게시판을 열어 오늘 올라온 카드뉴스와 영상을 함께 봅니다. 서로의 스타일 블록을 구경하는 것이 최고의 복습입니다.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49eb9cc7184b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85108aacd624322" /><Relationship Type="http://schemas.openxmlformats.org/officeDocument/2006/relationships/slideLayout" Target="/ppt/slideLayouts/slideLayout1.xml" Id="R4eac7460c148439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ac7460c148439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5343626cc46d2" /><Relationship Type="http://schemas.openxmlformats.org/officeDocument/2006/relationships/notesSlide" Target="/ppt/notesSlides/notesSlide1.xml" Id="R206ce202133a476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17eb5320654061" /><Relationship Type="http://schemas.openxmlformats.org/officeDocument/2006/relationships/notesSlide" Target="/ppt/notesSlides/notesSlide2.xml" Id="R5e74fcbb0364496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894eb1677747d5" /><Relationship Type="http://schemas.openxmlformats.org/officeDocument/2006/relationships/notesSlide" Target="/ppt/notesSlides/notesSlide3.xml" Id="Rc2f8b2ddca0443c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bb8872d09d43c5" /><Relationship Type="http://schemas.openxmlformats.org/officeDocument/2006/relationships/notesSlide" Target="/ppt/notesSlides/notesSlide4.xml" Id="Rbf363f4d14cf466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59db54bc39401a" /><Relationship Type="http://schemas.openxmlformats.org/officeDocument/2006/relationships/notesSlide" Target="/ppt/notesSlides/notesSlide5.xml" Id="R703985c9c6ea43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22515a7c241cb" /><Relationship Type="http://schemas.openxmlformats.org/officeDocument/2006/relationships/notesSlide" Target="/ppt/notesSlides/notesSlide6.xml" Id="Rf049a47570ba45d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a263a8d964902" /><Relationship Type="http://schemas.openxmlformats.org/officeDocument/2006/relationships/notesSlide" Target="/ppt/notesSlides/notesSlide7.xml" Id="R85d2b68e84d94e0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63d9b5787b4ae9" /><Relationship Type="http://schemas.openxmlformats.org/officeDocument/2006/relationships/image" Target="/ppt/media/image.png" Id="R7be9571fe36245e3" /><Relationship Type="http://schemas.openxmlformats.org/officeDocument/2006/relationships/notesSlide" Target="/ppt/notesSlides/notesSlide8.xml" Id="Rfb8732b6473e44c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91782248d4c7e" /><Relationship Type="http://schemas.openxmlformats.org/officeDocument/2006/relationships/notesSlide" Target="/ppt/notesSlides/notesSlide9.xml" Id="Rdc7acba4e0cc461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52926c48564773" /><Relationship Type="http://schemas.openxmlformats.org/officeDocument/2006/relationships/notesSlide" Target="/ppt/notesSlides/notesSlide10.xml" Id="R0d81c1a23eee448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0d8c8cdd9642f8" /><Relationship Type="http://schemas.openxmlformats.org/officeDocument/2006/relationships/notesSlide" Target="/ppt/notesSlides/notesSlide11.xml" Id="Rc4c23b632a404dc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5ceeaa83e4d93" /><Relationship Type="http://schemas.openxmlformats.org/officeDocument/2006/relationships/notesSlide" Target="/ppt/notesSlides/notesSlide12.xml" Id="R71c474ba00b7438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ab8166fc545d0" /><Relationship Type="http://schemas.openxmlformats.org/officeDocument/2006/relationships/notesSlide" Target="/ppt/notesSlides/notesSlide13.xml" Id="R273baf34d2c34a5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a920ecbeae4963" /><Relationship Type="http://schemas.openxmlformats.org/officeDocument/2006/relationships/notesSlide" Target="/ppt/notesSlides/notesSlide14.xml" Id="R1700fb3002a2482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e83aa265c419b" /><Relationship Type="http://schemas.openxmlformats.org/officeDocument/2006/relationships/notesSlide" Target="/ppt/notesSlides/notesSlide15.xml" Id="Racba450e34394b3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08197d95154765" /><Relationship Type="http://schemas.openxmlformats.org/officeDocument/2006/relationships/notesSlide" Target="/ppt/notesSlides/notesSlide16.xml" Id="R0a1e6733b0984de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348c6e12ea4732" /><Relationship Type="http://schemas.openxmlformats.org/officeDocument/2006/relationships/notesSlide" Target="/ppt/notesSlides/notesSlide17.xml" Id="Ra0ec1469d2df46f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8e348278140b3" /><Relationship Type="http://schemas.openxmlformats.org/officeDocument/2006/relationships/notesSlide" Target="/ppt/notesSlides/notesSlide18.xml" Id="Rdd8a05b5ea664eb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dd1fc11403410e" /><Relationship Type="http://schemas.openxmlformats.org/officeDocument/2006/relationships/notesSlide" Target="/ppt/notesSlides/notesSlide19.xml" Id="Rd49d4752c64945f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6eeeb1404b46fa" /><Relationship Type="http://schemas.openxmlformats.org/officeDocument/2006/relationships/notesSlide" Target="/ppt/notesSlides/notesSlide20.xml" Id="R5e8414858d3543e0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e32d7286b4125" /><Relationship Type="http://schemas.openxmlformats.org/officeDocument/2006/relationships/notesSlide" Target="/ppt/notesSlides/notesSlide21.xml" Id="Rea2d6f6cd51d4f43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0f65e887f44883" /><Relationship Type="http://schemas.openxmlformats.org/officeDocument/2006/relationships/notesSlide" Target="/ppt/notesSlides/notesSlide22.xml" Id="Re23fe52242ad4cf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a8aae05744d4c" /><Relationship Type="http://schemas.openxmlformats.org/officeDocument/2006/relationships/notesSlide" Target="/ppt/notesSlides/notesSlide23.xml" Id="Rc21434f6912e4d1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82d64fcc694fb9" /><Relationship Type="http://schemas.openxmlformats.org/officeDocument/2006/relationships/notesSlide" Target="/ppt/notesSlides/notesSlide24.xml" Id="Ra1e3a2138a404ca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890fd8f4343dc" /><Relationship Type="http://schemas.openxmlformats.org/officeDocument/2006/relationships/notesSlide" Target="/ppt/notesSlides/notesSlide25.xml" Id="R49c6c7d433d142f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eafdb6d3004d81" /><Relationship Type="http://schemas.openxmlformats.org/officeDocument/2006/relationships/notesSlide" Target="/ppt/notesSlides/notesSlide26.xml" Id="Rc2eed02a785e480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8b44f8aedd4b22" /><Relationship Type="http://schemas.openxmlformats.org/officeDocument/2006/relationships/notesSlide" Target="/ppt/notesSlides/notesSlide27.xml" Id="Ree3940716512452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77d75f82244f2e" /><Relationship Type="http://schemas.openxmlformats.org/officeDocument/2006/relationships/notesSlide" Target="/ppt/notesSlides/notesSlide28.xml" Id="Ra1275a3454104b22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388a750ed040af" /><Relationship Type="http://schemas.openxmlformats.org/officeDocument/2006/relationships/notesSlide" Target="/ppt/notesSlides/notesSlide29.xml" Id="R20dc354e0f8e49ce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b948ef468045db" /><Relationship Type="http://schemas.openxmlformats.org/officeDocument/2006/relationships/notesSlide" Target="/ppt/notesSlides/notesSlide30.xml" Id="Rbff8ad423edf436d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d256545ec74838" /><Relationship Type="http://schemas.openxmlformats.org/officeDocument/2006/relationships/notesSlide" Target="/ppt/notesSlides/notesSlide31.xml" Id="R4aa43a4a48b54d7d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64b49e46844f8" /><Relationship Type="http://schemas.openxmlformats.org/officeDocument/2006/relationships/notesSlide" Target="/ppt/notesSlides/notesSlide32.xml" Id="R25010abc93e04e32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155acfac9b4229" /><Relationship Type="http://schemas.openxmlformats.org/officeDocument/2006/relationships/notesSlide" Target="/ppt/notesSlides/notesSlide33.xml" Id="R66927d6a75da45c8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e7c884fe514b98" /><Relationship Type="http://schemas.openxmlformats.org/officeDocument/2006/relationships/notesSlide" Target="/ppt/notesSlides/notesSlide34.xml" Id="R51ea03e1a600411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93192447754fc0" /><Relationship Type="http://schemas.openxmlformats.org/officeDocument/2006/relationships/notesSlide" Target="/ppt/notesSlides/notesSlide35.xml" Id="R0c12ab0e4e0e4b47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827abf70c34e95" /><Relationship Type="http://schemas.openxmlformats.org/officeDocument/2006/relationships/notesSlide" Target="/ppt/notesSlides/notesSlide36.xml" Id="R2746f16d8b8b4c1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dde7d28a024ca3" /><Relationship Type="http://schemas.openxmlformats.org/officeDocument/2006/relationships/notesSlide" Target="/ppt/notesSlides/notesSlide37.xml" Id="Refae3d1d07314d6f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f73ab4ff814a4f" /><Relationship Type="http://schemas.openxmlformats.org/officeDocument/2006/relationships/notesSlide" Target="/ppt/notesSlides/notesSlide38.xml" Id="R5b87d19a70094ced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df40bbeaef4ea0" /><Relationship Type="http://schemas.openxmlformats.org/officeDocument/2006/relationships/notesSlide" Target="/ppt/notesSlides/notesSlide39.xml" Id="R2431241f06604735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d51411b9a4d00" /><Relationship Type="http://schemas.openxmlformats.org/officeDocument/2006/relationships/notesSlide" Target="/ppt/notesSlides/notesSlide40.xml" Id="R58591a99311744b5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7fab8dcc184d6f" /><Relationship Type="http://schemas.openxmlformats.org/officeDocument/2006/relationships/notesSlide" Target="/ppt/notesSlides/notesSlide41.xml" Id="R5e05380978624f1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965311-571F-49B9-8618-83321354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660039-857A-4086-8945-A87B9680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905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01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3부 · 오후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3317F5-478F-4CF1-BF0E-89E4E62AE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6667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일관성이</a:t>
            </a:r>
          </a:p>
          <a:p xmlns:a="http://schemas.openxmlformats.org/drawingml/2006/main">
            <a:pPr algn="l">
              <a:lnSpc>
                <a:spcPct val="94000"/>
              </a:lnSpc>
              <a:buNone/>
              <a:def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435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전부입니다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DE38A9-0EA0-48CF-8491-1EBE47C3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647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0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이미지·영상 — 한 장은 누구나 만듭니다. 여덟 장을 같은 화풍으로 만드는 것이 실력입니다.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27E537-B7D5-4EBB-AB57-B4782EEEF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DF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5EAC1F-1C90-4320-922D-C0B7C187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647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프롬프트 5단계  |  스타일 고정  |  캐릭터 일관성  |  다중 참조  |  이미지→영상  |  이어 붙이기  |  표기·저작권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57A0726-17F5-4FE8-BB3A-9726D1DA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762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245E68-0AEC-46CD-8E38-0FFDB60F1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981700"/>
            <a:ext cx="590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2026. 8. 11.(화)  ·  춘천시교육지원청 교육전문직  ·  강사 김상백</a:t>
            </a:r>
          </a:p>
        </p:txBody>
      </p:sp>
    </p:spTree>
    <p:extLst>
      <p:ext uri="{BB962C8B-B14F-4D97-AF65-F5344CB8AC3E}">
        <p14:creationId xmlns:p14="http://schemas.microsoft.com/office/powerpoint/2010/main" val="2042921002"/>
      </p:ext>
    </p:extLst>
  </p:cSld>
  <p:transition spd="slow">
    <p:fade/>
  </p:transition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2ABCB3-D093-4E88-B83A-A930FECC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FF1F96-6A00-4B83-BE1B-93AD2B9AE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B75FD3-C261-4708-988F-3D2458F3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486E8F-D721-472F-A15C-23DEBE03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FCFD1-656A-4289-BDF9-5DEA0867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FOUNDATION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FF334-8D6C-4F7C-842E-516CEEA29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프롬프트는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다섯 단계로 씁니다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C7EB5C-3340-4E34-A5CC-FD2B240B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그중 첫 단계가 결과의 절반을 정합니다 — 「이 그림을 어디에 쓸 것인가」.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5C62B-FD09-48C8-96C6-649F5E91A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819537459"/>
      </p:ext>
    </p:extLst>
  </p:cSld>
  <p:transition spd="slow">
    <p:push dir="u"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3A5E948-0A1E-4ED0-92D1-2E7DAAD7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62AEEF-6B4B-4350-B920-BEBFFA6F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58596B-D468-4EE4-8C7A-328B50169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61DD8-D594-43C9-ABEC-DF075EDA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58876B-31D5-4940-937E-1B9C5FDA0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모델 지형도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597EBB-7FFA-4471-BFE5-01110B9BF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먼저 — 나노바나나는 하나의 모델이 아닙니다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378A2-D112-4FF9-ADD1-11AD8E454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A8350D-3168-47E1-BC8B-78881244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참조 이미지 종류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7F0B15-C1D3-4BD2-AF4E-AF74FE81D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8478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A2A9F1-EE98-4C56-A6B5-4890BADB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255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나노바나나 2 Lite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D6134B-9200-4F99-8BC4-EB484A480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8478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3E5D68-A164-4FEF-A475-4676D348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1943100"/>
            <a:ext cx="2552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나노바나나 2 (기본)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596BD0-3E5F-4174-9111-F7361142F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847850"/>
            <a:ext cx="2971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5B01B3-F40F-4CA8-85B7-DE1D80A00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43100"/>
            <a:ext cx="2743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나노바나나 Pro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21BE42-297B-43AC-B946-13FBA0479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193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C0435D-44E5-47A1-8C16-605A2116D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고충실도 사물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5B8B5D-28B0-49A4-9704-4280767C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4193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A7A430-1DB6-46C7-9623-5CE7699C1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505075"/>
            <a:ext cx="255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최대 14장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207D82-191A-4309-8A7A-F4DE71778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4193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F214B8-F24B-4F25-8B4F-531B6837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05075"/>
            <a:ext cx="255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최대 10장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8E4B59-9C00-443C-AF37-EFCC49FFC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19350"/>
            <a:ext cx="2971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AB019A-3633-4B31-9D7D-435E9ECCD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50507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최대 6장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2D6E7F-A9B5-4FBB-9571-62B7ADADC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908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BF627D-5AA2-4A41-BAF4-17F3D29BD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 (일관성 유지용)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034289-187F-49E2-B7BE-ACEF6E782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9908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AE09C9A-3B00-4AD2-82B2-D1FF08FAB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076575"/>
            <a:ext cx="255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❌ 없음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3A67F1-A559-47EF-BCB1-4CE9AB0D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9908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96B06FE-E5A1-481F-A6EA-18834A945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076575"/>
            <a:ext cx="255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최대 4장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5E4A5A0-540B-4B04-9D88-3714279F2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990850"/>
            <a:ext cx="2971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868CCB-9D1B-4AFA-9E98-C5950963F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7657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최대 5장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EF2C2C-2A6C-4467-BBA5-BBD091F51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62350"/>
            <a:ext cx="2667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7C46058-D4AA-4B50-8A53-0D8DDEE92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2438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스타일 레퍼런스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0A93E7-1499-4A99-8455-F73939CE8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5623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AA274C-09B5-4D69-80DF-F047195A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648075"/>
            <a:ext cx="255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❌ 없음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03EF9D-5BF7-47EE-8E7E-9BF7F3579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62350"/>
            <a:ext cx="27813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7F967FA-6BC8-4B12-97F9-B2189F4E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648075"/>
            <a:ext cx="2552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❌ 없음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C5BDE2A-AD1E-477F-96A3-F4BF69F95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562350"/>
            <a:ext cx="29718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56742A-C02E-4547-B3D9-114B34623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648075"/>
            <a:ext cx="2743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최대 3장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B16DD-98A2-4AA0-9BD4-B079E343E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005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8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스타일 참조 이미지가 무시되면 — 모델 탓입니다. 텍스트 스타일 블록으로 대체하십시오.</a:t>
            </a:r>
          </a:p>
        </p:txBody>
      </p:sp>
    </p:spTree>
    <p:extLst>
      <p:ext uri="{BB962C8B-B14F-4D97-AF65-F5344CB8AC3E}">
        <p14:creationId xmlns:p14="http://schemas.microsoft.com/office/powerpoint/2010/main" val="267217716"/>
      </p:ext>
    </p:extLst>
  </p:cSld>
  <p:transition spd="slow">
    <p:fade/>
  </p:transition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6C0270-8DC1-4536-A26E-955AEFFD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8F60CA-CF39-4F6B-A23D-01692CEB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C030ED-E5A8-4FFD-B923-70BEC2B3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7DFCE7-4610-43E2-A6BB-D458878C6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1A542F-6D24-4008-9971-B92C4AB8C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2026년 기준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B6B982-2414-4C9F-9275-2DF682672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⚠ 오개념 바로잡기 — "한글보다 영어가 낫다"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B8EB7A-A1C4-4DC8-858A-6D7D4DB47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AD4606-89A0-449B-9CA6-4B3898F0A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41A200-B512-4E42-B6F9-FEB6CCD9E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예전에는 맞는 말이었습니다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E7B2CD-472A-46F0-9D11-D34EBBF0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 나노바나나의 공식 최적 언어 목록: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FA88B4-ECA9-4262-8FFA-5DC933083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영어 · 스페인어(멕시코) · 일본어 · 중국어 · 힌디어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BBF68-739E-4245-9B69-2623CEF2C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한국어가 없었습니다.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07BD3E-CA41-4456-A99B-C5349CE4E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CFDABA-9544-4524-90DE-941364148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그래서 "영어로 써야 잘 나온다"는 통설이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B2DC56-0C80-48AD-B021-DB16EE49E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국내 커뮤니티에 굳어졌습니다.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BFDBCFA-C781-4C11-922E-4971DC7A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1A08C1-9F94-4D40-A0EF-1A50B2912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3A1C9E-2EDD-4274-BF8E-2A4DFA5C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지금은 근거가 약해졌습니다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02118B-6F22-46E6-A9A9-307E42A75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나노바나나 Pro부터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3008CD-1BC9-499A-9A0B-DC7022405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04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ko-KR 이 공식 최적 언어 목록에 포함됐습니다.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FE2A43-18B4-4B34-A7A1-B3784726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195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4B7F05-CDE1-4CD3-896E-B7F59B91F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프롬프트는 전부 한국어로 씁니다.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011FE5-C5AC-48D3-ACF7-50117460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8B9FC-D0D9-400D-A477-DFE6856B5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768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유일한 예외: 음악 생성의 스타일 태그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AA9BBD-CFA1-4D64-A816-32CC32E2A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959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(문장이 아니라 태그 목록이라 영어)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F9863AA-EA61-469A-B8A1-2880AE6E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B4164-A5CE-4BC4-8FFA-D36177592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한국어로 세 번 시도해도 안 되면 — 그때만 그 단어 하나를 영어로 바꿔 보십시오. 전체를 영어로 쓸 필요는 없습니다.</a:t>
            </a:r>
          </a:p>
        </p:txBody>
      </p:sp>
    </p:spTree>
    <p:extLst>
      <p:ext uri="{BB962C8B-B14F-4D97-AF65-F5344CB8AC3E}">
        <p14:creationId xmlns:p14="http://schemas.microsoft.com/office/powerpoint/2010/main" val="2086435390"/>
      </p:ext>
    </p:extLst>
  </p:cSld>
  <p:transition spd="slow">
    <p:fade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D6610C-6666-4216-BB31-7E9CE71CD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DCEEBC-C1EB-48F5-B376-88B56EED0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EC1D7-5683-478A-92A2-43A79644D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E93ADD-899B-4FF7-9BBC-371D1D2CF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4BA02E-4DFD-46F7-8A53-2F759F196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핵심 구조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A64469-E757-4BAF-BC3F-FEA8311D8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★ 프롬프트 5단계 — 「용도」를 맨 앞에 씁니다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7361A6-9215-4061-9267-60C6F950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B6F846-3F1D-407F-AD9F-940FEB4F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009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순서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9A09B-D93C-4D83-AD4A-1A0C4067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18478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B9C67-C833-4B9B-A106-16C03CB2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943100"/>
            <a:ext cx="2628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쓰나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EF7185-5797-4087-BF2D-78E415113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7105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176496-7EC4-4B61-BCC9-3C95E091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43100"/>
            <a:ext cx="68770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예 — 사업 홍보 카드뉴스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37F7ABF-6F6D-4D75-A610-B02CFF6D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384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A0FBE3D-76D0-4AFB-B3BE-AA3DF3F80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0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① 용도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F76794-5298-447F-943F-B638C8D4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4384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473A99-1206-46D9-9CB2-70781DE7C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241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 그림을 어디에 쓸 것인가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AD8B1D1-E099-45B5-A3B4-CFB7A73C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438400"/>
            <a:ext cx="7105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F9384F-B638-4445-B987-E9B6CA00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524125"/>
            <a:ext cx="687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교육지원청 사업 홍보 카드뉴스 1장, 인스타그램 게시용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CEDDCB-F71F-4485-9141-DDF8A3251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10782B-3B6B-4E14-B4EA-B69AE807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0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② 장면·배경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B55D9D4-A780-4444-A8E8-2145140F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0289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36CFD-8757-44A1-8075-70491BD88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1146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어디서, 언제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8CF298-D8E8-4131-8B7F-D115F5037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28950"/>
            <a:ext cx="7105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5FAE5F-12DB-47B6-9492-369E5E10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114675"/>
            <a:ext cx="687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창가에 햇살이 드는 교실, 늦은 오전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F2E44E-B5EE-4FC4-8BBA-224E18953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4D4CFD-2883-42AF-B1C4-482E97BB0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0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③ 주제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6F0C6BA-7AD7-4FF9-B5C3-1CAAEE683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36195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12B279-C4F1-4785-9533-40F493E55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7052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누가 · 무엇이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F49D14-8BA2-4543-9965-19A6E9DF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619500"/>
            <a:ext cx="7105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AE847E-AF96-4450-874F-AEA2A87DF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3705225"/>
            <a:ext cx="687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초등학생 두 명이 수학 문제를 함께 푸는 모습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80674A-D084-425B-B0DC-22EE18912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21005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B13C4F9-1C2B-4B27-87BE-EBBB9DB6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100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④ 핵심 디테일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59C2126-1805-4EBD-85F0-F97337C78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21005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3DBE5F2-B367-4930-8E9E-EDE012C2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29577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꼭 지켜야 할 것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28DBE37-215B-4523-BC90-1119478A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210050"/>
            <a:ext cx="7105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A06950-449B-44F2-AB51-F947CB2A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295775"/>
            <a:ext cx="687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인물은 하단 왼쪽, 오른쪽 상단은 글자 공간으로 비울 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2F854A3-69A9-45C8-9F9D-ED610C9C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00600"/>
            <a:ext cx="1238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13F15E6-DB38-4CF3-8724-B981ABAF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86325"/>
            <a:ext cx="1009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⑤ 제약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ADE50DE-F8DE-49AC-9BCE-0A207109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800600"/>
            <a:ext cx="2857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00B35CB-7C2F-4229-993E-BECCC96BC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4886325"/>
            <a:ext cx="2628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넣지 말 것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0B9AAAF-B3E1-4924-B296-6852BEABF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800600"/>
            <a:ext cx="71056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B3EC43E-88FB-4E93-9410-3D8AE5F0E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4886325"/>
            <a:ext cx="687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글자 없음, 워터마크 없음, 현대식 로고 없음</a:t>
            </a:r>
          </a:p>
        </p:txBody>
      </p:sp>
    </p:spTree>
    <p:extLst>
      <p:ext uri="{BB962C8B-B14F-4D97-AF65-F5344CB8AC3E}">
        <p14:creationId xmlns:p14="http://schemas.microsoft.com/office/powerpoint/2010/main" val="746386879"/>
      </p:ext>
    </p:extLst>
  </p:cSld>
  <p:transition spd="slow">
    <p:fade/>
  </p:transition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D6046A-245D-421A-9C20-A75FF8D52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553FCF-6CCA-4F0B-9438-05AD24874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01FFCE-F5F6-48F5-A460-DDE45C4B9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3A9433-5C4B-4B5B-A09F-E02315519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16DA2A-B9E4-4BF3-B0A8-8DB3A9A0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요청문 하나 차이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6C9894-11CE-4B74-8E3B-EB6EB7154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같은 소재, 다른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313785-CDBF-4666-8BCC-0954CC06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66900"/>
            <a:ext cx="5467350" cy="381000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B9A173-F182-4CF3-A92F-7288481D2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초보자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E649D5-07AE-4DD5-8290-648FDF506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"텀블러 예쁘게 그려 줘"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322B86-249E-4FD6-99B5-E08FDF48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099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541EA2-402B-44BC-8CF5-3EDA7BB8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052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· 매번 다른 스타일 — 복불복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F08803-5B4E-4B7A-8A1D-F389407AA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· 마음에 안 들어도 어디를 고칠지 모름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EA9B1F6-4EE4-469A-8A38-F47664FF0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· 결국 "다시"만 반복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E540CD-3B33-495E-BAAA-307A30F49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66900"/>
            <a:ext cx="5467350" cy="381000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3E677F-2992-4284-847F-84D5B605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실무자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BCE3C2-693C-4D2E-B3FB-34397390D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146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"이커머스 상세페이지 메인컷용.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12565F-ABB0-4D7C-BB12-E5033144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099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민트색 스테인리스 텀블러를 밝은 원목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59FAC0-C4A7-4110-90D7-2AAAEC1F3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052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테이블 위에, 아침 햇살이 왼쪽에서.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D6326D-5234-4DFD-920F-A798F70A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0005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제품 로고가 정면으로 선명하게.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33B12C-CA1D-46D1-BD25-B3130873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958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배경은 흐리게 처리."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0890C8-27F4-4E60-8EE8-84D3C9DB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991100"/>
            <a:ext cx="4914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→ 의도한 컷 + 수정 지시도 통함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5AD2F64-357B-4D7D-9F47-8208AB0B1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86450"/>
            <a:ext cx="11201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자세히 쓰는 진짜 이유 — 좋은 결과를 얻기 위해서만이 아니라, 무엇을 고쳐 달라고 할지 알기 위해서입니다.</a:t>
            </a:r>
          </a:p>
        </p:txBody>
      </p:sp>
    </p:spTree>
    <p:extLst>
      <p:ext uri="{BB962C8B-B14F-4D97-AF65-F5344CB8AC3E}">
        <p14:creationId xmlns:p14="http://schemas.microsoft.com/office/powerpoint/2010/main" val="1819308663"/>
      </p:ext>
    </p:extLst>
  </p:cSld>
  <p:transition spd="slow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B9E464-EBE0-4C7E-A46C-76C696BB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19E03F-F299-4973-B973-3B6F90F98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B83AD-6EA0-4974-96A5-F95B6D3D2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E2196C-F4F8-4CA0-AB09-7CEE8931A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312088-D8FA-4437-9748-9614EB4E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공식 근거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8644BA-47FE-4013-B60D-C3B31C78E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Google 공식 4대 원칙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B47F1E-E9FB-43DE-9323-A0DDDF0FF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7085F0-9DA7-42A9-A9FE-657BDE230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구체적으로 (Be specific) — 주체 · 조명 · 구도에 구체적 디테일을 준다.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66D0272-C13D-4A71-AFB6-B38C10F9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289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A3C3B0-037E-4B56-9F3E-5B9910C83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098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긍정형으로 (Use positive framing) — ❌ "차 없음"이 아니라 ✅ "텅 빈 거리"라고 쓴다.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56C926-95B5-4706-8305-950CAB443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337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86EC84-485A-4C9C-A5DB-DE40D9A3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147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카메라를 통제 (Control the camera) — "낮은 각도에서", "위에서 내려다보는" 같은 촬영 용어를 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897FD8-3D40-4491-8950-2F7A983C4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386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DB2B36-F20A-4A6E-B065-26AF81628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1955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대화하듯 다듬기 (Iterate) — 한 번에 완성하려 하지 말고 이어서 고쳐 나간다.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416BA7-F238-4F3E-B1FA-F588D498A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434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016FD9-1E43-4404-BA8D-28775C64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24400"/>
            <a:ext cx="10287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재질은 이름으로 — "정장 재킷"이 아니라 "네이비 트위드 재킷"이라고 쓴다.</a:t>
            </a:r>
          </a:p>
        </p:txBody>
      </p:sp>
    </p:spTree>
    <p:extLst>
      <p:ext uri="{BB962C8B-B14F-4D97-AF65-F5344CB8AC3E}">
        <p14:creationId xmlns:p14="http://schemas.microsoft.com/office/powerpoint/2010/main" val="208492440"/>
      </p:ext>
    </p:extLst>
  </p:cSld>
  <p:transition spd="slow">
    <p:fade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0FFCEB-D509-41C0-B05C-8AAFB9679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3182B-64F5-4DD5-BDEC-5956CEB1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5054B0-C75A-4EAB-B782-4DAC7914C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DD5A3D-788D-4542-81BA-DC20738F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0CEB3C-17E4-4D36-A268-ED1D20355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7625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요소 정리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e9571fe36245e3"/>
          <a:stretch xmlns:a="http://schemas.openxmlformats.org/drawingml/2006/main"/>
        </p:blipFill>
        <p:spPr>
          <a:xfrm xmlns:a="http://schemas.openxmlformats.org/drawingml/2006/main">
            <a:off x="1120245" y="742950"/>
            <a:ext cx="9951509" cy="5600700"/>
          </a:xfrm>
          <a:prstGeom xmlns:a="http://schemas.openxmlformats.org/drawingml/2006/main" prst="roundRect">
            <a:avLst>
              <a:gd name="adj" fmla="val 2041"/>
            </a:avLst>
          </a:prstGeom>
        </p:spPr>
      </p:pic>
    </p:spTree>
    <p:extLst>
      <p:ext uri="{BB962C8B-B14F-4D97-AF65-F5344CB8AC3E}">
        <p14:creationId xmlns:p14="http://schemas.microsoft.com/office/powerpoint/2010/main" val="28795331"/>
      </p:ext>
    </p:extLst>
  </p:cSld>
  <p:transition spd="slow">
    <p:fade/>
  </p:transition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1F4174-6D61-44D4-9DD3-FFD2DEE55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AFD7CC-04DE-42B7-90DF-B3E46729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A95AA3-D9B9-46A0-B80A-BFE8559FE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5C7F7E-3690-47FC-9244-3CF3D26AC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ABD337-EE50-48CA-BDDC-9B511E5E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AA060E-04C1-4E4D-A424-B89952CB0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카드뉴스 프롬프트 — 그대로 복사해 쓰십시오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0D3E0-665B-43BC-A270-8493EF8A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E283F2-06E6-4F8C-BC07-83AECD49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[용도] 교육지원청 사업 홍보 카드뉴스 1장 (인스타그램 게시용)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[비율] 4:5 세로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[스타일] 밝고 따뜻한 플랫 벡터 일러스트. 종이 질감 없이 깔끔한 면 처리.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최대 6색, 채도는 낮게.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[주체] 초등학생 두 명이 수학 문제를 함께 풀며 웃고 있는 모습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[배경] 창가에 햇살이 드는 교실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[행동] 서로 풀이를 설명하고 확인하는 장면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[구도] 인물은 하단 왼쪽, 오른쪽 상단에 텍스트 공간을 넓게 비워 둘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[텍스트] 다음 문구를 정확히 그대로 넣어 주세요.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- 큰 제목 : "수수춘천"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- 부제   : "수학이 으뜸인 춘천교육"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굵은 고딕체로 읽기 쉽게 배치해 주세요.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38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[제약] 워터마크·서명 넣지 말 것. 현대식 로고 넣지 말 것.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EE6AEFF-A403-4497-AED7-4F20BD0B8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960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한글이 깨지면 — Redo with Pro, 그래도 안 되면 글자 없이 만들고 파워포인트에서 얹으십시오.</a:t>
            </a:r>
          </a:p>
        </p:txBody>
      </p:sp>
    </p:spTree>
    <p:extLst>
      <p:ext uri="{BB962C8B-B14F-4D97-AF65-F5344CB8AC3E}">
        <p14:creationId xmlns:p14="http://schemas.microsoft.com/office/powerpoint/2010/main" val="549967193"/>
      </p:ext>
    </p:extLst>
  </p:cSld>
  <p:transition spd="slow">
    <p:fade/>
  </p:transition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FD57B9-2D7D-4E65-8FEE-A9AF86718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E1CA4F-B4E2-4D16-A6A2-C86185A8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F5E955-C25E-4857-B5E5-FE36978E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1576C2-1956-477B-9B69-D44682A1D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D705D5-4523-4669-9258-87127087C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CONSISTENCY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24CF8-4FD8-420F-ADD2-86F30081F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고정할 것과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바꿀 것을 나눕니다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5F9BDD-3C36-44AF-8DCF-6766F97C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그림체와 인물 서술은 복사·붙여넣기. 배경·행동·구도만 갈아끼웁니다.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D9F399-A74B-44DD-B0AC-CC3B8CCD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52731906"/>
      </p:ext>
    </p:extLst>
  </p:cSld>
  <p:transition spd="slow">
    <p:push dir="u"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1BF31FE-9DBF-44AA-A940-FE0EB92A4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5A957-0C4B-4AE5-A6B8-9A880696F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620C7E-0940-4DDB-B530-4B8564F66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819CA4-789F-49F5-8477-C8B1776CB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D7A20-FC67-4372-9620-EC8FEF2B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일관성의 원리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21596E-D278-4B8A-AAB9-4CB626D2E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다섯 요소를 둘로 나눕니다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F9AFC9-1D46-4493-A3B1-75C94B2F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B474BB-8E91-4699-B857-720151E30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136380-DC5C-411E-B14D-173B5A4B9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고정 — 한 글자도 바꾸지 않는다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D22721-FF45-44F2-89D9-1FDE0946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그림체 (Style)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87D9C-C6A5-4ED6-AA73-24EFED5E7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선·색·질감·조명·화면비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DDC695-F988-455B-9570-8DF90BC3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0AA459-5B10-43C2-90A7-E6CFFD5F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인물·피사체 (Subject)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F1234C-CCE2-47CB-9C71-215EC5155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얼굴·머리·옷·소품·인상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2E92BC-72AF-4BAD-8660-CF52F22A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401C04-3F0A-4910-A909-29448569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메모장에 저장해 두고 매 컷 복사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665169-487B-4858-91A9-9E8B0935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2558A02-EB2C-4D04-B18D-3DD8F95E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775FC1-B035-427A-95A2-CDE407C06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교체 — 컷마다 이것만 바꾼다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62F748-9336-4B09-A7F2-B42E4155A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배경 (Setting)  — 어디서, 언제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B66905D-0C68-4C0C-92A9-9978CF8C3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04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④ 행동 (Action)   — 무엇을 하는가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4857B9-0B25-4AF3-AFA3-A103486E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195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⑤ 구도 (Composition) — 어떻게 잡히는가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D9B98A-E414-4835-B72F-F8D601093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19E9379-8B5B-46C1-AEC6-3ABC0903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인물이 안 나오는 컷(풍경·사물)에서는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DC0D0E3-773B-4C38-BB57-10568DA7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768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인물 블록만 빼면 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926BCA-C300-496A-B161-990C2A8C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E0F9B7-DBC4-41BA-B8E1-B1033F5EF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이 한 문장이 스토리보드 일관성의 전부입니다 — "그림체와 인물은 복사, 배경·행동·구도만 교체."</a:t>
            </a:r>
          </a:p>
        </p:txBody>
      </p:sp>
    </p:spTree>
    <p:extLst>
      <p:ext uri="{BB962C8B-B14F-4D97-AF65-F5344CB8AC3E}">
        <p14:creationId xmlns:p14="http://schemas.microsoft.com/office/powerpoint/2010/main" val="1809663702"/>
      </p:ext>
    </p:extLst>
  </p:cSld>
  <p:transition spd="slow">
    <p:fade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B542F5-5EF3-4398-8A89-84A15B37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55217A-0951-41CB-82C7-CFF27C30B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5326F9-04BA-4A05-906D-94BF12402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EB0912-F24D-490E-AF71-3AB87EDE7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E50D26-79C1-4745-A348-DE6E5839D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메모장에 저장할 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DD707C-66F3-4956-B071-287DB2A2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스타일 블록 — 오늘 만들 가장 중요한 파일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0B624-B6C7-446A-AF3B-AAC0D5C80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036F25-49F1-407F-BBEB-5B56CD6A1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━━━━━ 스타일 고정 (컷이 바뀌어도 한 글자도 바꾸지 않는다) ━━━━━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 : 밝고 따뜻한 플랫 벡터 일러스트.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굵고 깔끔한 짙은 갈색 외곽선, 부드러운 2단계 그림자(그라데이션 없음).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색·빛  : 따뜻한 황토색·짙은 소나무 초록·차분한 벽돌 빨강 중심.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최대 6색, 채도 낮게. 빛은 화면 왼쪽 위에서 부드럽게.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질감   : 화면 전체에 은은한 종이 결.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   : 4:5 세로, 오른쪽 상단에 글자 여백.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  글자·워터마크·서명 넣지 말 것.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━━━━━ 스타일 고정 끝 ━━━━━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※ 위 내용은 예시입니다. 원하는 스타일을 한 번 정한 뒤,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메모장에 저장해 두고 매 컷 맨 앞에 붙여 넣습니다.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FB9B15-327C-4774-9356-9E96C0553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0960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매 컷 이 블록을 맨 앞에 붙이고, 그 아래에 배경·행동·구도만 바꿔 씁니다.</a:t>
            </a:r>
          </a:p>
        </p:txBody>
      </p:sp>
    </p:spTree>
    <p:extLst>
      <p:ext uri="{BB962C8B-B14F-4D97-AF65-F5344CB8AC3E}">
        <p14:creationId xmlns:p14="http://schemas.microsoft.com/office/powerpoint/2010/main" val="1669427024"/>
      </p:ext>
    </p:extLst>
  </p:cSld>
  <p:transition spd="slow">
    <p:fade/>
  </p:transition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8519D-32E9-41D3-B03B-BD3AF47EE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8DA74C-D94E-44C7-8A8A-AAE562E7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FB905E-29B4-4755-A0AD-B1A3858D5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664D8B-1F6B-468B-8D35-AE1F63025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872800-4436-45AF-833F-D6A7A3C8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핵심 5원칙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3406EC-DB98-440E-8359-6E403FDF9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캐릭터 일관성 5원칙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CA2C7-8AE3-4FE2-9167-F03C13C6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6C6238-8747-4673-8CAB-DA917D2DE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이름을 붙인다 — "그 아이"가 아니라 "덕쇠". 고유명사가 없으면 매번 다른 사람이 됩니다.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2D63EE-999A-46F0-B33B-BBF6E09A4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65A4CF-1459-4CB6-B046-B9A58BE9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717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같은 인물을 매번 다른 말로 묘사하지 않는다 — 인물 블록을 한 글자도 안 바꾸고 복사합니다.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53AB49-9D1C-4F22-B0C7-F2886C6C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5982DA-FFB7-4BD1-B8F4-4E044CD71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385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기준 이미지(캐릭터 시트)를 먼저 만든다 — 이후 모든 컷이 이 한 장을 참조합니다.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C7BAB-67F0-49D8-868F-CF61E1C1E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050107-8301-4CBC-A990-57490F162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052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한 장면을 고칠 땐 이어서, 다음 장면은 기준 그림부터 — 일관성은 대화 기억이 아니라 기준 그림이 지킵니다.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3A5BDD-338F-4EEF-A85F-681E7ACD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F3D299-B760-4BD4-9BF1-F848C52A1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⑤ 부분 수정 시 "나머지는 그대로"를 반드시 붙인다 — 이 문장이 빠지면 전체를 다시 그립니다.</a:t>
            </a:r>
          </a:p>
        </p:txBody>
      </p:sp>
    </p:spTree>
    <p:extLst>
      <p:ext uri="{BB962C8B-B14F-4D97-AF65-F5344CB8AC3E}">
        <p14:creationId xmlns:p14="http://schemas.microsoft.com/office/powerpoint/2010/main" val="1618490319"/>
      </p:ext>
    </p:extLst>
  </p:cSld>
  <p:transition spd="slow">
    <p:fade/>
  </p:transition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91541E-6B53-45E9-A660-E97E73F47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8EC33F-DD66-47C3-A7D2-1DD0E401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BA6CE1-2166-4402-802B-8C78EDB3C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BB0D1D-38AB-4B52-A02A-12322E8A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FC5039-B1BD-427D-ADFC-0CC9D4DDA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기준 이미지 조건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096018-142C-440D-8F37-AD81AA0A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기준 이미지가 갖춰야 할 네 가지 조건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8FD85-7EE8-483C-8936-FB4B114B4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810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DF1734-8F80-4D05-A06D-690D005EA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581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조건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F7FB9-E802-4792-985E-3B420353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847850"/>
            <a:ext cx="6438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BA5114-8460-4F91-98FC-7208D839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943100"/>
            <a:ext cx="6210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왜 필요한가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8CFCE-481C-402B-8214-465B7E310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76500"/>
            <a:ext cx="3810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8D2AE-9539-4EFB-95B9-FCC69B6E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62225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전신 (머리부터 발끝까지)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EFA84B-64EB-421B-8245-B68261EBD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76500"/>
            <a:ext cx="6438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C6B6C9-55EB-40BF-B790-453DC03E1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62225"/>
            <a:ext cx="6210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이후 다양한 포즈·장면에서 전체 비율을 참조할 수 있음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E92388-CA31-4A4D-9981-08D8455F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105150"/>
            <a:ext cx="3810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9B39A3-F65F-4565-AA7D-5ACE17F13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정면 응시, 중립적인 서 있는 포즈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467EAE-455B-4E99-94C3-B3CC9C490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05150"/>
            <a:ext cx="6438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5BF76E-704E-4565-9793-F997FBA6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190875"/>
            <a:ext cx="6210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AI가 기본 외형을 가장 명확하게 파악함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066F39-EEC6-4307-966A-B03691AE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733800"/>
            <a:ext cx="3810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214C20-E1E9-4E2C-A77B-A22A8782E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흰색 또는 단색 배경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ADB4CF-C163-41FE-A8B5-4FA4B760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733800"/>
            <a:ext cx="6438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2BEF0B-DCBA-4C07-B392-E68544FFF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19525"/>
            <a:ext cx="6210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실루엣이 명확해야 이후 장면에서 정확히 인식됨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EA3A53-3217-47A6-A481-B5289EA0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62450"/>
            <a:ext cx="38100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3607DE-31C6-4960-88D5-7B5ACFFB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48175"/>
            <a:ext cx="358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중립적인 표정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62321C-1AFB-4520-900C-C01BEEFE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362450"/>
            <a:ext cx="64389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51F58B-5852-4E55-8F87-BFB63D450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448175"/>
            <a:ext cx="62103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이후 장면에서 다양한 감정으로 변형하기 쉬움</a:t>
            </a:r>
          </a:p>
        </p:txBody>
      </p:sp>
    </p:spTree>
    <p:extLst>
      <p:ext uri="{BB962C8B-B14F-4D97-AF65-F5344CB8AC3E}">
        <p14:creationId xmlns:p14="http://schemas.microsoft.com/office/powerpoint/2010/main" val="214062366"/>
      </p:ext>
    </p:extLst>
  </p:cSld>
  <p:transition spd="slow">
    <p:fade/>
  </p:transition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4543F7-62E6-4765-B216-47DE07D41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AC2C12-4223-45F9-A081-466CDD76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173730-4DC3-4CC1-B0D6-829A9990F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7088E1-55C9-4912-A96D-58DD6910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0AC991-9FF2-4312-8E03-DC2B34B9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실전 절차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5C4918-A960-40E6-8860-5136D1F56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기준 이미지 만들기 — 후보 그리드로 좁혀 갑니다 (3단계)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EB2873-5C18-41F4-9D03-EED73596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11D59F-B663-49F0-95A2-B291AC5AF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1단계 · 후보 6개를 한 번에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첨부한 스타일 기준 이미지의 그림체로,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이름] 캐릭터 기준 이미지를 만들어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서로 확연히 다른 후보 6개로, 2x3 그리드로 보여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전신이 다 보이게, 정면을 보고 선 중립 포즈로, 흰 배경에 중립 표정으로.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각 칸 위쪽 모서리에 1~6 번호를 작게 붙여 줘. 번호는 몸에 겹치지 않게.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2단계 · 하나 고른 뒤 더 좁히기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이름] 후보 중 3번이 마음에 들어.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3번을 기준으로, 같은 캐릭터를 유지하면서 세부만 조금씩 다른 후보 3개를 만들어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(얼굴·체형·의상은 그대로, 디테일만 변형)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3단계 · 번호 없는 단일 고화질로 확정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[고른 칸을 잘라 첨부]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이 캐릭터를 번호·라벨 없이 단일 고화질 이미지로 다시 그려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전신, 정면, 중립 포즈, 흰 배경, 중립 표정.</a:t>
            </a:r>
          </a:p>
        </p:txBody>
      </p:sp>
    </p:spTree>
    <p:extLst>
      <p:ext uri="{BB962C8B-B14F-4D97-AF65-F5344CB8AC3E}">
        <p14:creationId xmlns:p14="http://schemas.microsoft.com/office/powerpoint/2010/main" val="2086725664"/>
      </p:ext>
    </p:extLst>
  </p:cSld>
  <p:transition spd="slow">
    <p:fade/>
  </p:transition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040DB2F-3870-4AB2-98EF-CDEFC99C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4D4469-BEEC-4201-9639-65A5D359B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767CA4-7DB2-4E86-800B-149AC29F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F52565-9C3F-49C7-A826-555163CD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17259E-8277-434E-B3E9-3BE897044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고칠 때 지킬 것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E0D294-DAD6-4D3D-85F1-B3E31DA9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부분 수정 5원칙 + ★ 3회 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A3CD11C-8007-4CC6-A0E8-4813CCB2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5E9A64-F1B6-4F62-A726-31F1467AD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DE25C1-E46C-42FD-9DB1-1C7220317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수정의 5원칙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91B6F9-FFAD-450D-951B-B579E6C5D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"X만 바꾸고 나머지는 전부 유지해"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1C323D-F6CB-4B8F-BFEE-1B1CCA81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이 문장이 빠지면 전체를 다시 그립니다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1EB3E5-B7DD-453C-AA3C-29F901391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유지 목록을 매번 다시 씁니다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BB428-D8EB-4389-8968-F9EDA1BF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"앞서 말했듯이"는 통하지 않습니다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B15F90-B839-40B6-A023-8EA532C2F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한 번에 하나만 — 옷·배경·표정을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662C99-0D46-46DE-8E7D-AF0D35249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동시에 바꾸면 거의 항상 망가집니다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8E2480-24F8-4BB8-B64B-E79AFF74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수정 뒤 반드시 전체를 원본과 비교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066080-2265-44F4-8399-A5402E03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⑤ 막히면 마지막으로 좋았던 버전으로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2A5CFC-B988-4E69-8527-8DCCF64F2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0280A7-2452-4F40-ACEB-36DD997EF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CA902-9AC1-4EE3-BA34-327C6D482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★ 3회 룰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5E75CFC-B9FD-4267-BAAB-B8C091ED3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한 대화 안에서 세 번째 수정에 이르면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C41CD-78E9-4D3A-ADBB-7E06325D3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프롬프트 준수도와 색·조명이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86230F-9407-4FA9-8676-FBF3DC870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오히려 나빠지는 경향이 있습니다.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5C79B7-C11D-4CE9-81A4-206FDAADA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5E459D-8678-4C4D-B885-7081D2330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세 번 고쳤는데도 안 되면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2B87EF0-8F40-4096-A40B-B63F61D3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더 고치지 말고,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47D503-6619-479F-A7E9-E3BD6C8AF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가장 잘 나온 결과물과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B7700B-1725-4893-A16B-D4D3C621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다듬은 설명을 들고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C4AC573-73F5-44CD-AAB5-92561A8B0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새 대화를 여십시오.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416310-B82B-4E6C-B68E-BE5800E51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ED1E53-7E15-435C-AB4F-F8696D8C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세 번 고쳐서 안 되면 프롬프트를 더 붙이지 말고, 접근을 바꾸거나 새 대화를 여십시오.</a:t>
            </a:r>
          </a:p>
        </p:txBody>
      </p:sp>
    </p:spTree>
    <p:extLst>
      <p:ext uri="{BB962C8B-B14F-4D97-AF65-F5344CB8AC3E}">
        <p14:creationId xmlns:p14="http://schemas.microsoft.com/office/powerpoint/2010/main" val="1752607230"/>
      </p:ext>
    </p:extLst>
  </p:cSld>
  <p:transition spd="slow">
    <p:fade/>
  </p:transition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CA01EBBC-48F6-4784-9A8D-2A28D823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36B083-D678-4212-B3AD-73C0407C9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A99712-1572-4A22-8519-8FA26742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1E79C-F44C-4946-8409-5AFEC4180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05F912-1153-43F0-9C35-7BC1FDB1F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막혔을 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82B0BE-02F4-411B-B665-8453131B0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실패 증상별 처방전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4315D5-A61B-432F-BF7A-6FD1EBEC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C3EC82-F71F-42CB-A66A-85357032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3009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증상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84F603-02F6-451A-8EB0-4904C73C7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8478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33CE08-4425-4F35-B128-AA33C086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1943100"/>
            <a:ext cx="2819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원인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8230AD-F8A3-4F7B-9E03-50A7F685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184785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225B0E-0154-45A5-844E-F88F618E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943100"/>
            <a:ext cx="3733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처방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F90D207-DEE8-45BD-81AE-3E7AFA836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622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95E7CB-BE61-4DA5-8083-4A5864AE3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장면마다 얼굴이 조금씩 달라진다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C6F219-AA20-4C41-BC5D-92B2A2FF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622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F22EC6-97EE-4DED-804F-D637F1C32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4479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매 턴 새로 생성되며 오차 누적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C24303-4655-4840-B581-996B183B4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36220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FBB4A4E-ED8E-4951-91F2-4328C044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44792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 시트 재첨부 + 컷 단위로 대화 끊기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00F9005-F2ED-4247-A0D1-8E77265A2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765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EFC4BF-2415-4464-AC39-CEB0BFFCD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캐릭터가 아예 다른 사람이 됐다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8BAFFF-D28D-4EF7-A6DF-1B89483D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8765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955E2B4-57E4-4AFC-9765-68D2426F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96227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참조 이미지와 텍스트가 연결 안 됨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AFC670-9EAD-4C09-A336-226D5509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87655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0B41426-6403-47C8-912F-030B852E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6227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고유 이름 부여. "그 아이"라고 쓰지 말 것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E1B3FA-83E3-4CB6-A84D-A9AA2E705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006AC-A315-472A-8204-9E5446733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옷·소품이 계속 바뀐다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8FB238-8B52-4F2F-B805-7CBD70240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3909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81AC80-2E66-4153-9B71-19B0E745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4766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서술이 장면마다 미묘하게 달라짐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2642253-FB8C-4FB1-B66D-CCEE24CA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39090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CFB236D-1F8D-4F37-B08D-B2648DEA6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47662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 블록을 한 글자도 안 바꾸고 복붙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B6DB1B-626E-4682-A2B3-E7A13DFD4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8F229F-2023-4B4A-A930-E8538E660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편집했더니 배경까지 바뀐다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453BEE0-C0ED-45CF-BD46-EC51D311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9052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2D3D323-04FF-4E0A-9F1B-DA8C6CC26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99097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유지 대상을 안 적음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6BBD7C-859D-4C80-9C37-72B614A4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90525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4685DCC-AD6A-41D7-84B8-83A4D809B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99097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"나머지는 전부 그대로"를 항상 붙이기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06BE146-AF55-4B03-B6A2-1F6A037DF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196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14F5948-5200-486B-9F94-7503C82A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이미지가 아니라 글로 답한다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548743E-C5B4-4102-936C-C3403842F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4196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55547A6-D92D-4B7F-B24F-6DA47C07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5053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프롬프트가 모호함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05ACE05-74A6-4278-8744-4ED0D038C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41960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1343411-F041-44E1-A78F-8119F395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50532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"~ 이미지를 만들어 줘"로 시작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46BD46-16A7-488E-9E07-F3DAA8FC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3395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F32E89B-E550-42DB-81EF-21FCA16EC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요청한 개수만큼 안 나온다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4391D4A-EA5A-4EBE-A7BE-FC5BD5EC7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93395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C767A2D-E693-4F11-A80E-D1DF3B014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01967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모델 특성 (공식 명시)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466B970-0F6A-4467-9DBC-C08F8BB6B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93395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3EB6813-0042-47A0-9B1A-9600F448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01967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여러 장 요구하지 말고 한 장씩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2ABBB34-2A01-49AB-8D4F-3AA6E7627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3238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0BA542F-FEE7-4C77-9094-E49E32760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3009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스타일 참조 이미지가 무시된다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00C132E-ECF1-49C5-9C0C-847A40CE3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448300"/>
            <a:ext cx="3048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D1638A3-A805-4FFE-B1DA-44496DA75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5534025"/>
            <a:ext cx="2819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기본 모델에 스타일 슬롯이 없음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9A7DB7-D2A4-4172-ABB5-DAB00D14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448300"/>
            <a:ext cx="39624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A8C470E-D50B-4212-987B-4F06F1D91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5534025"/>
            <a:ext cx="373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Pro로 전환하거나 텍스트 스타일 블록으로 대체</a:t>
            </a:r>
          </a:p>
        </p:txBody>
      </p:sp>
    </p:spTree>
    <p:extLst>
      <p:ext uri="{BB962C8B-B14F-4D97-AF65-F5344CB8AC3E}">
        <p14:creationId xmlns:p14="http://schemas.microsoft.com/office/powerpoint/2010/main" val="2138763662"/>
      </p:ext>
    </p:extLst>
  </p:cSld>
  <p:transition spd="slow">
    <p:fade/>
  </p:transition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CFCDC3-0ED1-42E0-92E8-CD9B4248A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A1AC69-82A9-40C0-B9AA-6ABE27D59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349C019-5239-4D1A-A078-98D5972AB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D70806-F31A-49EC-BF50-78F2C4245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28BBE7-44A5-46EE-A17B-AA8E1D8A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CB2CE-AA9D-450C-BCC3-4CA4F1358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다중 이미지 참조 — 라벨을 붙여야 섞이지 않습니다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A2A8E0-6A10-409C-B697-3CBFB5E2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B99219-36E3-42DB-8A2E-B96D45495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패턴 A · 역할 라벨 (가장 안전)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첫 번째 이미지는 [인물 기준]이야.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두 번째 이미지는 [그림체 기준]이야.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세 번째 이미지는 [장소 기준]이야.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[인물 기준]의 인물이 [장소 기준]의 건물 앞에 서 있는 새 이미지를 만들어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[그림체 기준]을 그대로 따라 줘.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패턴 B · 고유명사 라벨 (여러 컷을 만들 때 최적)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[1번 이미지] = 지우 (인물)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[2번 이미지] = 민호 (인물)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[3번 이미지] = 교실 (장소)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[4번 이미지] = 그림체 기준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컷 5 : 오후 햇살이 드는 교실에서 지우와 민호가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     함께 문제를 풀며 서로를 바라본다.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지우와 민호는 각자의 기준 이미지와 똑같이 유지해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그림체는 [그림체 기준]을 그대로 따라 줘.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가슴 위가 보이는 크기, 눈높이 각도, 4:5.</a:t>
            </a:r>
          </a:p>
        </p:txBody>
      </p:sp>
    </p:spTree>
    <p:extLst>
      <p:ext uri="{BB962C8B-B14F-4D97-AF65-F5344CB8AC3E}">
        <p14:creationId xmlns:p14="http://schemas.microsoft.com/office/powerpoint/2010/main" val="1460295295"/>
      </p:ext>
    </p:extLst>
  </p:cSld>
  <p:transition spd="slow">
    <p:fade/>
  </p:transition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AA7F31-40E5-4099-9099-406F17A58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1F39AA-A9CE-42D6-B1CA-831BC12FB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EA0D2C-0E31-4462-9336-EEF39692E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19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9F1CD-1F24-43AC-9E51-66DD5960E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B4DED-5565-43D4-897B-5940B371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참조 이미지 배분 전략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9B45BF-9920-4D95-8ED0-A2A5ADB8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"많이 넣을수록 좋다"는 착각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68DB6-8604-4A87-94C3-D7C68B5FD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27FF5C-AE1E-4916-9B7C-4AAFF65C0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E4B44C-FC29-4862-BB5B-8B454466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상황별 권장 장수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119D98-7A8E-45E1-8A70-2BB8E247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1인 스토리보드 8컷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58B51B-BC70-4850-92D6-2F3A2B88E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캐릭터 1~2장 + 스타일 1장 + 소품 0~2장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03620F-573F-4B5B-94F7-C7011779F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= 총 3~5장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188B8-37C2-4CA8-98C1-01ABA942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AFDD80-DAD2-4113-8306-E353B674A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2인 대화 장면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6AA88E-C9A9-4B29-AFFC-165E3EFA2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캐릭터 2장 + 스타일 1장 = 총 3장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E3F0BC-CA24-4427-8398-79B5B1D7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137753E-8A11-4736-8628-8A3F89139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지역 배경 시리즈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977EAE-D179-42BB-A6D6-8E8CBAF6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스타일 1장 + 실제 장소 사진 2~3장 = 총 3~4장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CC348FF-15A2-4FA8-8849-49D433858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0E2D5-FAF4-4DE4-A025-8405E953D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D86492-D615-40DB-A70A-93F297F9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핵심 원칙 3가지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43D56D-241E-42D0-A25C-CCD7308F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① 꼭 지켜야 할 것만 넣는다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FB13FD-ED5B-44B8-9985-EA9D06028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캐릭터 얼굴 + 스타일. 나머지는 텍스트로.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A0F3980-03FA-43E8-BC81-539F2B75E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170AAA-B0BB-4533-9441-C809EA4DE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② 참조를 늘리기 전에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2931DA-D2AD-411C-8B5E-D9830D6C5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텍스트 서술을 먼저 정밀하게 만든다.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BF13C4-C7E8-4D47-AE59-A60439EBD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1456C9-E8B6-4F70-B001-0AEA5B5C3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얼굴이 뭉개지면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AE02F0-5A81-4CCF-A02C-9D650496A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참조 이미지를 '얼굴이 화면 중앙에 크게,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95C158-E0F2-4EC1-819D-E0232AA3D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정면, 가려지지 않은' 것으로 교체.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AF9138A-691E-4406-B590-1AC4DDB03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AD34D2-DD7D-434A-B90C-6316190C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실제 춘천 장소 사진을 참조로 넣으면 지역성이 올라갑니다 — 단, 사람 얼굴이 나오지 않게.</a:t>
            </a:r>
          </a:p>
        </p:txBody>
      </p:sp>
    </p:spTree>
    <p:extLst>
      <p:ext uri="{BB962C8B-B14F-4D97-AF65-F5344CB8AC3E}">
        <p14:creationId xmlns:p14="http://schemas.microsoft.com/office/powerpoint/2010/main" val="1089268688"/>
      </p:ext>
    </p:extLst>
  </p:cSld>
  <p:transition spd="slow">
    <p:fade/>
  </p:transition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DFB4F3-902C-4618-8C24-34DCDDDF1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1D9375-8B18-4768-80E6-CB54E614F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B929B8-822B-4E14-B0A7-B5DCDF251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C6AFF-E471-48FE-9D2E-78F6BA4FF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71E4F5-A64B-42B4-810B-6FD8494C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실제 결과물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4DDE64-441A-4CB9-9B62-41181675A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실제 생성 결과 — 같은 화풍으로 이어지는 자료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1961ED-76DC-4CC2-A13B-DD7E8826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162050"/>
            <a:ext cx="55435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6E1ABB-4BE2-4D80-92A4-BA37A17D8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4781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실제 결과물 이미지 자리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3E2F7E-99EF-4292-BD3A-C55A6940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390900"/>
            <a:ext cx="4781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같은 스타일 블록으로 만든 카드뉴스 ①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※ 강사가 스타일 블록으로 직접 만든 샘플로 교체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13EA72-0D8F-48CC-BA47-65C0ED6B2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162050"/>
            <a:ext cx="55435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567C47-3F71-4395-BBF8-E4635F08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857500"/>
            <a:ext cx="47815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80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실제 결과물 이미지 자리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3A30DA-118B-4E6E-A998-642BD7EEE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390900"/>
            <a:ext cx="47815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35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같은 스타일 블록으로 만든 카드뉴스 ②</a:t>
            </a:r>
          </a:p>
          <a:p xmlns:a="http://schemas.openxmlformats.org/drawingml/2006/main">
            <a:pPr algn="ctr">
              <a:lnSpc>
                <a:spcPct val="135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※ 강사가 스타일 블록으로 직접 만든 샘플로 교체</a:t>
            </a:r>
          </a:p>
        </p:txBody>
      </p:sp>
    </p:spTree>
    <p:extLst>
      <p:ext uri="{BB962C8B-B14F-4D97-AF65-F5344CB8AC3E}">
        <p14:creationId xmlns:p14="http://schemas.microsoft.com/office/powerpoint/2010/main" val="1946802886"/>
      </p:ext>
    </p:extLst>
  </p:cSld>
  <p:transition spd="slow">
    <p:fade/>
  </p:transition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88A8A3-97EE-4BA1-A307-847B97079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B04956-28C5-4CD6-9A5E-7E87601E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40B32A-D993-4D3A-B7E5-58985ED06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E6131-513A-4A4B-A653-47A4FB492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209D14-E27B-44EF-94A3-B6092A7E7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BE75A-10E1-4399-9E26-9C22BA97F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8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8-A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3A133-6360-47FC-978D-120447388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7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30분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AE1753-6E45-42CA-9886-FD5BCC15E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76350"/>
            <a:ext cx="1120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사업 홍보 카드뉴스 3장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E5CCC3-C5DC-4312-BF2A-F6067A9DF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120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화풍이 일관된 카드뉴스 3장 만들기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9955C-6F39-4826-AA3D-28F256CE1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0"/>
            <a:ext cx="723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56B0DD-C66A-4EF3-BEE2-4F1FFF638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E05C99-497B-4E01-88B8-13266F383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담당 사업 하나를 고릅니다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A217DF-9095-4AA1-A240-0FA62FAD1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스타일 블록을 먼저 정해 메모장에 저장합니다 ← 이걸 건너뛰면 3장이 다 달라집니다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453CA0-A8C4-4219-A092-DE647422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1장을 만들고 결과를 확인합니다 (이게 스타일 기준 이미지가 됩니다)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99628A-8881-491B-AC9A-AEA57B7BD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같은 스타일 블록을 붙여 2·3장을 만듭니다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0B9C28-8BBB-4132-B2F6-1DE10AC1E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글자가 깨지면 Redo with Pro 또는 글자 분리 제작으로 해결합니다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014749-E77C-409A-9E09-08FBCE02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세 장을 나란히 놓고 화풍이 같은지 확인합니다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8F56F-3BD2-4736-A2D6-25DAB2F68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6957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C6B449-5229-43B6-9C08-BC56BF2F9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FA570B-FE01-4C39-867D-16016CFCE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19400"/>
            <a:ext cx="320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카드뉴스 3장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BF757E-2C2C-47AC-8D9A-7284044FA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76750"/>
            <a:ext cx="320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완성한 카드뉴스 3장을 실습 가이드 게시판에 '실습 8-A'로 올립니다.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8148E8E-A81F-4666-B354-B52968240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실습 가이드 웹페이지 → 「실습 결과 공유」 게시판</a:t>
            </a:r>
          </a:p>
        </p:txBody>
      </p:sp>
    </p:spTree>
    <p:extLst>
      <p:ext uri="{BB962C8B-B14F-4D97-AF65-F5344CB8AC3E}">
        <p14:creationId xmlns:p14="http://schemas.microsoft.com/office/powerpoint/2010/main" val="1230994170"/>
      </p:ext>
    </p:extLst>
  </p:cSld>
  <p:transition spd="slow">
    <p:fade/>
  </p:transition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50E0D-7C0B-463E-AEAB-0F20BEB6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8D64BD-F32B-42AF-AF90-D7666B1C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AD7C70-5257-4F5E-8494-666119BD4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8BCC79-E0D7-4136-98A8-844DF21F5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07F33D-45A3-42D9-BDD7-5EA5CB2C2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IMAGE → VIDEO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DC204D-9F55-4A62-9626-95B4900E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이미지를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영상으로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5A6C96-09B4-4FFA-8957-046B8AA0D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완성한 그림이 첫 프레임이 됩니다. 프롬프트에는 「움직임」만 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DC3EFD8-7F70-45AC-A1E4-718CB88F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31361093"/>
      </p:ext>
    </p:extLst>
  </p:cSld>
  <p:transition spd="slow">
    <p:push dir="u"/>
  </p:transition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7C83C69-50D1-4115-A355-A54599274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6550AD-F3D0-4179-AA26-D0685FBEB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566BBA-09B4-4AD4-8973-03A89F396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86795-67E1-4DC9-9A7C-049B794BD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61BF9E-0BD3-43A3-BFA7-77BC498B9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도구 정리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D3C6B8-9079-4AE6-9737-0A365940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도구 지형도 — 무엇을 어디서 만드나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AC5CC7-291F-499F-98A3-837FD6EC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C17D4A-8A7E-4728-AA2D-7B35B8DA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247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도구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1A2FFB-4541-49E1-B24E-B12DA0728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84785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1EE490-782D-4A10-8ABA-B60D38E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1943100"/>
            <a:ext cx="3962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무엇을 하나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8CF3B0-4DB6-4726-BC48-9FEEFC8D1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47850"/>
            <a:ext cx="3581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083A7C-1CD1-4F89-987C-72362F0F5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943100"/>
            <a:ext cx="335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오늘의 용도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CC3EB4-8745-4DE0-B8AD-0EB7AA76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003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91AFE2-A93F-491D-B79B-B5E4CBC12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86025"/>
            <a:ext cx="224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Gemini 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20482E-C049-438E-93AB-CFCB961EC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0030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8D0A7B-EB91-464C-B97F-5D6C400C0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86025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이미지 생성 · 짧은 영상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ACBA70-3992-4D66-B45F-236B53F1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400300"/>
            <a:ext cx="3581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DB21E0-C492-4B6D-9854-14EF8DADA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86025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카드뉴스 · 간단한 움직임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453B02-01CA-45C2-9C4C-1CB649607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527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3A4183-9F45-4588-BB0A-769913599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224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Google Flow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D45F02-C40B-42B7-9103-99B265FA2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5275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9F4FE4-B348-439F-88C0-EB7A6AAB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038475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본격 영상 생성 (Veo 3.1)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18B6BDB-1CA8-4DA1-9AB0-FD044AD82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952750"/>
            <a:ext cx="3581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0B2311-280A-41FE-BF99-ECCCFB0C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038475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키프레임 → 클립. 만 18세 이상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1A347-B332-4917-A4A8-0EC3BEAF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5052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B2D309-34DD-4FD7-A579-C0097F10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90925"/>
            <a:ext cx="224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· Frames to Video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0D0B6F-80F8-4C90-BE90-AEB198EC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50520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258572-64B5-4858-A85B-A61CE286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590925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시작 프레임을 지정해 영상 생성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D0DBD79-F6A0-41FB-A62E-92CAC81E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505200"/>
            <a:ext cx="3581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7779B8-4162-4A74-BA9D-74AEC8DE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590925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⭐ 오늘의 주력 기능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7EFCCB0-4C52-4056-BD43-3168C3924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05765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7C29892-03C2-42FC-8FB2-CCDE7E644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43375"/>
            <a:ext cx="224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· 에이전트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364F58-9695-4FC9-B32D-F2F9DEA9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05765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1FA31F1-4A92-45F3-8BD1-C0E51159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43375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말로 시키면 모델 선택까지 대신 실행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BEB57D-DD71-4ACC-9B1E-AEA5639BC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57650"/>
            <a:ext cx="3581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944211-E422-4878-B0EF-09CDEC74C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143375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앵커(기준 이미지)를 프로젝트에 등록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4A0A877-E5F3-4E7F-AE3A-D0BDD1A0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610100"/>
            <a:ext cx="24765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311D6A-93DA-46B2-99B8-2DB67363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2247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CapCut 등 편집기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780428-AA18-473B-9F47-D35DF690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610100"/>
            <a:ext cx="4191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33201F4-C8B8-4A98-A13B-98741CBE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695825"/>
            <a:ext cx="396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클립 조립 · 자막 · 소리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8ADF99-0161-4B5A-961D-A7E344D85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10100"/>
            <a:ext cx="35814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FA0368-7689-4CAC-8D53-79777F458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695825"/>
            <a:ext cx="335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최종 편집은 여기서</a:t>
            </a:r>
          </a:p>
        </p:txBody>
      </p:sp>
    </p:spTree>
    <p:extLst>
      <p:ext uri="{BB962C8B-B14F-4D97-AF65-F5344CB8AC3E}">
        <p14:creationId xmlns:p14="http://schemas.microsoft.com/office/powerpoint/2010/main" val="625685479"/>
      </p:ext>
    </p:extLst>
  </p:cSld>
  <p:transition spd="slow">
    <p:fade/>
  </p:transition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F4FD6AA-4662-4CCB-A8AD-3465D2E5B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4C932D-9F33-4F6A-95B2-584448F7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CA827-FC6E-47F3-BD2A-76F01F9D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F57C5F-BB1C-4136-9A88-D490A4132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603090-CABD-40AC-8D2C-ACAE82D3C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공식 근거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B4272E-9263-4DE0-9402-B6773E9A1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★ 이미지 → 영상 4대 원칙 (Google 공식)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B753FD-39F7-4647-80A4-89B50129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B64826-690B-4309-9473-146EBE72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050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좋은 소스 이미지 — 선명하고, 구도가 안정적이고, 인물이 너무 작지 않고, 배경이 복잡하지 않은 것.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67C857-ADD1-42E0-A780-CDF2B51A3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908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6F4E1-CC6F-41A6-9FFA-3E5A0D5B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717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★ 움직임만 쓴다 — 이미지에 이미 있는 인물·배경·조명을 다시 설명하지 않습니다.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F1448-7319-41E1-B0CA-2E70C304C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08E75E-E069-491B-A86E-5C1DAC08F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385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움직임을 3종류로 나눠 지시 — 카메라 / 인물 / 환경. 다만 한 번에 두 개까지만.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9070F3-6A59-4B51-8E3D-4EAA5F9DA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2430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49EC6B2-2389-4964-921E-84040B62C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0525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오디오는 별도 문장으로 — "배경음:" 처럼 줄을 나눠 씁니다.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C67E8E-0655-4A3A-92FC-F4681299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91050"/>
            <a:ext cx="247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6C8CD7-8AAB-4D85-BAF1-A92EFA7E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572000"/>
            <a:ext cx="10287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손이 애매하게 화면에 걸친 이미지는 왜곡됩니다. 크게 나오거나 아예 안 보이게 구도를 잡으십시오.</a:t>
            </a:r>
          </a:p>
        </p:txBody>
      </p:sp>
    </p:spTree>
    <p:extLst>
      <p:ext uri="{BB962C8B-B14F-4D97-AF65-F5344CB8AC3E}">
        <p14:creationId xmlns:p14="http://schemas.microsoft.com/office/powerpoint/2010/main" val="1838256046"/>
      </p:ext>
    </p:extLst>
  </p:cSld>
  <p:transition spd="slow">
    <p:fade/>
  </p:transition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DD887DA-C678-442C-844A-D4FC5454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C7E102-1CB9-4F31-96E0-81AB57C5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2699C-60CC-4A70-A790-A5ED5BA82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44D2DD-6CAF-4E76-9D8D-2F7C1BF0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51C818-0B83-45F2-ADC0-F8D12BE12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지도 원칙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FDDAD3-21A0-4F13-8592-9C0E20736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움직임 3종류 — 카메라 1개 + 피사체 1개까지만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3A9A0D-76FF-4047-B1BE-A3CF05CC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5F4022-B479-46DC-9900-0B122AA84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1104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종류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7529960-CD76-4E6E-B57A-9D6AEA6B4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8478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DE0D4A-BF75-415D-A71A-8A183B88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1943100"/>
            <a:ext cx="2914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무엇이 움직이나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71DA29-41E9-4B31-BE84-4915239EE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847850"/>
            <a:ext cx="4191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47EB10-323C-472A-89EB-20EFC72C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43100"/>
            <a:ext cx="39624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예시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BE371B-D0FA-4E37-B47D-96FD47E27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847850"/>
            <a:ext cx="1581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74E961-9084-4FE7-85A5-4C2976BEC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943100"/>
            <a:ext cx="13525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안정성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31289A-9F32-4F1A-A140-B7FB00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4384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6DAF6-A40B-471F-BFFF-66D707CC2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카메라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7BBC3D-9276-49B5-8CC3-7F7160FEF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24384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21A2D1-A56E-46F4-BB24-BFB9EF89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2524125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장면은 정지, 카메라만 이동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9A808F-3251-4A8D-A4A6-6F6A1BE92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438400"/>
            <a:ext cx="4191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6DEB1B-D6B9-49F0-B31F-FF595CA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24125"/>
            <a:ext cx="396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카메라가 인물에게 천천히 다가간다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042F9C-0289-4418-97B9-DBD98BF7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438400"/>
            <a:ext cx="1581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D1931D-FA6D-48D1-A0FE-3F7EC5FF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524125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45D37E4-3C7A-41FC-9C2C-5C5A44C1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02895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1BF021-5981-44CA-A2C1-DB6181E4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인물·사물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8755E39-17A5-42B2-A745-6D58A8AA6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0289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8960845-2697-467D-85A2-7794B67DC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114675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피사체가 움직임 (미묘한 동작에 최적)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7CB9CA4-0AFC-450F-9217-A20722080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028950"/>
            <a:ext cx="4191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B79FCAA-F731-4B22-8834-11CCC3E7C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114675"/>
            <a:ext cx="396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머리카락과 옷이 바람에 부드럽게 흔들린다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37A614-B066-4C04-AE00-0D68F5D19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28950"/>
            <a:ext cx="1581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B80B5AD-72BF-4D35-A5EA-EBD5FDA6C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14675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3E0E4C-9AA1-466A-8472-AF6336475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619500"/>
            <a:ext cx="1333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060A3EB-B479-4128-BA24-54111D09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환경·대기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9BDBB4F-0DEA-4F68-AA52-5A0E1CA63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6195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A2EC9E2-56BB-48CB-9B56-38A5CDA5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3705225"/>
            <a:ext cx="2914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배경이 살아남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392A2CC-B745-4B8B-8774-63FA59E76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619500"/>
            <a:ext cx="4191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CC7FCB-263E-4A88-8BE1-41F0AB42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705225"/>
            <a:ext cx="396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안개가 풍경을 가로질러 천천히 밀려온다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FA4D1E-8B45-4E3A-9FB7-008A7184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619500"/>
            <a:ext cx="1581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04C02E-2261-4344-A99A-153383872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705225"/>
            <a:ext cx="13525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★★★</a:t>
            </a:r>
          </a:p>
        </p:txBody>
      </p:sp>
    </p:spTree>
    <p:extLst>
      <p:ext uri="{BB962C8B-B14F-4D97-AF65-F5344CB8AC3E}">
        <p14:creationId xmlns:p14="http://schemas.microsoft.com/office/powerpoint/2010/main" val="1943651701"/>
      </p:ext>
    </p:extLst>
  </p:cSld>
  <p:transition spd="slow">
    <p:fade/>
  </p:transition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F8210F-012B-4261-9516-F4471823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E32FF9-324A-494D-BCA4-178590F9A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37EA1-1BCC-4EC8-8DDD-B0872E9A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5A14B-2A65-4299-A33B-062A2A0E7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BBC7A3-8012-40EC-97C4-DA899760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복사용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845A40-C6DC-4A0A-A6E6-26F2E3DDB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영상 프롬프트 — 상황별로 그대로 복사하십시오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F0288-6D3B-47E6-BBAE-6C45A7D2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56616-3948-4010-B041-8361A2504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9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기본 틀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[카메라 움직임]. 인물이 [동작]한다. [환경 변화].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[배경 소리].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인물 컷 (가장 안전)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카메라가 인물에게 천천히 다가간다.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인물이 느리게 눈을 깜빡이고 입가에 옅은 미소가 번진다.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잔머리가 공기 중에 살짝 흔들린다.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조용한 실내음.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풍경 컷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드론이 천천히 떠오르며 풍경 전체를 훑는다.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구름이 하늘을 가로질러 흐르고 풀밭이 바람에 물결친다.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부드러운 바람 소리.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⭐ 일러스트를 살릴 때 (카드뉴스 → 영상) ━━━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카메라는 고정. 앞쪽 배경과 뒤쪽 배경이 서로 다른 속도로 밀리게 한다.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인물의 머리카락과 옷자락이 부드럽게 흔들린다.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작은 빛 입자가 화면 위로 천천히 떠오른다.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배경음: 낮게 깔리는 공기음.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화면의 한글 문구는 바꾸거나 새로 생성하지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559395965"/>
      </p:ext>
    </p:extLst>
  </p:cSld>
  <p:transition spd="slow">
    <p:fade/>
  </p:transition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F95ADB1-602D-4641-8662-1EB4939D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88C7D-5FD7-40AC-BD0B-601B6D0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5C1EAF-C339-43A4-8027-8738DADC6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FBF80A-2A10-4F36-8234-C0C3943DD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D0C2A6-628C-4653-893F-B77C5215A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가장 흔한 실수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04302-E23C-470F-BDC6-F70E4D8C1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나쁜 예 vs 좋은 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C446A9-0F0A-436B-A4A2-620220E0A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66900"/>
            <a:ext cx="5467350" cy="381000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6E3CCB-423F-40B2-9E92-508EEF0CE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✕ 중복 서술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5AC34A-D5DA-4D11-A8A1-30BFB714D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1460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"해질녘 불어난 강가에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4A5177-07AD-4E9B-9A13-87725649D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 쪽빛 한복을 입은 어린 아이가 서 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9CAABFB-C042-450C-A67F-E6ABA6D00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6710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 따뜻한 황금빛, 영화 같은 분위기"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3DBAFA-EDED-4353-BB16-12183836B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433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1E32D0-BAD6-4F97-81BF-0A555B2A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1960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→ 이미지에 이미 다 있는 내용입니다.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EB422-0B01-4D15-85AB-FA77D4A6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958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— → 모델이 혼란스러워하고 결과가 나빠집니다.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8DEA0-44D6-4612-821A-20DBC246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66900"/>
            <a:ext cx="5467350" cy="3810000"/>
          </a:xfrm>
          <a:prstGeom xmlns:a="http://schemas.openxmlformats.org/drawingml/2006/main" prst="roundRect">
            <a:avLst>
              <a:gd name="adj" fmla="val 3500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EC75E3-F4DE-40C7-8417-0B5B5BCB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0764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4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○ 움직임만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08F21-3653-46A9-892C-6CF903E9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51460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"인물이 천천히 팔을 들어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459BA8-28CB-48E6-8812-F0094D861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908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지평선 쪽을 가리킨다.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1393901-4BC3-4EE6-B14F-E0C3E9154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46710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화면 앞쪽으로 흙탕물이 빠르게 흘러간다.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D00860-CF21-42BA-B1CD-0D3F7DC6F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433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 카메라가 천천히 다가간다."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AFD733-FA94-470B-A238-4F0FF7B6A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41960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1D3748-B74C-4A91-A2C2-34413C24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95850"/>
            <a:ext cx="4914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8000"/>
              </a:lnSpc>
              <a:buNone/>
              <a:def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0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✦ → 이미지가 장면을, 프롬프트가 움직임을.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CBD146-4218-4B3A-B75C-A103A530C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86450"/>
            <a:ext cx="11201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23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이미지가 장면을 담당하고, 프롬프트가 움직임을 담당합니다. 역할을 겹치지 마십시오.</a:t>
            </a:r>
          </a:p>
        </p:txBody>
      </p:sp>
    </p:spTree>
    <p:extLst>
      <p:ext uri="{BB962C8B-B14F-4D97-AF65-F5344CB8AC3E}">
        <p14:creationId xmlns:p14="http://schemas.microsoft.com/office/powerpoint/2010/main" val="889263054"/>
      </p:ext>
    </p:extLst>
  </p:cSld>
  <p:transition spd="slow">
    <p:fade/>
  </p:transition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0640B9-B7DE-4430-8DD2-3AE43094D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B0C743-FBA3-44D2-B13C-88505CB57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F5BA3-34A0-4C83-9F12-D570D0D0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28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1CE36C-A5AC-4E4F-8149-0A3BA0D5C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E4C7B2-F1A2-46BE-9161-1FCDF9969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EDITING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A42322-6820-43B3-B16C-4C6D2106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AI 영상은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편집에서 완성됩니다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4C830A-D5A4-4780-83F8-8152F3F2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생성이 아니라 편집에서 대부분의 문제가 해결됩니다. 무기 다섯 개를 드립니다.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BE59A-A11E-4A1B-9017-10CB332E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250310709"/>
      </p:ext>
    </p:extLst>
  </p:cSld>
  <p:transition spd="slow">
    <p:push dir="u"/>
  </p:transition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8F0A38D-9996-43F7-9924-1FFCCE9D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1C4884-B970-464A-94FC-8D9E05CD5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4A9CC6-1259-4327-8D43-D0814878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29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A6CE36-BF8A-4695-AD99-6C51E601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D3D9D5-5B28-4CBF-824C-43BB5441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원인 진단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BA973-2757-4F2A-94D9-281D2932C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왜 AI 영상은 이어 붙이면 어색한가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3E4DA0-F78F-4B5C-BFC3-36E47724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E152D-EF4E-47B5-925F-F6320FED3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EBAA41-789E-4390-92CE-4DD4F598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이미지와 영상은 구조가 다릅니다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8DB9A6-6FA5-42F4-AA76-187362AFB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이미지 — 한 대화 안에서 맥락이 유지됩니다.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A47794-B7F9-4938-8166-542CE413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A722EB-90F4-4357-B88B-B8DE8C9CE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영상 — 클립마다 독립적으로 생성됩니다.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256C1A-46B8-4F10-A297-7B377ABC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클립 A를 만든 기억이 클립 B에 남지 않습니다.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5C40D3-73E5-4561-858F-5BEC2C33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4BECEB-2CB9-46B7-9553-1541F1D3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전달되는 것은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C0CAA8-D68E-491A-8EEB-39E7230DB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내가 다시 넣은 프롬프트와 참조 이미지뿐.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9741C2-2306-4FFA-95C7-90D73005D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AF337C-A982-40EC-9A31-5F288776F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29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그래서 영상 단계의 일관성 관리가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011F22-6203-48C8-99AC-6B8FBF3B8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0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이미지 단계보다 훨씬 어렵습니다.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BD9847-B52A-4886-A867-C6B9DB21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D1BB64-400A-459B-AA59-39F904F0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D18CF-CC35-4627-9A84-FB87BAA50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세 종류의 드리프트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21C0D11-5C6A-4DBD-93DC-2A5D8F1C6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① 캐릭터 드리프트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C92C0D-F328-4EC4-A71D-CBE02A4D6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얼굴·비율·의상·머리가 미묘하게 달라짐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29266C1-D29B-407E-B4A1-8E7DE947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0726C3-537D-4F52-AF2A-D745018A2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② 환경 드리프트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B0B620-A465-4CC1-B59B-CCCAD634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조명·색조·배치가 달라짐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9A02B8-6F87-40B7-995D-92C975F4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63E7F4-48C4-4732-BC95-D4C7B615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스타일 드리프트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AA337C-C7AD-4F31-A5BD-9F3C321B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컷 사이 톤이 안 맞음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337A88-C6B5-4326-8763-5AD55A9AB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29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B37BC7-F1FC-42CF-BDAC-3DB18C0B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210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완전히 없앨 수는 없습니다. 줄이고 감춥니다.</a:t>
            </a:r>
          </a:p>
        </p:txBody>
      </p:sp>
    </p:spTree>
    <p:extLst>
      <p:ext uri="{BB962C8B-B14F-4D97-AF65-F5344CB8AC3E}">
        <p14:creationId xmlns:p14="http://schemas.microsoft.com/office/powerpoint/2010/main" val="937051415"/>
      </p:ext>
    </p:extLst>
  </p:cSld>
  <p:transition spd="slow">
    <p:fade/>
  </p:transition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658DFD-3990-4487-99B5-756C7E8F9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5B55FD-296A-4F45-A915-730C1729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E9D8CA-6FA4-4BD5-8EA1-ECD34710D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2D8628-D0A2-4DBB-9446-C922999F3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D6C1EC-8E80-4579-BE25-1F9B4375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고정 블록과 체이닝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80E0EA-7C27-4E8B-A4A0-FAD861CB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무기 1·2 — 생성 단계에서 줄이기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8C476D-7A45-4D0C-AAF5-0F47273D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E0D6D-6324-46E2-88FC-D6B41570F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02D1A0-32DD-4A19-9E78-1964DD99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무기 1 · 고정 블록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EB382D-B57B-47E9-9733-0536F03B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구글 공식: "장면 일관성이 있는 여러 클립을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842462-1128-4B6E-A47A-9612B394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만들려면 이전 프롬프트의 필수 디테일을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9F0F71-3A65-4C4C-A2C9-4A13ACB54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전부 반복하라고 명시적으로 지시해야 한다"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391850-3B0D-43EF-8612-A82A1C2A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82688A-DD3E-4FDE-B560-E2D4443BB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① 그림체 블록 — 모든 컷에 그대로 복사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E68DB3-A6A8-49C5-B622-373048D07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② 인물 블록  — 모든 컷에 그대로 복사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A1B3732-1FF1-4BB2-91A9-05BFEC24D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③ 장소 블록  — 같은 장소인 컷에만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EA4C7D-A3CB-49D7-BD31-20F735A6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④ 컷 블록   — 이 부분만 교체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A9447B-8A6C-4C2F-A2DF-9AD10675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⑤ 소리 블록  — 배경음 지정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113CBD-78F9-4B56-A070-C67DCB2B5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95506A-81F9-4C01-A322-80000054B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DC46BD-77A4-4844-971B-043512FF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무기 2 · 체이닝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067405A-8695-4EB1-9E40-38DB9553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① 클립 A 생성 → 마지막 프레임 저장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D80B9A-7020-4724-A17F-21C2710B5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② 그 프레임을 클립 B의 시작 프레임으로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6B812DF-DDD0-4CBB-815F-0E8F4498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프롬프트에 "이 프레임에서 이어서" 명시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7F5455-7643-42D8-97F5-87EE27C7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5263A3-A72E-4DA1-BF20-53B0E3ED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"이 프레임에서 그대로 이어서 가.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620734-F7A2-4826-9FE5-DF31D843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인물, 옷, 빛의 방향, 색감을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14EFED-AAD8-482A-889F-BAC3A78E7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입력 프레임과 똑같이 유지해 줘.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0CE854C-5412-4F48-BE49-38A470928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카메라는 고정. 컷 전환 없음."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9235652-EF56-4691-B369-7AB8677F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B1D1A29-F4C7-44BA-AA1C-5DB5A02F0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0388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시작·끝 프레임을 모두 지정하면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6F77183-7848-454F-8EBD-18CBD0A4B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4008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사이를 채우는 브리지 클립이 나옵니다.</a:t>
            </a:r>
          </a:p>
        </p:txBody>
      </p:sp>
    </p:spTree>
    <p:extLst>
      <p:ext uri="{BB962C8B-B14F-4D97-AF65-F5344CB8AC3E}">
        <p14:creationId xmlns:p14="http://schemas.microsoft.com/office/powerpoint/2010/main" val="1625131443"/>
      </p:ext>
    </p:extLst>
  </p:cSld>
  <p:transition spd="slow">
    <p:fade/>
  </p:transition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A2C0EAB-6A79-44AE-8336-A18EF971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31326-8BE9-4A6D-8230-10A4724CD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FB0C94-A55B-4A3E-BA88-7DC41B21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9A010F-C4F6-493B-AFAD-BBF390171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E8DCF9-6399-4BB6-B8A8-75FA4F2F9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가장 실용적인 두 가지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9B2011-C328-4DD4-806F-1D91E15B4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무기 3·4 — 편집 단계에서 감추기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780F16-F902-419D-A8F1-A020D06C0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EB687A-CC27-4FDC-A07A-2E015651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167E31-6A22-4171-9FB1-F8C99FEB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무기 3 · 붙기 어려우면 더 크게 바꿔라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38CBBA-22B8-4547-B567-44EED652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앵글이 비슷할수록 미세 불일치가 도드라집니다.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0B5991-796F-465D-ABE9-107177672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6DF18E3-2B6B-43DE-9A49-7A59209F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컷 2와 컷 3이 자꾸 안 붙으면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37ACC-EC8F-425E-92CA-FF2D4F704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컷 3을 더 비슷하게 만들지 말고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BE7489-52D3-46B8-AA4C-992C47A7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★ 더 다르게 만드십시오.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5CB247-3D8A-4231-9571-D5785986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7EC32C-47A5-45F8-84CF-EC16F92FE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멀리서 잡은 컷 ↔ 얼굴 클로즈업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B788D4-C0AC-41E4-BD3B-B40499D5B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이렇게 과감히 바꾸면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326F21-65F9-4647-B84F-8B10A037E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불일치가 "각도 차이"로 흡수됩니다.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6A2E9A-1B2A-4F59-BE93-D68B7A008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388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830CFB-7FF8-4055-BCD8-B23F676EB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4008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한 장면을 3컷으로: 와이드 / 미디엄 / 클로즈업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4A070C-BE39-40CF-A84B-F91D6AE9A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68A723-FA9F-4C0B-8B4B-82FB49646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8F08BB4-0D4C-43C2-AE4A-6C31DD4F3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무기 4 · ★★ J컷 · L컷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FBD4393-5B7C-46B1-A9EB-5DE46100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J컷 — 다음 장면의 소리가 먼저 들어오고,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EADB4F-04AF-4D24-AAD0-0C7AC0EA0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  그다음에 그림이 바뀐다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99B4B0F-026E-4654-8EF9-D723E3B0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052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L컷 — 앞 장면의 소리가 이어지는 상태에서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F1EDE92-4198-4EF7-AF99-B9E60D81F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671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  그림만 먼저 바뀐다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BF95FF-40F9-49E1-9B3D-300050D56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2291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C599EB-DB32-43CE-B531-E4B53F6A1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5910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왜 결정적인가: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2E5852-503A-49D1-9FDC-0CBF7FDA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9530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그림은 컷마다 튀지만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199092C-1D0A-4520-BB22-64470ED6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3149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소리는 내가 직접 깔기 때문에 튀지 않습니다.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FB51DBC-DAFA-4655-BE04-80AD36B66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6769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D7BAB8-8416-41BF-ABFE-394CADC58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03885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소리를 컷 경계보다 0.5초 먼저 시작하면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A983BF-EAB8-4710-B2BB-96FC6C66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6400800"/>
            <a:ext cx="5067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두 컷이 하나의 장면처럼 붙습니다.</a:t>
            </a:r>
          </a:p>
        </p:txBody>
      </p:sp>
    </p:spTree>
    <p:extLst>
      <p:ext uri="{BB962C8B-B14F-4D97-AF65-F5344CB8AC3E}">
        <p14:creationId xmlns:p14="http://schemas.microsoft.com/office/powerpoint/2010/main" val="1412243717"/>
      </p:ext>
    </p:extLst>
  </p:cSld>
  <p:transition spd="slow">
    <p:fade/>
  </p:transition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B495998-9B03-4FFA-A6D0-A5EBB05B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BC990E-A838-4E4D-80C4-062D5B4AB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017349-71D7-4220-9F88-848F45E0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9668B9-8263-4E8B-9596-97044DBAE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7F6DF0-77A1-4DAC-A04D-71868F0E0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우선순위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6F0696-E027-4C74-B720-BA8D3E9A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무기 5 — 완벽주의에서 빠져나오기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137C95-0272-434B-9BCC-990C874B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94100CF-2143-4461-802F-AC2A56ECB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8191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순위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31A33-B587-4F25-9537-C7C77A5A6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8478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7A067-0792-41BC-8159-EC92C26F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1943100"/>
            <a:ext cx="6438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편집 판단 기준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512E60-D649-4313-9062-DAABD918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478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632AC56-4557-423E-BDF5-84B974218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943100"/>
            <a:ext cx="2305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가중치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78B5EBD-1BE7-43C9-95D3-81594155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812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845318-2614-4106-BCF0-5C5313ED9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66975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A7C901-666E-4512-972D-30CF951B6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BED93F-37C0-4943-9F80-0B27B3EAA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66975"/>
            <a:ext cx="643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감정 — 관객이 느끼게 하는가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E3042F2-4244-4C35-BC8D-9BCCEBAF9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812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6E2796-CEE8-4DBC-B957-6779C2421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669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51%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425B69-2457-41D5-8BB4-C3C8A1FA3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9146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3046462-ADB7-4226-AB69-5C84DB9F3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00375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1ED96-606F-4E0E-B06E-CBA016FE2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9146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41A5C3-BAD2-4E21-A7EB-12E45FE24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000375"/>
            <a:ext cx="643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이야기 — 이야기를 진전시키는가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6218510-C38C-45F3-8E6B-797B1D70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9146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692C01-2B85-47E2-B536-6EE30139D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003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23%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6C427D-7130-41EB-A505-606FBE37F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4480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25ABF8-16DD-4418-911E-5505D7904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33775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63C0C8-8749-435C-AE40-5DD862C6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4480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286F85-988E-4646-9313-4DBF8ECEE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33775"/>
            <a:ext cx="643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리듬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623FD81-79CA-4E1D-8A08-6825FEDDE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480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CFBB05-6371-4CB5-96BF-D3521F74C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337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182E40B-555A-40B1-B54B-54C9C57AD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814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22ABE4-5A98-4A20-80E6-2512E694D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2F0CB31-8E62-4445-9D38-0E5E7ADCB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9814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899D3D-9BB5-45A1-B229-5115192A5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67175"/>
            <a:ext cx="643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시선 유도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84BE86-4E04-4B45-9CE4-49418561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814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A962C90-68F1-4063-B41B-6821BAFAF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0671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7%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CE5F974-4949-4F88-8FB7-E1F8AF75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148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396866A-35DF-4DA4-921D-C694222C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6BAF5E3-E4B9-4B88-B6F9-5C9B989DE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45148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7C27A10-BC89-42E7-B9C4-37CC6826A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600575"/>
            <a:ext cx="643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화면 평면 (좌우 축)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53F0EF-18FB-4F79-A913-8F2E9F075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5148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85FBBF-EC5F-46EA-9617-C2C70FC5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6005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619F5E2-10DC-4D10-AFE2-F29AE6691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048250"/>
            <a:ext cx="10477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BC4B63-33A5-4D43-A619-A063054B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819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EDFB37F-08B3-44CA-84E0-B6AB841F6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5048250"/>
            <a:ext cx="666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079227-E872-47F9-9432-444A47A9B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33975"/>
            <a:ext cx="6438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공간 연속성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85E46C-7BCA-4A1F-883D-DB9421E2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048250"/>
            <a:ext cx="25336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CCED9D1-2B10-4D9A-8B9D-5C37CFF37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133975"/>
            <a:ext cx="2305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7D4326E-ABF4-4B24-9691-0DE94DF0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007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08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감정 하나가 나머지 다섯 개를 합친 것보다 큽니다. 연속성 오류는 가장 먼저 버려도 되는 항목입니다.</a:t>
            </a:r>
          </a:p>
        </p:txBody>
      </p:sp>
    </p:spTree>
    <p:extLst>
      <p:ext uri="{BB962C8B-B14F-4D97-AF65-F5344CB8AC3E}">
        <p14:creationId xmlns:p14="http://schemas.microsoft.com/office/powerpoint/2010/main" val="1306773233"/>
      </p:ext>
    </p:extLst>
  </p:cSld>
  <p:transition spd="slow">
    <p:fade/>
  </p:transition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3D241CE-C940-4248-89DD-B2EDCA75F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5C72A-D2A3-4152-B94D-EA13790E4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C1AD30-C60D-4FD1-9EE6-61E4AE891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2D7797-1D75-4422-9967-122C9D22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D2BDB1-63C5-499C-8DA7-96B037E9A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8초로 만들고 4~6초만 쓴다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DF9360-7F0A-48F1-A84D-25A2D251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★ 오늘 가져가실 가장 실용적인 습관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D9B449-0F8D-4159-BEB3-02340346D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8A64D9-25C4-4ADC-AC68-1E02D13B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C7F4AEB-F5F5-4C7F-A449-E8E1DF16A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왜 그런가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C78D66-364E-4C9F-B43C-02A4C808A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AI 클립은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5D7BCA-6265-4327-852C-08706E7F5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004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처음 0.3~0.5초에 모션이 붙고,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40AA88-1F70-4291-BDB4-DACC56ED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마지막 0.3~0.5초에 모션이 죽거나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A76171-24DD-431D-A342-D651408E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386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드리프트가 시작됩니다.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3EDB6B-F36A-4F9F-8A0B-A2DB04102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2912C1-FCE2-4E2E-83E8-F24874869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→ 그 구간을 잘라내면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F60F72-B49F-4853-9C3B-0C2A2AFB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"AI 티"의 상당 부분이 사라집니다.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650D31A-673E-4489-A522-FC9DE8031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3FA04C-A810-407C-B59B-30A0CEE1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C4E85B-DD13-4B88-BB79-A8E200FCF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어떻게 하나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C51610-94D5-480F-A2A9-C36FD0F7A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① 8초로 생성한다 (여유분 확보)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F7451B-B77C-4049-A2A2-58A075604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2004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② 편집에서 앞 0.3초를 자른다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F9204B-E54D-4F7F-8786-4E56A1A45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6195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③ 뒤 0.5초를 자른다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5F4302-727F-490E-8568-9B0AA553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0386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④ 남은 4~6초만 쓴다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37D59C-F258-4F6F-9840-E4847193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577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78AF296-563E-4A25-831E-0045721E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768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이 습관 하나로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82538A6-0AC4-4CED-A22E-36153012F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95900"/>
            <a:ext cx="5067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결과물 완성도가 눈에 띄게 달라집니다.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9086A5-F3B9-4107-892C-18251CB22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596C19-274E-448C-B6E3-9F84A6159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앞 0.3초 · 뒤 0.5초는 기본으로 자릅니다. 이것만 습관이 되어도 결과가 달라집니다.</a:t>
            </a:r>
          </a:p>
        </p:txBody>
      </p:sp>
    </p:spTree>
    <p:extLst>
      <p:ext uri="{BB962C8B-B14F-4D97-AF65-F5344CB8AC3E}">
        <p14:creationId xmlns:p14="http://schemas.microsoft.com/office/powerpoint/2010/main" val="2004419036"/>
      </p:ext>
    </p:extLst>
  </p:cSld>
  <p:transition spd="slow">
    <p:fade/>
  </p:transition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5F03590-4E88-48DD-A64B-999A177AF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D51160-C206-45EE-95CD-05116BCF2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523AF-553F-4266-9800-C8D2009A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A3F6A5-D2CC-41EE-B76E-AD949D0DC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AC40B9-E782-4934-9544-F8415410C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막혔을 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94960F-043E-4A5C-9069-A645AD778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부자연스러움 유형별 대처표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210A35-4139-4A9C-90F7-A85AAFA46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2D33F2-4503-4C76-96BF-D29CB4E2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438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증상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1A1E07-5F05-4F0F-BAF8-1F08AD8D0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8478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3883D5-C1F0-4EF8-AB21-8DB294EC2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4310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생성 단계 대처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F5BBBD-855D-4109-8C27-50B1DE941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184785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B3587D-29B4-4CDB-9868-49B5117DC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943100"/>
            <a:ext cx="3543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편집 단계 대처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B7F0FE-E0A9-4CE4-86BA-1669CADF3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6220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422764-BC7A-49F7-A2AF-3CDCAEA1C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모프 (얼굴·사물이 녹아내림)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5B874D-44DB-4C33-ABA4-BA08135B4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36220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61331B-5406-4B61-BBC5-E68CD5AD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44792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동작을 단순하게 (천천히, 부드럽게)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6F3F25-E6D6-40AD-B3D3-B1C130300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36220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959C928-7C41-4244-9836-E5DB33BF7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4792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모프 구간을 잘라낸다. 못 살리면 재생성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4BA1B2-5C39-4EE7-A41A-D61A19C8C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765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FCBF60-26E3-4989-8C9D-68D425DB5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622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색 튐 (컷마다 색온도 다름)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C446DF-F1CB-438C-BEE4-B6BFA4688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8765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0A6EF0-FF73-4493-9A13-CEB7F626B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96227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조명 방향·시간대·색감을 문장으로 고정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277450-7801-4F3C-A29F-637B7ABD6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87655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0B760F-C516-4C04-8255-247DDA082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6227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가장 잘 나온 컷 기준으로 맞추고 전체에 필터 1개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9B4FCF-1F69-4945-9328-4C585919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9090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7DBEEA-B10C-413E-AB3E-F7B961E1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얼굴이 달라짐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4CE22E-1A9C-4727-B063-843BCC91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39090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91BE13-CF4B-4B0F-8D54-253E3F55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7662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캐릭터 블록 고정 + 기준 이미지 재첨부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ACADDC-ADD3-436E-B318-BCE4AC5F5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39090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57ACEF-88FD-4413-B8CE-DB1B6F43D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7662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그 컷만 멀리서 잡은 화면·뒷모습으로 대체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99267E-8C10-467B-80D8-406A258BF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9052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DB309A-DAD1-4998-8EEE-C35303531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909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손·손가락 이상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7CE84CD-9994-4236-8273-63C6F3F0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052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D4362F-88D9-488D-B205-9B656CBD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99097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손이 화면에 크게 안 나오게 구도 지정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C5C068-FAC0-4D16-9F89-90124063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90525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43FF1B-EC07-4BD3-A011-EA63956F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9097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그 구간 잘라내기 또는 손이 안 보이게 크롭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5ADF67-62DD-44E1-9310-258CAEBF3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41960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CFB2E7-CFD8-4934-B838-E159937E9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좌우 뒤집힘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7724FD-F480-49EE-9FF7-7D3D4A612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41960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E4939EA-BB37-4121-91D3-CE7E6D803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0532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프롬프트에 좌·우 배치 명시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32EB96A-2DAA-4BBE-9A10-BDE2810A5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41960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2731336-4012-4B5B-BBFE-17FC49CE3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0532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편집기에서 수평 반전 (화면에 글자 있으면 불가)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D8CC92C-17C3-4A57-84FE-0FD6ED8AF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3395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816CBE-FE11-45B3-ABFF-5175F9CB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1967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화면 속 깨진 글자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155913F-B8D1-41E3-94E0-606D0EEBC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93395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52FA5A2-5801-4A4E-939D-5A3D5EB47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01967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"화면 안에 글자 넣지 말 것"으로 배제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62BA22-2906-45B7-982F-5442B292C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493395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FD047F8-B6A9-45DB-B33B-19B9B82A1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01967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자막·타이틀은 편집기에서 얹기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D9D44DE-D6ED-4EF4-9D16-94B565DF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448300"/>
            <a:ext cx="2667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A4F9891-3272-43D0-8B5C-B5A0B83DB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4025"/>
            <a:ext cx="2438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첫·끝 0.5초가 어색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B09D23-9B20-4B4F-84B9-6F717922F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5448300"/>
            <a:ext cx="3810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0FEFD692-D295-4BF7-84AC-B68C6BFE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534025"/>
            <a:ext cx="358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8초로 생성해 여유분 확보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9BF103-A288-4636-9599-82FEB1900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5448300"/>
            <a:ext cx="37719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FF572D1-2983-4949-A656-CBCA9295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534025"/>
            <a:ext cx="3543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⭐ 앞 0.3초 / 뒤 0.5초 기본 트림</a:t>
            </a:r>
          </a:p>
        </p:txBody>
      </p:sp>
    </p:spTree>
    <p:extLst>
      <p:ext uri="{BB962C8B-B14F-4D97-AF65-F5344CB8AC3E}">
        <p14:creationId xmlns:p14="http://schemas.microsoft.com/office/powerpoint/2010/main" val="470661964"/>
      </p:ext>
    </p:extLst>
  </p:cSld>
  <p:transition spd="slow">
    <p:fade/>
  </p:transition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DC9FC1-F413-4200-94C3-3C241DE28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BA176-AF99-4370-849E-3D143A27F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95C36D-AD71-4AAF-A54E-7B6FD2198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CBEAB-17F5-46DB-A2C0-7F12EC8DD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E4BF8C-3BD2-46AC-A772-1E35F9CD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실패 대비 3단 우회안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C7AF38-647D-44F2-8931-A485DA3B0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한국어 대사 — 솔직하게 말씀드립니다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142AA8-2DFF-4511-80E0-7F4275EF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552D07-FEA9-46E3-B2F0-78826727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FBDC16-3146-435B-BA80-26D282CB1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공식 문서로 확인되는 것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0BB3BD-4809-43E5-BEB0-591AC67A6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✅ 한국어는 지원 언어 목록에 포함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C22E63-BCB6-4A14-99F6-0327A805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9BEA3C-B9B5-47BF-9802-ADECF162B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⚠ 같은 문서가 경고합니다: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2B18CF-0BFA-417E-B863-31B4978C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"최상의 결과를 위해 영어 프롬프트 권장.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9F419D-E98C-4B62-B535-E1CF25C21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529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생성 품질은 언어에 따라 달라질 수 있음"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D97FC8-34F2-42AA-A99C-DA3A45EB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958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AB816D-A9D1-43A7-9477-9D44DB2E6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387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❌ "한국어 음성을 생성한다"고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211B3C-CD56-47FD-812D-B88EC341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816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   보증하는 공식 문구는 없습니다.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16220E1-6C71-4702-9B49-90D618269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B66581C-52FF-4514-8A66-1F3CCEEE6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674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실무 보고: 같은 프롬프트로도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7C9E2D7-1BD3-4972-8C92-19F540B0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03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어떤 건 영어로, 어떤 건 한국어로 — 비결정적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BF158A3-AEDB-431B-AFD0-3B00B3A61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8CCDD5-355C-4E39-8763-95657B3E7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F4284FF-B26D-459B-B24F-5759EBC92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3단 우회안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16B7BE-E52D-4479-BF38-87F1D09A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1안 (권장) ★★★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D03C6D-6ADE-432E-9365-D583A0945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242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영상은 무음·배경음만 생성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1BFA68-1F5B-42A6-9865-50A85BDD1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4671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→ 편집기에서 한국어 육성/TTS 얹기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83FF40-3180-445C-8D20-C3A1CFCF8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8100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DAA45F-3C63-418C-A8B8-49490453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529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2안 ★★★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B519660-CB72-4DAB-8CDC-DC2BEBE90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958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영상은 무음 생성 → 자막으로 대사 처리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D7EAA6-5D49-4926-AEBC-B8F912968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387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11C7C7-18D9-4041-84DD-9C6925AF8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1816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3안 (도전) ★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DF5E51E-8287-4D9A-AE47-D9D183A87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245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프롬프트 본문은 영어, 대사만 한국어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7546001-7A9C-4B0E-B598-5B5370F27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67400"/>
            <a:ext cx="5067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→ 불안정. 시연용으로만</a:t>
            </a:r>
          </a:p>
        </p:txBody>
      </p:sp>
    </p:spTree>
    <p:extLst>
      <p:ext uri="{BB962C8B-B14F-4D97-AF65-F5344CB8AC3E}">
        <p14:creationId xmlns:p14="http://schemas.microsoft.com/office/powerpoint/2010/main" val="511432937"/>
      </p:ext>
    </p:extLst>
  </p:cSld>
  <p:transition spd="slow">
    <p:fade/>
  </p:transition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E6D82A-4C72-45A4-ABC5-35AD71A6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4C520-145F-4560-8E5D-399D75956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AE005F-B95E-4F09-920A-EBD7F9BB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36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B1FA91-1D9E-4E98-8C35-0A844B9FA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F4D468-28A1-4890-8784-87D6387A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2395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08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CB25D6-ED30-4D6F-AEA0-5E4F883BC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066800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대외 배포 전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9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반드시 확인할 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D60DCC-65FB-46F9-A05F-C0FC2FBF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48100"/>
            <a:ext cx="8953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0000"/>
              </a:lnSpc>
              <a:buNone/>
              <a:def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0" i="0">
                <a:solidFill>
                  <a:srgbClr val="CFC8BF"/>
                </a:solidFill>
                <a:latin typeface="Noto Sans KR"/>
                <a:ea typeface="Noto Sans KR"/>
                <a:cs typeface="Noto Sans KR"/>
              </a:rPr>
              <a:t>워터마크 · 저작권 · 표기. 이걸 모르고 배포하면 되돌리기 어렵습니다.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12D173-293E-439E-9B76-A6A15E4A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18478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08306068"/>
      </p:ext>
    </p:extLst>
  </p:cSld>
  <p:transition spd="slow">
    <p:push dir="u"/>
  </p:transition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4A579B8-61AF-407F-AE7C-BE6AD5A72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CCA1B2-82C1-4395-B53B-0EB0E4DF7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C56F2-04DF-4FDB-B558-E8421124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9F837-6CC7-4C50-9CC4-DD5FA253D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4BD056-5868-41C4-83EA-1BA46AD70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★ 필수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39B3CE-D506-4895-AD20-406D5AD98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교육 현장에서 반드시 알아야 할 8가지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CB6244-A07C-43D7-9916-911A2371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ADFD7-8190-473B-8625-C4502D4B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247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BF1FA7-D968-45DA-B49A-FE3437FE9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8478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375172-5686-45BA-845B-A7DDC628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943100"/>
            <a:ext cx="5162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사실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C6F1C5-DB93-4C46-A93E-D5059E161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8478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3D8123-BAC8-48E9-9BB9-BAF145AE4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943100"/>
            <a:ext cx="41529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실무 영향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0E783F-BA14-4767-AC68-638C5E060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3431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80586A-724F-4848-843A-42B505E5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288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87BA0E-8EC9-4EB4-BC0A-851EDB638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431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F24B55-205B-4408-A3E9-73C102079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4288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AI가 100% 생성한 산출물은 저작물로 인정·등록되지 않는다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FE2E8-63B4-4C1A-B0FA-F12E02E49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3431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C3B15E-EB8E-493D-86B1-929B9AA3C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288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대회 출품은 가능. 단 '본인 창작' 입증에 프롬프트 기록 필수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7C9F2B-7BB6-4DCB-A2C4-703E0A0B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8384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8CE234-AA53-4AD6-9725-209368BFB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EA3F08-DAD9-435E-A3BA-6B68321D7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384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0D24E1C-2DB5-4736-835A-4828CBD28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241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Google Flow는 만 18세 이상만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013196-DD0C-4201-8F76-880A332F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384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3CA68-F681-402C-9236-C3946A40F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9241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초·중·고 학생은 직접 사용 불가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65E0C8-7669-4A2B-8943-1EF9EF62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3337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1AB1471-D750-4F27-9D75-31E6DAEE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194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23C714E-E975-4C2F-AB7A-D888B3DF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337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5DA676-C826-43F6-BBE5-977AE8DB8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94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한국 Google 계정 최소 연령은 만 14세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9A6B7B-1BE8-4F4A-9F6A-67B5707DF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337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71BA139-2BF1-4CA4-8BD2-BB021C08D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194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초5~중1은 학교 Workspace 계정이 사실상 유일한 경로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6AF900B-A2B1-4971-B389-8D71FC3F4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290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5794160-0755-4391-B286-C11D39A5E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15873C2-E14F-42EB-A0FE-2019677F5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8290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C08DD7-786A-444C-A02A-20CA0DE7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147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영상 편집기 내장 음원은 개인·비상업 한정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8458570-0805-4998-9D67-B5A61AD2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8290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B760B0E-6371-4391-ACCE-C9B24DACB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147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대회 출품작·유튜브에 쓰면 약관 위반 소지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429DEB-1A01-4CA7-84B7-3BFAE968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3243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6A6D7BC-1951-4B37-B07D-414D87CFF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100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AEED295-AB99-4172-88E9-E6DDD77F7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243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33407D2-BADA-49A0-9BCB-F6FCB1AC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00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음악 생성 무료 플랜은 비상업 + 출처표시 의무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DE0B90-C12B-4D7C-BF05-48061F34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243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157838-AF6E-4BCA-8B73-D2BA33F1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4100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크레딧에 출처를 표기하거나 유료로 생성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4658BE8-C9B5-4CF1-9135-9CF8822AB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8196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D054B71-F594-44F5-AD79-E981A00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1AFE367-8BC8-49B2-9B9D-A9A70F65B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8196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1EE0A04-F502-49AE-9DE1-03B432A5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9053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Flow 무료·중간 요금제 영상엔 가시 워터마크가 박힌다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56127CB-5C03-4E54-AFA2-368487A6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8196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F7A4FAA-0C67-4F2D-BC43-7A4D65A18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9053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심사위원 사전 고지 필요. 잘라내기 지도는 금물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89CC1D0-8EC7-46EC-A53B-5B59F47A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149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6E95E33-30B8-4624-B1BC-42210704C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006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7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EB504B-F757-4BFF-9C67-F96542864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3149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41D1E9A-BCA3-4601-8E8C-C04F23B0E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4006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모든 Google 생성물에 SynthID 비가시 워터마크가 들어간다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87937D3-2B5C-4C5D-A7B2-FDD948F19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3149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9DE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6CD221B-E39F-410F-930C-7BCE9372A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4006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AI 생성 여부 확인 가능. 사람이 만든 척은 약관 위반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5D0AEB0-D0A0-482A-BF54-2275EA538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10250"/>
            <a:ext cx="4762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AB1573-5DDF-4D28-99FC-E442429A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95975"/>
            <a:ext cx="247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B8C95E5-1757-4B35-B0E8-F30B74E5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810250"/>
            <a:ext cx="53911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4254DAB-7901-4873-821E-7D6B90AAB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895975"/>
            <a:ext cx="5162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교육부가 2026학년도부터 「AI 활용 과정 표기」를 공식화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6E6165A-F565-4C09-B525-5E08A92D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810250"/>
            <a:ext cx="438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9F5"/>
          </a:solidFill>
          <a:ln xmlns:a="http://schemas.openxmlformats.org/drawingml/2006/main" w="9525">
            <a:solidFill>
              <a:srgbClr val="E6DFD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1900367-A829-4490-8830-14070B65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5895975"/>
            <a:ext cx="4152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크레딧 표기와 프롬프트 기록은 선택이 아니라 지도 사항</a:t>
            </a:r>
          </a:p>
        </p:txBody>
      </p:sp>
    </p:spTree>
    <p:extLst>
      <p:ext uri="{BB962C8B-B14F-4D97-AF65-F5344CB8AC3E}">
        <p14:creationId xmlns:p14="http://schemas.microsoft.com/office/powerpoint/2010/main" val="1984150335"/>
      </p:ext>
    </p:extLst>
  </p:cSld>
  <p:transition spd="slow">
    <p:fade/>
  </p:transition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8545C0E-2177-435D-978D-79A5615B2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607385-EC40-4BC6-B524-7738BFCC9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1A7D35-6001-4054-A551-B3A121FF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38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2C2312-7DBA-49B8-8448-0428305E3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B0C690-C9B7-407D-AAB9-E7450D7F4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3340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975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표기의 진실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50BD60-13EB-4A89-8EDB-A89345A2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838200"/>
            <a:ext cx="11201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7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SynthID가 실제로 하는 일 — 오해하기 쉬운 부분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EF14AC-C0BA-4D3D-9678-2E0FE00AA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083215-D3ED-4EBB-97EC-16FF753A2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3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1C2258-38E5-48B6-B4DF-B285F2A7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SynthID가 하는 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6E33D35-CD77-40EB-9219-6BAD1C9E9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구글이 만든 모든 생성물에 들어가는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E90D6B-8AC9-4491-BB3C-F39714FC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눈에 보이지 않는 워터마크입니다.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7B0C11-C9D2-4632-BB3E-E8AF38ED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21A07C-83ED-46A8-9234-1561AA43C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제미나이에 올리면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1F68C2-A155-4A2C-A7C0-3B8435B9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"AI가 만든 것인가"를 확인해 줍니다.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7FA09CF-CB7E-4D14-AFC8-BDECD094E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B28F34-3431-43B7-960E-E4F411E72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제미나이 앱은 우측 하단에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93BCCA-6980-42B4-802D-06E78B54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3D3D3A"/>
                </a:solidFill>
                <a:latin typeface="Noto Sans KR"/>
                <a:ea typeface="Noto Sans KR"/>
                <a:cs typeface="Noto Sans KR"/>
              </a:rPr>
              <a:t>눈에 보이는 워터마크까지 붙입니다.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ABAC8E-D194-492F-BC1F-8FE4F7BA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3848100"/>
          </a:xfrm>
          <a:prstGeom xmlns:a="http://schemas.openxmlformats.org/drawingml/2006/main" prst="roundRect">
            <a:avLst>
              <a:gd name="adj" fmla="val 3465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57D3BE-2AE4-49A6-A1F3-24EC7BC5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47850"/>
            <a:ext cx="55245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4AC50B-704C-430C-83AA-B6555AD0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95500"/>
            <a:ext cx="5067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57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SynthID가 하지 않는 일 ⚠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DD170A-399D-4F41-BF80-CFF2E057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781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★ "누가, 언제, 어느 계정으로 만들었는지"는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716551-6C32-49E4-89E2-27AD7D568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62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   담겨 있지 않습니다.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789BDE-6B37-4E4B-954A-C8E48B3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6A4746-CED6-4694-86E3-19FCEE334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24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소유권 증명 수단이 아닙니다.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69BB5EE-CC30-4CDF-B2C3-6C0873CED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305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→ "내가 만들었다"를 증명해 주지 않습니다.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8D0B31-6862-4363-9D6B-0E27B5876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86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0EA9705-7F53-4C18-A07A-2F4EE3185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067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그래서 프롬프트 기록이 필요합니다.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6B87B2E-8D8C-4554-B398-C4B7B9A1C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448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"내가 한 일"을 입증하는 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848EBC-A1EF-42FA-844F-62C47FD6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829300"/>
            <a:ext cx="5067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8000"/>
              </a:lnSpc>
              <a:buNone/>
              <a:def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0" i="0">
                <a:solidFill>
                  <a:srgbClr val="EADFD7"/>
                </a:solidFill>
                <a:latin typeface="Noto Sans KR"/>
                <a:ea typeface="Noto Sans KR"/>
                <a:cs typeface="Noto Sans KR"/>
              </a:rPr>
              <a:t>워터마크가 아니라 과정 기록입니다.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00F60A-BE10-4904-9AAE-AA4C5B89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867400"/>
            <a:ext cx="11201400" cy="438150"/>
          </a:xfrm>
          <a:prstGeom xmlns:a="http://schemas.openxmlformats.org/drawingml/2006/main" prst="roundRect">
            <a:avLst>
              <a:gd name="adj" fmla="val 21739"/>
            </a:avLst>
          </a:prstGeom>
          <a:solidFill xmlns:a="http://schemas.openxmlformats.org/drawingml/2006/main">
            <a:srgbClr val="E8E0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21C17FF-78B3-400E-9781-54700E87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91225"/>
            <a:ext cx="1076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1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SynthID는 'AI가 만들었는가'만 답합니다. '내가 만들었다'는 프롬프트 기록으로 증명합니다.</a:t>
            </a:r>
          </a:p>
        </p:txBody>
      </p:sp>
    </p:spTree>
    <p:extLst>
      <p:ext uri="{BB962C8B-B14F-4D97-AF65-F5344CB8AC3E}">
        <p14:creationId xmlns:p14="http://schemas.microsoft.com/office/powerpoint/2010/main" val="1046874623"/>
      </p:ext>
    </p:extLst>
  </p:cSld>
  <p:transition spd="slow">
    <p:fade/>
  </p:transition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D10848-5298-4112-9E2B-90B67DAE1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1A9144-E3F0-4FFF-B154-F726D210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AC3EF9-3883-4AD0-B708-70A311817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39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95ECCF-7496-4C40-B1A8-853BE2D0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4DCE8F-E5BB-480B-8AC8-A41BB02C8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085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938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배포용 양식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B22FA7-58A6-4B29-9859-3C4016D9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04850"/>
            <a:ext cx="11201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210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프롬프트 기록 양식 — 만든 것마다 남깁니다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634F5A-35B3-412B-BE41-721AA2262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219200"/>
            <a:ext cx="1135380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252320"/>
          </a:solidFill>
          <a:ln xmlns:a="http://schemas.openxmlformats.org/drawingml/2006/main" w="19050">
            <a:solidFill>
              <a:srgbClr val="CC785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92B275-82E8-45EB-BAE8-147E2B87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858500" cy="434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23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━━━ AI 활용 기록 ━━━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작품명 :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제작자 :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제작일 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[1] 사용한 도구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이미지 :                     (예: Gemini 나노바나나 2)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영상   :                     (예: Google Flow · Veo 3.1 Lite)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음악   :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편집   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[2] 내가 정한 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기획·구성 :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스타일 방향 :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수정 요청 내용 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[3] 사용한 프롬프트 (주요 컷)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컷 1 :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컷 2 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[4] AI 결과물을 어떻게 고쳤나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(자른 부분 / 다시 만든 부분 / 얹은 자막·소리)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[5] 확인한 것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defRPr>
            </a:pPr>
            <a:r>
              <a:rPr sz="1200" b="0" i="0">
                <a:solidFill>
                  <a:srgbClr val="FAF9F5"/>
                </a:solidFill>
                <a:latin typeface="Consolas"/>
                <a:ea typeface="Consolas"/>
                <a:cs typeface="Consolas"/>
              </a:rPr>
              <a:t> ☐ 화면 속 글자 오탈자   ☐ 사실 관계   ☐ 워터마크·라이선스</a:t>
            </a:r>
          </a:p>
        </p:txBody>
      </p:sp>
    </p:spTree>
    <p:extLst>
      <p:ext uri="{BB962C8B-B14F-4D97-AF65-F5344CB8AC3E}">
        <p14:creationId xmlns:p14="http://schemas.microsoft.com/office/powerpoint/2010/main" val="393954750"/>
      </p:ext>
    </p:extLst>
  </p:cSld>
  <p:transition spd="slow">
    <p:fade/>
  </p:transition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A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4E4904F-463B-47BB-AB12-7096889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7B5E17-9FD3-4298-A684-E9BD3FBE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MODULE 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13DD1-5156-4391-AE83-23FF482F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40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C60FC8-7CDB-402B-8B85-94CDC6B3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A5A099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AC854F-7431-4FE6-8291-BA9A7B168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95300"/>
            <a:ext cx="112014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0E93A3-0A8F-4C7E-B729-B420CB071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8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rPr sz="1650" b="1" i="0">
                <a:solidFill>
                  <a:srgbClr val="FFFFFF"/>
                </a:solidFill>
                <a:latin typeface="Noto Sans KR"/>
                <a:ea typeface="Noto Sans KR"/>
                <a:cs typeface="Noto Sans KR"/>
              </a:rPr>
              <a:t>🖐  실습 8-B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27BA1-B21F-452D-84B9-7F1D2287B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6477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FBE7DF"/>
                </a:solidFill>
                <a:latin typeface="Noto Sans KR"/>
                <a:ea typeface="Noto Sans KR"/>
                <a:cs typeface="Noto Sans KR"/>
              </a:rPr>
              <a:t>25분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FB9761-BCDF-4BAD-B554-F4B2FAA7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276350"/>
            <a:ext cx="11201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defRPr>
            </a:pPr>
            <a:r>
              <a:rPr sz="2475" b="0" i="0">
                <a:solidFill>
                  <a:srgbClr val="141413"/>
                </a:solidFill>
                <a:latin typeface="Noto Serif KR"/>
                <a:ea typeface="Noto Serif KR"/>
                <a:cs typeface="Noto Serif KR"/>
              </a:rPr>
              <a:t>카드뉴스를 8초 영상으로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39EA5D-3ED2-4064-959D-6609CA45F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47850"/>
            <a:ext cx="11201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defRPr>
            </a:pPr>
            <a:r>
              <a:rPr sz="1350" b="1" i="0">
                <a:solidFill>
                  <a:srgbClr val="A9583E"/>
                </a:solidFill>
                <a:latin typeface="Noto Sans KR"/>
                <a:ea typeface="Noto Sans KR"/>
                <a:cs typeface="Noto Sans KR"/>
              </a:rPr>
              <a:t>목표  만든 카드뉴스 1장에 움직임만 더해 영상 만들기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42461B-BF20-479D-89B5-9DCE647B2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286000"/>
            <a:ext cx="72390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9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AAC15E-61AE-41CF-924D-1118E0FF6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6C6A64"/>
                </a:solidFill>
                <a:latin typeface="Noto Sans KR"/>
                <a:ea typeface="Noto Sans KR"/>
                <a:cs typeface="Noto Sans KR"/>
              </a:rPr>
              <a:t>이렇게 진행합니다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C2D1DF7-A821-4DB8-868C-71DC7D77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1.  실습 8-A에서 만든 카드뉴스 중 1장을 고릅니다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84AC98-A3EC-4AF6-A3C6-D236EBDF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385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2.  Flow에서 Frames to Video — 그 이미지를 시작 프레임으로 넣습니다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B927A6-1CC7-453E-A91B-7258D7F6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576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3.  「일러스트 살리기」 프롬프트를 넣습니다 (움직임만!)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0A1A20-999E-442A-AAD1-50D301CC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767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4.  8초로 생성합니다 (4초로 만들면 잘라낼 여유가 없습니다)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0B8E5BE-337D-4491-8FA7-7C1DAF2B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958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5.  앞 0.3초 · 뒤 0.5초를 잘라 4~6초만 씁니다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64C123-BC97-4668-ABA1-40D70A360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14900"/>
            <a:ext cx="6724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defRPr>
            </a:pPr>
            <a:r>
              <a:rPr sz="1275" b="0" i="0">
                <a:solidFill>
                  <a:srgbClr val="141413"/>
                </a:solidFill>
                <a:latin typeface="Noto Sans KR"/>
                <a:ea typeface="Noto Sans KR"/>
                <a:cs typeface="Noto Sans KR"/>
              </a:rPr>
              <a:t>6.  워터마크와 공개 범위를 확인한 뒤 실습 가이드 게시판에 올립니다 (10MB 초과 영상은 패들렛)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4DEEBE-4DE5-455F-B2B6-F8DDA7A65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286000"/>
            <a:ext cx="36957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817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17367B0-2F2D-473E-9AB6-C1F60B8A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손에 남는 것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76F384-9EE9-43A6-A1EB-A9457461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819400"/>
            <a:ext cx="32004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defRPr>
            </a:pPr>
            <a:r>
              <a:rPr sz="1425" b="1" i="0">
                <a:solidFill>
                  <a:srgbClr val="FAF9F5"/>
                </a:solidFill>
                <a:latin typeface="Noto Sans KR"/>
                <a:ea typeface="Noto Sans KR"/>
                <a:cs typeface="Noto Sans KR"/>
              </a:rPr>
              <a:t>8초 홍보 영상 클립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1321AC3-40BD-4C0B-9F20-1D0D2AAD6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76750"/>
            <a:ext cx="320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40000"/>
              </a:lnSpc>
              <a:buNone/>
              <a:def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defRPr>
            </a:pPr>
            <a:r>
              <a:rPr sz="1125" b="0" i="0">
                <a:solidFill>
                  <a:srgbClr val="B8B1A8"/>
                </a:solidFill>
                <a:latin typeface="Noto Sans KR"/>
                <a:ea typeface="Noto Sans KR"/>
                <a:cs typeface="Noto Sans KR"/>
              </a:rPr>
              <a:t>완성한 영상을 실습 가이드 게시판에 '실습 8-B'로 올립니다. 10MB가 넘으면 패들렛에 올립니다.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306E70C-8E86-40C7-B9DF-4AD63591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11201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실습 가이드 웹페이지 → 「실습 결과 공유」 게시판</a:t>
            </a:r>
          </a:p>
        </p:txBody>
      </p:sp>
    </p:spTree>
    <p:extLst>
      <p:ext uri="{BB962C8B-B14F-4D97-AF65-F5344CB8AC3E}">
        <p14:creationId xmlns:p14="http://schemas.microsoft.com/office/powerpoint/2010/main" val="1562560999"/>
      </p:ext>
    </p:extLst>
  </p:cSld>
  <p:transition spd="slow">
    <p:fade/>
  </p:transition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1817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58D874-1B40-4DB3-A489-B765F4ABF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C785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AEE527-FB45-4FEB-A3F4-E7CC2EBD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6096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CLOSING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6BB51D0-B046-42AC-A8E2-64C572FEC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266700"/>
            <a:ext cx="495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4000"/>
              </a:lnSpc>
              <a:buNone/>
              <a:def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863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41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14304D-23AE-43B8-A9A8-C5FD08EC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534150"/>
            <a:ext cx="8191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defRPr>
            </a:pPr>
            <a:r>
              <a:rPr sz="713" b="0" i="0">
                <a:solidFill>
                  <a:srgbClr val="7C766E"/>
                </a:solidFill>
                <a:latin typeface="Noto Sans KR"/>
                <a:ea typeface="Noto Sans KR"/>
                <a:cs typeface="Noto Sans KR"/>
              </a:rPr>
              <a:t>춘천시교육지원청 · AI 기반 디지털 교육혁신 전문성 신장 연수 · 3부 이미지·영상 · 2026.8.11.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93C26C-184D-46FE-96BD-BFBCD687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09700"/>
            <a:ext cx="990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defRPr>
            </a:pPr>
            <a:r>
              <a:rPr sz="2550" b="0" i="0">
                <a:solidFill>
                  <a:srgbClr val="CFC8BF"/>
                </a:solidFill>
                <a:latin typeface="Noto Serif KR"/>
                <a:ea typeface="Noto Serif KR"/>
                <a:cs typeface="Noto Serif KR"/>
              </a:rPr>
              <a:t>한 장은 누구나 만듭니다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75BAED-6195-44F1-ACE8-77BA543E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14550"/>
            <a:ext cx="10382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여덟 장을 같은 화풍으로 만드는 것이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defRPr>
            </a:pPr>
            <a:r>
              <a:rPr sz="3450" b="0" i="0">
                <a:solidFill>
                  <a:srgbClr val="FAF9F5"/>
                </a:solidFill>
                <a:latin typeface="Noto Serif KR"/>
                <a:ea typeface="Noto Serif KR"/>
                <a:cs typeface="Noto Serif KR"/>
              </a:rPr>
              <a:t>실력입니다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BDA6D7-7498-41EA-BCD5-8275AC75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28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7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defRPr>
            </a:pPr>
            <a:r>
              <a:rPr sz="1725" b="1" i="0">
                <a:solidFill>
                  <a:srgbClr val="CC785C"/>
                </a:solidFill>
                <a:latin typeface="Noto Sans KR"/>
                <a:ea typeface="Noto Sans KR"/>
                <a:cs typeface="Noto Sans KR"/>
              </a:rPr>
              <a:t>그리고 그 실력은 재능이 아니라 규칙에서 나옵니다 — 고정 블록, 기준 이미지, 3회 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5ED62E-8749-40E5-9828-A484DBE50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29150"/>
            <a:ext cx="9715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완벽한 결과물을 만들려 하지 마십시오. 쓸 수 있는 결과물을 완주하는 것이 먼저입니다.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defRPr>
            </a:pPr>
            <a:r>
              <a:rPr sz="1500" b="0" i="0">
                <a:solidFill>
                  <a:srgbClr val="D6CEC5"/>
                </a:solidFill>
                <a:latin typeface="Noto Sans KR"/>
                <a:ea typeface="Noto Sans KR"/>
                <a:cs typeface="Noto Sans KR"/>
              </a:rPr>
              <a:t>연속성 오류보다 지루한 이야기가 훨씬 큰 문제입니다.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5AEA5F-9797-402E-BAF9-5C539AF7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7531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00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defRPr>
            </a:pPr>
            <a:r>
              <a:rPr sz="1200" b="0" i="0">
                <a:solidFill>
                  <a:srgbClr val="8E8B82"/>
                </a:solidFill>
                <a:latin typeface="Noto Sans KR"/>
                <a:ea typeface="Noto Sans KR"/>
                <a:cs typeface="Noto Sans KR"/>
              </a:rPr>
              <a:t>실습 자료 · 결과물  ·  실습 가이드 웹페이지 「실습 결과 공유」</a:t>
            </a:r>
          </a:p>
        </p:txBody>
      </p:sp>
    </p:spTree>
    <p:extLst>
      <p:ext uri="{BB962C8B-B14F-4D97-AF65-F5344CB8AC3E}">
        <p14:creationId xmlns:p14="http://schemas.microsoft.com/office/powerpoint/2010/main" val="1454614841"/>
      </p:ext>
    </p:extLst>
  </p:cSld>
  <p:transition spd="slow">
    <p:push dir="u"/>
  </p:transition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2026-08-10T07:02:05.4990000Z</dcterms:created>
  <dcterms:modified xsi:type="dcterms:W3CDTF">2026-08-10T07:02:05.4990000Z</dcterms:modified>
</coreProperties>
</file>