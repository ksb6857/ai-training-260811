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60" r:id="rId4"/>
    <p:sldId id="262" r:id="rId5"/>
    <p:sldId id="263" r:id="rId6"/>
    <p:sldId id="264" r:id="rId7"/>
    <p:sldId id="265" r:id="rId8"/>
    <p:sldId id="266" r:id="rId9"/>
    <p:sldId id="267" r:id="rId11"/>
    <p:sldId id="268" r:id="rId12"/>
    <p:sldId id="269" r:id="rId13"/>
    <p:sldId id="270" r:id="rId14"/>
    <p:sldId id="273" r:id="rId15"/>
    <p:sldId id="276" r:id="rId10"/>
    <p:sldId id="277" r:id="rId16"/>
    <p:sldId id="297" r:id="rId17"/>
    <p:sldId id="278" r:id="rId18"/>
    <p:sldId id="279" r:id="rId19"/>
    <p:sldId id="280" r:id="rId20"/>
    <p:sldId id="281" r:id="rId21"/>
    <p:sldId id="298" r:id="rId22"/>
    <p:sldId id="291" r:id="rId23"/>
    <p:sldId id="292" r:id="rId24"/>
    <p:sldId id="293" r:id="rId25"/>
    <p:sldId id="294" r:id="rId26"/>
    <p:sldId id="295" r:id="rId27"/>
    <p:sldId id="29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459" autoAdjust="0"/>
  </p:normalViewPr>
  <p:slideViewPr>
    <p:cSldViewPr snapToGrid="0">
      <p:cViewPr varScale="1">
        <p:scale>
          <a:sx n="91" d="100"/>
          <a:sy n="91" d="100"/>
        </p:scale>
        <p:origin x="7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4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김상백" userId="b3a3fe65-020e-4fcc-8746-8ce33cba85ac" providerId="ADAL" clId="{FB5D924C-10CE-4134-9ECA-B22E8EC07F6B}"/>
    <pc:docChg chg="modSld sldOrd">
      <pc:chgData name="김상백" userId="b3a3fe65-020e-4fcc-8746-8ce33cba85ac" providerId="ADAL" clId="{FB5D924C-10CE-4134-9ECA-B22E8EC07F6B}" dt="2026-08-10T14:39:06.206" v="1"/>
      <pc:docMkLst>
        <pc:docMk/>
      </pc:docMkLst>
      <pc:sldChg chg="ord">
        <pc:chgData name="김상백" userId="b3a3fe65-020e-4fcc-8746-8ce33cba85ac" providerId="ADAL" clId="{FB5D924C-10CE-4134-9ECA-B22E8EC07F6B}" dt="2026-08-10T14:39:06.206" v="1"/>
        <pc:sldMkLst>
          <pc:docMk/>
          <pc:sldMk cId="1645198881" sldId="27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7B64C9F-6679-4B7F-9D19-79C3DC9A5E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713767-385B-4341-9669-57935D8AFC06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3부 · 오후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51BC5F-C5E6-4237-9316-E35035C8748A}"/>
              </a:ext>
            </a:extLst>
          </p:cNvPr>
          <p:cNvSpPr>
            <a:spLocks noGrp="1"/>
          </p:cNvSpPr>
          <p:nvPr/>
        </p:nvSpPr>
        <p:spPr>
          <a:xfrm>
            <a:off x="571499" y="1257300"/>
            <a:ext cx="8455899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글보다 먼저 시선을 사로잡는 것은</a:t>
            </a:r>
            <a:endParaRPr lang="en-US" altLang="ko-KR" sz="4350" b="0" i="0" dirty="0">
              <a:solidFill>
                <a:srgbClr val="141413"/>
              </a:solidFill>
              <a:latin typeface="Noto Serif KR"/>
              <a:ea typeface="Noto Serif KR"/>
              <a:cs typeface="Noto Serif KR"/>
            </a:endParaRPr>
          </a:p>
          <a:p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‘</a:t>
            </a: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디자인</a:t>
            </a:r>
            <a:r>
              <a:rPr lang="en-US" altLang="ko-KR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’</a:t>
            </a: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입니다</a:t>
            </a:r>
            <a:endParaRPr sz="4350" b="0" i="0" dirty="0">
              <a:solidFill>
                <a:srgbClr val="141413"/>
              </a:solidFill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7D028C-59C1-49B1-8F32-E8EFDA0EB72A}"/>
              </a:ext>
            </a:extLst>
          </p:cNvPr>
          <p:cNvSpPr>
            <a:spLocks noGrp="1"/>
          </p:cNvSpPr>
          <p:nvPr/>
        </p:nvSpPr>
        <p:spPr>
          <a:xfrm>
            <a:off x="609599" y="3314700"/>
            <a:ext cx="6901981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이미지·영상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— 한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장은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누구나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만듭니다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여덟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장을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화풍으로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만드는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것이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실력입니다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3333195-D18D-426F-9116-ECDF90B80198}"/>
              </a:ext>
            </a:extLst>
          </p:cNvPr>
          <p:cNvSpPr>
            <a:spLocks noGrp="1"/>
          </p:cNvSpPr>
          <p:nvPr/>
        </p:nvSpPr>
        <p:spPr>
          <a:xfrm>
            <a:off x="609600" y="4210050"/>
            <a:ext cx="6286500" cy="9525"/>
          </a:xfrm>
          <a:prstGeom prst="rect">
            <a:avLst/>
          </a:prstGeom>
          <a:solidFill>
            <a:srgbClr val="E6DFD8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F20E8-DE31-4DFF-9D4E-69CFFBC867B6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647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프롬프트 5단계  |  스타일 고정  |  캐릭터 일관성  |  다중 참조  |  이미지→영상  |  이어 붙이기  |  표기·저작권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5C34CF4-AF67-4572-B146-913C4AD8484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76200" cy="4191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F1889AC-E236-4AFE-9A17-65C02520E1B5}"/>
              </a:ext>
            </a:extLst>
          </p:cNvPr>
          <p:cNvSpPr>
            <a:spLocks noGrp="1"/>
          </p:cNvSpPr>
          <p:nvPr/>
        </p:nvSpPr>
        <p:spPr>
          <a:xfrm>
            <a:off x="838200" y="598170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2026. 8. 11.(화)  ·  춘천시교육지원청 교육전문직  ·  강사 김상백</a:t>
            </a:r>
          </a:p>
        </p:txBody>
      </p:sp>
    </p:spTree>
    <p:extLst>
      <p:ext uri="{BB962C8B-B14F-4D97-AF65-F5344CB8AC3E}">
        <p14:creationId xmlns:p14="http://schemas.microsoft.com/office/powerpoint/2010/main" val="1436662701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A2171619-F3E7-4E1E-A102-1CA4C069CD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DDE50BE-32AE-4E34-84C3-A4416CCDE22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EF43BC-D2B4-4BDE-AB25-FA1110DF39D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50999-3F9B-4E16-AFE4-E5387ECAABA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CD754C-6751-41B6-BD0E-3449D26F2774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FOUNDATION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A33CCBA-6592-4E42-A648-1E71ADD075EF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프롬프트는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다섯 단계로 씁니다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525730-CAE9-4ABE-A549-DC2F568D45F8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그중 첫 단계가 결과의 절반을 정합니다 — 「이 그림을 어디에 쓸 것인가」.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8A6A6D-DECC-4FC2-B750-30F394953BF2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9572408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77132411-A75C-4C11-ABBE-6274B413BA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33AEBC6-5694-4084-B6E0-95D74DBF7AC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0A08AB-B5CA-48F2-B012-032DD5BDA2B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24EC14-FB96-4BDE-BA41-F2E0C84FD04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E96FA8-B531-48D9-8D2E-A35620455455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구조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A8BF191-5ADD-43DE-AF8D-C1583C2A5FF4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프롬프트 5단계 — 「용도」를 맨 앞에 씁니다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DF20EF9-E0DF-4A2B-803A-8FC2EB4C418D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238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2891E-2D91-4EF0-A469-41E1193C541D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009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순서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491F1DD-5FD5-4F9D-B6A4-6A3E9F77DA5E}"/>
              </a:ext>
            </a:extLst>
          </p:cNvPr>
          <p:cNvSpPr>
            <a:spLocks noGrp="1"/>
          </p:cNvSpPr>
          <p:nvPr/>
        </p:nvSpPr>
        <p:spPr>
          <a:xfrm>
            <a:off x="1733550" y="1847850"/>
            <a:ext cx="2857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F4AA13F-1C08-4FC3-A54E-9B0BEF562673}"/>
              </a:ext>
            </a:extLst>
          </p:cNvPr>
          <p:cNvSpPr>
            <a:spLocks noGrp="1"/>
          </p:cNvSpPr>
          <p:nvPr/>
        </p:nvSpPr>
        <p:spPr>
          <a:xfrm>
            <a:off x="1847850" y="19431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쓰나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1F60A2-C235-4F45-ACC3-7F12B385D43B}"/>
              </a:ext>
            </a:extLst>
          </p:cNvPr>
          <p:cNvSpPr>
            <a:spLocks noGrp="1"/>
          </p:cNvSpPr>
          <p:nvPr/>
        </p:nvSpPr>
        <p:spPr>
          <a:xfrm>
            <a:off x="4591050" y="1847850"/>
            <a:ext cx="71056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F1F8BF8-7BDE-438E-A9C9-453896795693}"/>
              </a:ext>
            </a:extLst>
          </p:cNvPr>
          <p:cNvSpPr>
            <a:spLocks noGrp="1"/>
          </p:cNvSpPr>
          <p:nvPr/>
        </p:nvSpPr>
        <p:spPr>
          <a:xfrm>
            <a:off x="4705350" y="1943100"/>
            <a:ext cx="6877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 — 사업 홍보 카드뉴스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EA864C-6680-4A40-AB86-2A7702FE98BF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5A71ED-A302-4130-B57A-655D8B6682EB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용도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75C8889-03CF-49DB-A50F-3046930B39F8}"/>
              </a:ext>
            </a:extLst>
          </p:cNvPr>
          <p:cNvSpPr>
            <a:spLocks noGrp="1"/>
          </p:cNvSpPr>
          <p:nvPr/>
        </p:nvSpPr>
        <p:spPr>
          <a:xfrm>
            <a:off x="1733550" y="24384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5828ECB-E42F-4352-81D7-4EC41FCADABC}"/>
              </a:ext>
            </a:extLst>
          </p:cNvPr>
          <p:cNvSpPr>
            <a:spLocks noGrp="1"/>
          </p:cNvSpPr>
          <p:nvPr/>
        </p:nvSpPr>
        <p:spPr>
          <a:xfrm>
            <a:off x="1847850" y="25241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 그림을 어디에 쓸 것인가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FDDAB35-0EB4-481A-9A4F-05648D710824}"/>
              </a:ext>
            </a:extLst>
          </p:cNvPr>
          <p:cNvSpPr>
            <a:spLocks noGrp="1"/>
          </p:cNvSpPr>
          <p:nvPr/>
        </p:nvSpPr>
        <p:spPr>
          <a:xfrm>
            <a:off x="4591050" y="24384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5E6421-161D-4CD6-9A22-2E83A1D2A228}"/>
              </a:ext>
            </a:extLst>
          </p:cNvPr>
          <p:cNvSpPr>
            <a:spLocks noGrp="1"/>
          </p:cNvSpPr>
          <p:nvPr/>
        </p:nvSpPr>
        <p:spPr>
          <a:xfrm>
            <a:off x="4705350" y="25241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교육지원청 사업 홍보 카드뉴스 1장, 인스타그램 게시용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7712B3-04FA-4C30-BF7C-15C501B5302B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238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FEDFB25-64D7-4ADF-BF6A-56D99A01829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장면·배경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7CB2920-9728-4E0D-8D9C-86EB3302EC40}"/>
              </a:ext>
            </a:extLst>
          </p:cNvPr>
          <p:cNvSpPr>
            <a:spLocks noGrp="1"/>
          </p:cNvSpPr>
          <p:nvPr/>
        </p:nvSpPr>
        <p:spPr>
          <a:xfrm>
            <a:off x="1733550" y="3028950"/>
            <a:ext cx="2857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C22327-FAAB-4E92-857A-5192DB81D12D}"/>
              </a:ext>
            </a:extLst>
          </p:cNvPr>
          <p:cNvSpPr>
            <a:spLocks noGrp="1"/>
          </p:cNvSpPr>
          <p:nvPr/>
        </p:nvSpPr>
        <p:spPr>
          <a:xfrm>
            <a:off x="1847850" y="31146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어디서, 언제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6D114DE-E3CC-480B-9E6F-3E9B1F001194}"/>
              </a:ext>
            </a:extLst>
          </p:cNvPr>
          <p:cNvSpPr>
            <a:spLocks noGrp="1"/>
          </p:cNvSpPr>
          <p:nvPr/>
        </p:nvSpPr>
        <p:spPr>
          <a:xfrm>
            <a:off x="4591050" y="3028950"/>
            <a:ext cx="71056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3AD4B3E-E9FC-43CC-9C84-63616144FB67}"/>
              </a:ext>
            </a:extLst>
          </p:cNvPr>
          <p:cNvSpPr>
            <a:spLocks noGrp="1"/>
          </p:cNvSpPr>
          <p:nvPr/>
        </p:nvSpPr>
        <p:spPr>
          <a:xfrm>
            <a:off x="4705350" y="311467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창가에 햇살이 드는 교실, 늦은 오전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584073-9BA1-413D-8793-3C4084FBEBC1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37D44BE-B39E-4162-9C36-A641E16AA10E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③ 주제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59D7A2C-F64A-4248-B281-CDF072BCD15F}"/>
              </a:ext>
            </a:extLst>
          </p:cNvPr>
          <p:cNvSpPr>
            <a:spLocks noGrp="1"/>
          </p:cNvSpPr>
          <p:nvPr/>
        </p:nvSpPr>
        <p:spPr>
          <a:xfrm>
            <a:off x="1733550" y="36195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F6CD776-6DAE-49E5-AFC6-9D42A2CED425}"/>
              </a:ext>
            </a:extLst>
          </p:cNvPr>
          <p:cNvSpPr>
            <a:spLocks noGrp="1"/>
          </p:cNvSpPr>
          <p:nvPr/>
        </p:nvSpPr>
        <p:spPr>
          <a:xfrm>
            <a:off x="1847850" y="37052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누가 · 무엇이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4501EFC-90FB-4056-9EA4-7FBDAC649454}"/>
              </a:ext>
            </a:extLst>
          </p:cNvPr>
          <p:cNvSpPr>
            <a:spLocks noGrp="1"/>
          </p:cNvSpPr>
          <p:nvPr/>
        </p:nvSpPr>
        <p:spPr>
          <a:xfrm>
            <a:off x="4591050" y="36195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3D9D920-7FF6-4FAB-9FCB-2595DCBAD6FA}"/>
              </a:ext>
            </a:extLst>
          </p:cNvPr>
          <p:cNvSpPr>
            <a:spLocks noGrp="1"/>
          </p:cNvSpPr>
          <p:nvPr/>
        </p:nvSpPr>
        <p:spPr>
          <a:xfrm>
            <a:off x="4705350" y="37052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초등학생 두 명이 수학 문제를 함께 푸는 모습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4EC0F20-DBE9-4988-842C-F41B9BD7260F}"/>
              </a:ext>
            </a:extLst>
          </p:cNvPr>
          <p:cNvSpPr>
            <a:spLocks noGrp="1"/>
          </p:cNvSpPr>
          <p:nvPr/>
        </p:nvSpPr>
        <p:spPr>
          <a:xfrm>
            <a:off x="495300" y="4210050"/>
            <a:ext cx="1238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215537A-AF3E-467D-956A-EC22BDD7BC18}"/>
              </a:ext>
            </a:extLst>
          </p:cNvPr>
          <p:cNvSpPr>
            <a:spLocks noGrp="1"/>
          </p:cNvSpPr>
          <p:nvPr/>
        </p:nvSpPr>
        <p:spPr>
          <a:xfrm>
            <a:off x="609600" y="4295775"/>
            <a:ext cx="1123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④ </a:t>
            </a:r>
            <a:r>
              <a:rPr sz="1400" b="1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핵심</a:t>
            </a:r>
            <a:r>
              <a:rPr sz="1400" b="1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1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디테일</a:t>
            </a:r>
            <a:endParaRPr sz="1400" b="1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16641A5-D601-4964-8711-35F78B40980F}"/>
              </a:ext>
            </a:extLst>
          </p:cNvPr>
          <p:cNvSpPr>
            <a:spLocks noGrp="1"/>
          </p:cNvSpPr>
          <p:nvPr/>
        </p:nvSpPr>
        <p:spPr>
          <a:xfrm>
            <a:off x="1733550" y="4210050"/>
            <a:ext cx="2857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2CE1E2-9D6A-4296-8361-A1D160B30AFA}"/>
              </a:ext>
            </a:extLst>
          </p:cNvPr>
          <p:cNvSpPr>
            <a:spLocks noGrp="1"/>
          </p:cNvSpPr>
          <p:nvPr/>
        </p:nvSpPr>
        <p:spPr>
          <a:xfrm>
            <a:off x="1847850" y="42957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꼭 지켜야 할 것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B1B0C6D-F9C6-41EC-87A0-0AACC29526C4}"/>
              </a:ext>
            </a:extLst>
          </p:cNvPr>
          <p:cNvSpPr>
            <a:spLocks noGrp="1"/>
          </p:cNvSpPr>
          <p:nvPr/>
        </p:nvSpPr>
        <p:spPr>
          <a:xfrm>
            <a:off x="4591050" y="4210050"/>
            <a:ext cx="71056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BFAA936-4CEB-48E7-BB63-2964D78397BA}"/>
              </a:ext>
            </a:extLst>
          </p:cNvPr>
          <p:cNvSpPr>
            <a:spLocks noGrp="1"/>
          </p:cNvSpPr>
          <p:nvPr/>
        </p:nvSpPr>
        <p:spPr>
          <a:xfrm>
            <a:off x="4705350" y="429577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인물은 하단 왼쪽, 오른쪽 상단은 글자 공간으로 비울 것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FE4C13A4-7A8F-4AF8-B48B-F0497332B10A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E39C6A9-A69B-4A33-A6AF-3AAD8E2233A0}"/>
              </a:ext>
            </a:extLst>
          </p:cNvPr>
          <p:cNvSpPr>
            <a:spLocks noGrp="1"/>
          </p:cNvSpPr>
          <p:nvPr/>
        </p:nvSpPr>
        <p:spPr>
          <a:xfrm>
            <a:off x="609600" y="48863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⑤ 제약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51C10C0-4A1C-4B36-9C9B-830BC5414EFB}"/>
              </a:ext>
            </a:extLst>
          </p:cNvPr>
          <p:cNvSpPr>
            <a:spLocks noGrp="1"/>
          </p:cNvSpPr>
          <p:nvPr/>
        </p:nvSpPr>
        <p:spPr>
          <a:xfrm>
            <a:off x="1733550" y="48006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EAB6228-CFBB-493B-AB7E-5A77923B2982}"/>
              </a:ext>
            </a:extLst>
          </p:cNvPr>
          <p:cNvSpPr>
            <a:spLocks noGrp="1"/>
          </p:cNvSpPr>
          <p:nvPr/>
        </p:nvSpPr>
        <p:spPr>
          <a:xfrm>
            <a:off x="1847850" y="48863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넣지 말 것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ECB1861-7F75-474B-AFE7-C0C2CF13C14A}"/>
              </a:ext>
            </a:extLst>
          </p:cNvPr>
          <p:cNvSpPr>
            <a:spLocks noGrp="1"/>
          </p:cNvSpPr>
          <p:nvPr/>
        </p:nvSpPr>
        <p:spPr>
          <a:xfrm>
            <a:off x="4591050" y="48006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7EB16B5-DB8F-401A-9AB0-433F0561CFE1}"/>
              </a:ext>
            </a:extLst>
          </p:cNvPr>
          <p:cNvSpPr>
            <a:spLocks noGrp="1"/>
          </p:cNvSpPr>
          <p:nvPr/>
        </p:nvSpPr>
        <p:spPr>
          <a:xfrm>
            <a:off x="4705350" y="48863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글자 없음, 워터마크 없음, 현대식 로고 없음</a:t>
            </a:r>
          </a:p>
        </p:txBody>
      </p:sp>
    </p:spTree>
    <p:extLst>
      <p:ext uri="{BB962C8B-B14F-4D97-AF65-F5344CB8AC3E}">
        <p14:creationId xmlns:p14="http://schemas.microsoft.com/office/powerpoint/2010/main" val="305481144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11B1C36-018C-4773-83E8-114CF80F7A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0734977-5C52-4CBA-B5AE-9F248E37BE4F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0F7C6F-483B-437D-A47A-3BF688BDCC6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FCFC6D-D971-4B67-AB24-76681AE862C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61D115-84FE-461D-886B-E3A6C6A1342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2D7694-8964-4E15-89D4-4E59F6689CFD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Google 공식 4대 원칙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461047B-8165-4C11-A85A-2F0D8E475E33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37AEEB-F9BE-4377-A217-81CF1E6C65B7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구체적으로 (Be specific) — 주체 · 조명 · 구도에 구체적 디테일을 준다.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2B46C9-2171-4BF6-B64F-2847836101BC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90D6B65-596A-4E41-82C9-DA8CBFD510D7}"/>
              </a:ext>
            </a:extLst>
          </p:cNvPr>
          <p:cNvSpPr>
            <a:spLocks noGrp="1"/>
          </p:cNvSpPr>
          <p:nvPr/>
        </p:nvSpPr>
        <p:spPr>
          <a:xfrm>
            <a:off x="1085850" y="260985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긍정형으로 (Use positive framing) — ❌ "차 없음"이 아니라 ✅ "텅 빈 거리"라고 쓴다.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E9F0E4-E27F-4655-A951-9292114447DA}"/>
              </a:ext>
            </a:extLst>
          </p:cNvPr>
          <p:cNvSpPr>
            <a:spLocks noGrp="1"/>
          </p:cNvSpPr>
          <p:nvPr/>
        </p:nvSpPr>
        <p:spPr>
          <a:xfrm>
            <a:off x="742950" y="3333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7D446D-E7A1-422F-B642-D192BC59296A}"/>
              </a:ext>
            </a:extLst>
          </p:cNvPr>
          <p:cNvSpPr>
            <a:spLocks noGrp="1"/>
          </p:cNvSpPr>
          <p:nvPr/>
        </p:nvSpPr>
        <p:spPr>
          <a:xfrm>
            <a:off x="1085850" y="33147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카메라를 통제 (Control the camera) — "낮은 각도에서", "위에서 내려다보는" 같은 촬영 용어를 쓴다.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945D9C4-BDAB-47C9-BA06-35ADDAE8C81C}"/>
              </a:ext>
            </a:extLst>
          </p:cNvPr>
          <p:cNvSpPr>
            <a:spLocks noGrp="1"/>
          </p:cNvSpPr>
          <p:nvPr/>
        </p:nvSpPr>
        <p:spPr>
          <a:xfrm>
            <a:off x="742950" y="40386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9402AE6-4209-4D20-8197-40C3D8EE7C39}"/>
              </a:ext>
            </a:extLst>
          </p:cNvPr>
          <p:cNvSpPr>
            <a:spLocks noGrp="1"/>
          </p:cNvSpPr>
          <p:nvPr/>
        </p:nvSpPr>
        <p:spPr>
          <a:xfrm>
            <a:off x="1085850" y="401955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대화하듯 다듬기 (Iterate) — 한 번에 완성하려 하지 말고 이어서 고쳐 나간다.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4CD620-C03F-4C0B-9DFA-FAA92002E235}"/>
              </a:ext>
            </a:extLst>
          </p:cNvPr>
          <p:cNvSpPr>
            <a:spLocks noGrp="1"/>
          </p:cNvSpPr>
          <p:nvPr/>
        </p:nvSpPr>
        <p:spPr>
          <a:xfrm>
            <a:off x="742950" y="47434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84C0B4C-5435-4BBF-BAE1-9246934AE46E}"/>
              </a:ext>
            </a:extLst>
          </p:cNvPr>
          <p:cNvSpPr>
            <a:spLocks noGrp="1"/>
          </p:cNvSpPr>
          <p:nvPr/>
        </p:nvSpPr>
        <p:spPr>
          <a:xfrm>
            <a:off x="1085850" y="47244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재질은 이름으로 — "정장 재킷"이 아니라 "네이비 트위드 재킷"이라고 쓴다.</a:t>
            </a:r>
          </a:p>
        </p:txBody>
      </p:sp>
    </p:spTree>
    <p:extLst>
      <p:ext uri="{BB962C8B-B14F-4D97-AF65-F5344CB8AC3E}">
        <p14:creationId xmlns:p14="http://schemas.microsoft.com/office/powerpoint/2010/main" val="1628652235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FD99F4D-B37D-4F08-AB10-122150073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2543D6-1A5F-4710-BF33-6948C8A9D667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DB75BC-2E5A-4584-A5F2-DC93F3F98219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D86B02D-90A1-44ED-AA5C-74C0F443F41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8BDA10-3349-40A0-9C8D-CB27DE042AD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요소 정리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0245" y="742950"/>
            <a:ext cx="9951509" cy="5600700"/>
          </a:xfrm>
          <a:prstGeom prst="roundRect">
            <a:avLst>
              <a:gd name="adj" fmla="val 2041"/>
            </a:avLst>
          </a:prstGeom>
        </p:spPr>
      </p:pic>
    </p:spTree>
    <p:extLst>
      <p:ext uri="{BB962C8B-B14F-4D97-AF65-F5344CB8AC3E}">
        <p14:creationId xmlns:p14="http://schemas.microsoft.com/office/powerpoint/2010/main" val="1336605302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CD1280B4-AFBA-425B-BC9D-A0FC25CB12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5796052-15F7-4F36-A403-25AEAF862B0A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B53635C-5090-4846-B509-74BCCE9CD546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8C2860-B2DA-4B72-A7D0-7AD0558FE0E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4DE509-F69A-4D13-A72D-AB625A4AEE0E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DF0A21-302F-49A2-A077-B7787521CEAC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카드뉴스 프롬프트 — 그대로 복사해 쓰십시오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F111EE5-7797-440C-8E61-E7DA6000BC45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D867450-9E18-454F-B123-E2C1BD94C6A2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용도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교육지원청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사업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홍보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카드뉴스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1장 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인스타그램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게시용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비율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4:5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세로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밝고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플랫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벡터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일러스트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질감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깔끔한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면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처리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6색,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채도는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낮게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주체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초등학생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두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수학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문제를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함께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웃고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있는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모습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창가에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햇살이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행동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풀이를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설명하고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확인하는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장면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구도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하단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왼쪽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오른쪽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상단에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텍스트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공간을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넓게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비워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둘 것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[텍스트] 다음 문구를 정확히 그대로 넣어줘.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제목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: "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수수춘천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"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수학이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으뜸인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춘천교육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굵은 고딕체로 읽기 쉽게 배치해줘.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워터마크·서명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현대식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로고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D5120F-39D1-4D5E-8359-AD0733705D3D}"/>
              </a:ext>
            </a:extLst>
          </p:cNvPr>
          <p:cNvSpPr>
            <a:spLocks noGrp="1"/>
          </p:cNvSpPr>
          <p:nvPr/>
        </p:nvSpPr>
        <p:spPr>
          <a:xfrm>
            <a:off x="495300" y="60960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한글이 깨지면 — Redo with Pro, 그래도 안 되면 글자 없이 만들고 파워포인트에서 얹으십시오.</a:t>
            </a:r>
          </a:p>
        </p:txBody>
      </p:sp>
    </p:spTree>
    <p:extLst>
      <p:ext uri="{BB962C8B-B14F-4D97-AF65-F5344CB8AC3E}">
        <p14:creationId xmlns:p14="http://schemas.microsoft.com/office/powerpoint/2010/main" val="1398541307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7B5648AC-1356-4857-84DC-6345A86A5C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5A46C2A-C512-4666-94AA-5A5B937999D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36CC45-57FE-4509-B591-181CC5878871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39A182-D263-4C37-81EA-9347EFC299B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64A29F-390D-4FE6-8656-C69D9A3BB34E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CONSISTENCY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C92177-7797-47AB-A327-FAB0E9B713E8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고정할 것과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바꿀 것을 나눕니다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46BD6FA-C28C-45C6-BBCD-7AB2877D1F21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그림체와 인물 서술은 복사·붙여넣기. 배경·행동·구도만 갈아끼웁니다.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925604-57A6-4F8B-85BF-DBBDE566A737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575016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E07EEA9-6A0E-4B33-95EC-30F6B9C2D3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7EF19DE-0610-464E-ABAD-F0CEE51FDFB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920EA84-1128-4F19-A670-2796E70B73F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DC64D3E-6FB5-4D65-9F49-68FA1300F578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ADD7B38-0353-4928-B882-2F1575A30497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일관성의 원리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4D6AD2B-208B-47C6-8230-2CD61D97669A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다섯 요소를 둘로 나눕니다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EE4170A-FF1B-4EB3-A62F-F6F17CD77629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8B3B8A7-DC5E-4F9E-985D-AA1C14000595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F3DED4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B28071-AE9E-4433-9EC4-D9E6366EAFE8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고정 — 한 글자도 바꾸지 않는다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20A255-C35B-402A-BD17-F205D664F5EE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그림체 (Style)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1D5859C-5BDA-4520-8EDC-4BC8B5C82590}"/>
              </a:ext>
            </a:extLst>
          </p:cNvPr>
          <p:cNvSpPr>
            <a:spLocks noGrp="1"/>
          </p:cNvSpPr>
          <p:nvPr/>
        </p:nvSpPr>
        <p:spPr>
          <a:xfrm>
            <a:off x="723900" y="32004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선·색·질감·조명·화면비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C3E7DE-FD06-40C0-9217-ED0BB592DABC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FB970-84CD-4ACD-8301-0DAFF98FDBB6}"/>
              </a:ext>
            </a:extLst>
          </p:cNvPr>
          <p:cNvSpPr>
            <a:spLocks noGrp="1"/>
          </p:cNvSpPr>
          <p:nvPr/>
        </p:nvSpPr>
        <p:spPr>
          <a:xfrm>
            <a:off x="723900" y="40386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인물·피사체 (Subject)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DC9FB0-06F5-4FDF-B9D5-261178F5E0E1}"/>
              </a:ext>
            </a:extLst>
          </p:cNvPr>
          <p:cNvSpPr>
            <a:spLocks noGrp="1"/>
          </p:cNvSpPr>
          <p:nvPr/>
        </p:nvSpPr>
        <p:spPr>
          <a:xfrm>
            <a:off x="723900" y="44577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얼굴·머리·옷·소품·인상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A3C41D-01ED-4961-B73B-A7B6AA14BA60}"/>
              </a:ext>
            </a:extLst>
          </p:cNvPr>
          <p:cNvSpPr>
            <a:spLocks noGrp="1"/>
          </p:cNvSpPr>
          <p:nvPr/>
        </p:nvSpPr>
        <p:spPr>
          <a:xfrm>
            <a:off x="723900" y="48768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6648A8-16FF-4DAE-9193-2CBF011EF068}"/>
              </a:ext>
            </a:extLst>
          </p:cNvPr>
          <p:cNvSpPr>
            <a:spLocks noGrp="1"/>
          </p:cNvSpPr>
          <p:nvPr/>
        </p:nvSpPr>
        <p:spPr>
          <a:xfrm>
            <a:off x="723900" y="52959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메모장에 저장해 두고 매 컷 복사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702597B-D7EB-4B94-AFCD-EE8B4816331C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2EC8D25B-AE62-4BAC-86A2-781AB058F079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4041D94-6FBD-4DC7-B7D7-61C8DB230CCD}"/>
              </a:ext>
            </a:extLst>
          </p:cNvPr>
          <p:cNvSpPr>
            <a:spLocks noGrp="1"/>
          </p:cNvSpPr>
          <p:nvPr/>
        </p:nvSpPr>
        <p:spPr>
          <a:xfrm>
            <a:off x="64008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교체 — 컷마다 이것만 바꾼다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474CA6-5016-4ABD-A43E-5A1EB8FA047C}"/>
              </a:ext>
            </a:extLst>
          </p:cNvPr>
          <p:cNvSpPr>
            <a:spLocks noGrp="1"/>
          </p:cNvSpPr>
          <p:nvPr/>
        </p:nvSpPr>
        <p:spPr>
          <a:xfrm>
            <a:off x="6400800" y="27813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배경 (Setting)  — 어디서, 언제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AB2E7C6-544E-4F51-ABAB-A59BFCFAF9A4}"/>
              </a:ext>
            </a:extLst>
          </p:cNvPr>
          <p:cNvSpPr>
            <a:spLocks noGrp="1"/>
          </p:cNvSpPr>
          <p:nvPr/>
        </p:nvSpPr>
        <p:spPr>
          <a:xfrm>
            <a:off x="6400800" y="32004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④ 행동 (Action)   — 무엇을 하는가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33229F7-C9C2-4D1F-B5F4-95870F2D4EC1}"/>
              </a:ext>
            </a:extLst>
          </p:cNvPr>
          <p:cNvSpPr>
            <a:spLocks noGrp="1"/>
          </p:cNvSpPr>
          <p:nvPr/>
        </p:nvSpPr>
        <p:spPr>
          <a:xfrm>
            <a:off x="6400800" y="36195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⑤ 구도 (Composition) — 어떻게 잡히는가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7EFB885-3DCE-4F1E-939B-BB53777A9E13}"/>
              </a:ext>
            </a:extLst>
          </p:cNvPr>
          <p:cNvSpPr>
            <a:spLocks noGrp="1"/>
          </p:cNvSpPr>
          <p:nvPr/>
        </p:nvSpPr>
        <p:spPr>
          <a:xfrm>
            <a:off x="6400800" y="40386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0AC1675-50DF-4EEE-B954-0CF4D9765403}"/>
              </a:ext>
            </a:extLst>
          </p:cNvPr>
          <p:cNvSpPr>
            <a:spLocks noGrp="1"/>
          </p:cNvSpPr>
          <p:nvPr/>
        </p:nvSpPr>
        <p:spPr>
          <a:xfrm>
            <a:off x="6400800" y="44577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인물이 안 나오는 컷(풍경·사물)에서는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4474C2D-3FA0-4CE8-978C-E83504AAE466}"/>
              </a:ext>
            </a:extLst>
          </p:cNvPr>
          <p:cNvSpPr>
            <a:spLocks noGrp="1"/>
          </p:cNvSpPr>
          <p:nvPr/>
        </p:nvSpPr>
        <p:spPr>
          <a:xfrm>
            <a:off x="6400800" y="48768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 블록만 빼면 됩니다.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BA70F4F-1416-4449-8C12-220794728815}"/>
              </a:ext>
            </a:extLst>
          </p:cNvPr>
          <p:cNvSpPr>
            <a:spLocks noGrp="1"/>
          </p:cNvSpPr>
          <p:nvPr/>
        </p:nvSpPr>
        <p:spPr>
          <a:xfrm>
            <a:off x="495300" y="5867400"/>
            <a:ext cx="11201400" cy="438150"/>
          </a:xfrm>
          <a:prstGeom prst="roundRect">
            <a:avLst>
              <a:gd name="adj" fmla="val 21739"/>
            </a:avLst>
          </a:prstGeom>
          <a:solidFill>
            <a:srgbClr val="E8E0D2"/>
          </a:solidFill>
          <a:ln w="0">
            <a:noFill/>
            <a:prstDash val="solid"/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1F0C92D-D5DC-419C-9B83-AEB72BCA43C9}"/>
              </a:ext>
            </a:extLst>
          </p:cNvPr>
          <p:cNvSpPr>
            <a:spLocks noGrp="1"/>
          </p:cNvSpPr>
          <p:nvPr/>
        </p:nvSpPr>
        <p:spPr>
          <a:xfrm>
            <a:off x="723900" y="5991225"/>
            <a:ext cx="1076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이 한 문장이 스토리보드 일관성의 전부입니다 — "그림체와 인물은 복사, 배경·행동·구도만 교체."</a:t>
            </a:r>
          </a:p>
        </p:txBody>
      </p:sp>
    </p:spTree>
    <p:extLst>
      <p:ext uri="{BB962C8B-B14F-4D97-AF65-F5344CB8AC3E}">
        <p14:creationId xmlns:p14="http://schemas.microsoft.com/office/powerpoint/2010/main" val="2074076285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7DAD4D6C-3FD2-4A2F-8262-5DA78349F8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8A2DCD-038A-4AC8-A8BF-CFE2F9AC54F1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21B6B2-A74D-4EE1-93BE-1D89B4E3ADD0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CB04E1-A21A-440C-8AD9-26C4C5C46A0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0CC951E-7FF1-44F2-93F1-B650D3020413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메모장에 저장할 것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3C95F4D-115E-43D6-B4D2-05570CB70181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스타일 블록 — 오늘 만들 가장 중요한 파일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0805BED-B34E-4C53-A546-CCB3B8918F2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A69A2F-8303-4288-8E09-FE94198400E3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바뀌어도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한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바꾸지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않는다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━━━━━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밝고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플랫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벡터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일러스트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굵고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깔끔한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짙은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갈색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외곽선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부드러운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2단계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그라데이션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색·빛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황토색·짙은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소나무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초록·차분한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벽돌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빨강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6색,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채도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낮게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빛은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왼쪽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위에서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부드럽게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질감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전체에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은은한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결.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4:5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오른쪽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상단에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여백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글자·워터마크·서명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끝 ━━━━━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※ 위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내용은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예시입니다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원하는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한 번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뒤,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메모장에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저장해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두고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매 컷 맨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앞에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붙여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넣습니다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1269B2-EC8E-4BDA-9AF9-5A489A567D3D}"/>
              </a:ext>
            </a:extLst>
          </p:cNvPr>
          <p:cNvSpPr>
            <a:spLocks noGrp="1"/>
          </p:cNvSpPr>
          <p:nvPr/>
        </p:nvSpPr>
        <p:spPr>
          <a:xfrm>
            <a:off x="495300" y="60960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매 컷 이 블록을 맨 앞에 붙이고, 그 아래에 배경·행동·구도만 바꿔 씁니다.</a:t>
            </a:r>
          </a:p>
        </p:txBody>
      </p:sp>
    </p:spTree>
    <p:extLst>
      <p:ext uri="{BB962C8B-B14F-4D97-AF65-F5344CB8AC3E}">
        <p14:creationId xmlns:p14="http://schemas.microsoft.com/office/powerpoint/2010/main" val="1471605622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598EDF19-DE5A-4E0D-832C-664708F5AF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12FCD2-5E15-4B11-8BD9-5AC0FD304CA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BED068-4026-46E1-8DFC-5EE512AB70E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1F877C2-6ACB-49F2-BE1A-C8D8FD51929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E4E6F26-33E2-4F21-92A9-D239D5F15379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5원칙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14FFC96-4241-43CE-91A7-520F197467DE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캐릭터 일관성 5원칙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8A4A3EB-0CBE-4E7D-9E9E-C2917BC0A65F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64181A-33A9-4437-81A5-11AC4286A752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이름을 붙인다 — "그 아이"가 아니라 "덕쇠". 고유명사가 없으면 매번 다른 사람이 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2E829CB-635B-412E-B4B7-D8D24077D6E1}"/>
              </a:ext>
            </a:extLst>
          </p:cNvPr>
          <p:cNvSpPr>
            <a:spLocks noGrp="1"/>
          </p:cNvSpPr>
          <p:nvPr/>
        </p:nvSpPr>
        <p:spPr>
          <a:xfrm>
            <a:off x="742950" y="25908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D122F9-7978-43A4-B05E-3D2A2C1063D8}"/>
              </a:ext>
            </a:extLst>
          </p:cNvPr>
          <p:cNvSpPr>
            <a:spLocks noGrp="1"/>
          </p:cNvSpPr>
          <p:nvPr/>
        </p:nvSpPr>
        <p:spPr>
          <a:xfrm>
            <a:off x="1085850" y="25717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같은 인물을 매번 다른 말로 묘사하지 않는다 — 인물 블록을 한 글자도 안 바꾸고 복사합니다.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352C91-2B36-445F-8EC5-EF7C6D1065C5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8FD917C-7F0F-4758-BDB0-29931A5CD3BC}"/>
              </a:ext>
            </a:extLst>
          </p:cNvPr>
          <p:cNvSpPr>
            <a:spLocks noGrp="1"/>
          </p:cNvSpPr>
          <p:nvPr/>
        </p:nvSpPr>
        <p:spPr>
          <a:xfrm>
            <a:off x="1085850" y="32385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기준 이미지(캐릭터 시트)를 먼저 만든다 — 이후 모든 컷이 이 한 장을 참조합니다.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730B4A0-109C-4F46-9B04-FEDC386CF66B}"/>
              </a:ext>
            </a:extLst>
          </p:cNvPr>
          <p:cNvSpPr>
            <a:spLocks noGrp="1"/>
          </p:cNvSpPr>
          <p:nvPr/>
        </p:nvSpPr>
        <p:spPr>
          <a:xfrm>
            <a:off x="742950" y="39243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E7935F-1DF0-4842-956D-B53044061D0C}"/>
              </a:ext>
            </a:extLst>
          </p:cNvPr>
          <p:cNvSpPr>
            <a:spLocks noGrp="1"/>
          </p:cNvSpPr>
          <p:nvPr/>
        </p:nvSpPr>
        <p:spPr>
          <a:xfrm>
            <a:off x="1085850" y="39052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한 장면을 고칠 땐 이어서, 다음 장면은 기준 그림부터 — 일관성은 대화 기억이 아니라 기준 그림이 지킵니다.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110026-FB27-484D-A578-C0FDA743E56A}"/>
              </a:ext>
            </a:extLst>
          </p:cNvPr>
          <p:cNvSpPr>
            <a:spLocks noGrp="1"/>
          </p:cNvSpPr>
          <p:nvPr/>
        </p:nvSpPr>
        <p:spPr>
          <a:xfrm>
            <a:off x="742950" y="4591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256BE7-0460-46BD-9907-51A8021EABAB}"/>
              </a:ext>
            </a:extLst>
          </p:cNvPr>
          <p:cNvSpPr>
            <a:spLocks noGrp="1"/>
          </p:cNvSpPr>
          <p:nvPr/>
        </p:nvSpPr>
        <p:spPr>
          <a:xfrm>
            <a:off x="1085850" y="4572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⑤ 부분 수정 시 "나머지는 그대로"를 반드시 붙인다 — 이 문장이 빠지면 전체를 다시 그립니다.</a:t>
            </a:r>
          </a:p>
        </p:txBody>
      </p:sp>
    </p:spTree>
    <p:extLst>
      <p:ext uri="{BB962C8B-B14F-4D97-AF65-F5344CB8AC3E}">
        <p14:creationId xmlns:p14="http://schemas.microsoft.com/office/powerpoint/2010/main" val="1924895420"/>
      </p:ext>
    </p:extLst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04C04EF-311B-4B36-8DDE-F83D309EA5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E0604E-9BC0-40B0-89A0-1F56C50666F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7B6BE4E-4EAE-4342-BA6D-EBA373C985A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9FFC1F-C021-4747-833F-EE5AB3E7369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18E581-0804-47B9-BD1C-1A3A7C7C1238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기준 이미지 조건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10A364-6F1A-41DB-A4D5-F0E399897645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기준 이미지가 갖춰야 할 네 가지 조건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427CB34-5CC2-40F7-ABD9-0B95048A6315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3810000" cy="6286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18F1B3-17BA-48C3-8DE8-8DAD5B4306B3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조건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1A61BB-9BAE-404C-87CF-B74863B41CF0}"/>
              </a:ext>
            </a:extLst>
          </p:cNvPr>
          <p:cNvSpPr>
            <a:spLocks noGrp="1"/>
          </p:cNvSpPr>
          <p:nvPr/>
        </p:nvSpPr>
        <p:spPr>
          <a:xfrm>
            <a:off x="4305300" y="1847850"/>
            <a:ext cx="6438900" cy="6286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E31031-4EDC-4C3A-AA8F-CF13065A8065}"/>
              </a:ext>
            </a:extLst>
          </p:cNvPr>
          <p:cNvSpPr>
            <a:spLocks noGrp="1"/>
          </p:cNvSpPr>
          <p:nvPr/>
        </p:nvSpPr>
        <p:spPr>
          <a:xfrm>
            <a:off x="4419600" y="1943100"/>
            <a:ext cx="6210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왜 필요한가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7D7ACBA-57CA-4728-BB71-A29D94557164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38100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22B81A9-7D4D-49FA-8ECE-C476EA90AD8A}"/>
              </a:ext>
            </a:extLst>
          </p:cNvPr>
          <p:cNvSpPr>
            <a:spLocks noGrp="1"/>
          </p:cNvSpPr>
          <p:nvPr/>
        </p:nvSpPr>
        <p:spPr>
          <a:xfrm>
            <a:off x="609600" y="256222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전신 (머리부터 발끝까지)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6B1E68-C7C6-449B-BFD5-D18AA1533416}"/>
              </a:ext>
            </a:extLst>
          </p:cNvPr>
          <p:cNvSpPr>
            <a:spLocks noGrp="1"/>
          </p:cNvSpPr>
          <p:nvPr/>
        </p:nvSpPr>
        <p:spPr>
          <a:xfrm>
            <a:off x="4305300" y="2476500"/>
            <a:ext cx="64389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B85778C-DB37-4ACE-B942-76204EF3958C}"/>
              </a:ext>
            </a:extLst>
          </p:cNvPr>
          <p:cNvSpPr>
            <a:spLocks noGrp="1"/>
          </p:cNvSpPr>
          <p:nvPr/>
        </p:nvSpPr>
        <p:spPr>
          <a:xfrm>
            <a:off x="4419600" y="256222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다양한 포즈·장면에서 전체 비율을 참조할 수 있음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34818E4-7F44-47CF-AF64-FEC49EE30045}"/>
              </a:ext>
            </a:extLst>
          </p:cNvPr>
          <p:cNvSpPr>
            <a:spLocks noGrp="1"/>
          </p:cNvSpPr>
          <p:nvPr/>
        </p:nvSpPr>
        <p:spPr>
          <a:xfrm>
            <a:off x="495300" y="3105150"/>
            <a:ext cx="38100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76C79F3-B634-48FA-BECF-742B20D6A590}"/>
              </a:ext>
            </a:extLst>
          </p:cNvPr>
          <p:cNvSpPr>
            <a:spLocks noGrp="1"/>
          </p:cNvSpPr>
          <p:nvPr/>
        </p:nvSpPr>
        <p:spPr>
          <a:xfrm>
            <a:off x="609600" y="319087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정면 응시, 중립적인 서 있는 포즈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427072-9674-40F3-B35D-005064C708F3}"/>
              </a:ext>
            </a:extLst>
          </p:cNvPr>
          <p:cNvSpPr>
            <a:spLocks noGrp="1"/>
          </p:cNvSpPr>
          <p:nvPr/>
        </p:nvSpPr>
        <p:spPr>
          <a:xfrm>
            <a:off x="4305300" y="3105150"/>
            <a:ext cx="64389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9A20FCA-CF35-40C2-922A-225B5AEA3B04}"/>
              </a:ext>
            </a:extLst>
          </p:cNvPr>
          <p:cNvSpPr>
            <a:spLocks noGrp="1"/>
          </p:cNvSpPr>
          <p:nvPr/>
        </p:nvSpPr>
        <p:spPr>
          <a:xfrm>
            <a:off x="4419600" y="319087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기본 외형을 가장 명확하게 파악함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9839D12-E664-41DF-92B5-6EB01258A70A}"/>
              </a:ext>
            </a:extLst>
          </p:cNvPr>
          <p:cNvSpPr>
            <a:spLocks noGrp="1"/>
          </p:cNvSpPr>
          <p:nvPr/>
        </p:nvSpPr>
        <p:spPr>
          <a:xfrm>
            <a:off x="495300" y="3733800"/>
            <a:ext cx="38100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7D36A98-C8F5-4B99-9224-400240E8FD4B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흰색 또는 단색 배경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38AD700-9A35-4152-8D0C-E92CBEA731A7}"/>
              </a:ext>
            </a:extLst>
          </p:cNvPr>
          <p:cNvSpPr>
            <a:spLocks noGrp="1"/>
          </p:cNvSpPr>
          <p:nvPr/>
        </p:nvSpPr>
        <p:spPr>
          <a:xfrm>
            <a:off x="4305300" y="3733800"/>
            <a:ext cx="64389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A1AB078-BC24-48AD-938E-2858F61B7E92}"/>
              </a:ext>
            </a:extLst>
          </p:cNvPr>
          <p:cNvSpPr>
            <a:spLocks noGrp="1"/>
          </p:cNvSpPr>
          <p:nvPr/>
        </p:nvSpPr>
        <p:spPr>
          <a:xfrm>
            <a:off x="4419600" y="381952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실루엣이 명확해야 이후 장면에서 정확히 인식됨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EE993C-4436-4FFE-BE22-18C9D6A6BC0C}"/>
              </a:ext>
            </a:extLst>
          </p:cNvPr>
          <p:cNvSpPr>
            <a:spLocks noGrp="1"/>
          </p:cNvSpPr>
          <p:nvPr/>
        </p:nvSpPr>
        <p:spPr>
          <a:xfrm>
            <a:off x="495300" y="4362450"/>
            <a:ext cx="38100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FBD450D-D75E-48DF-A688-4029736C1731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중립적인 표정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BBD4DE9-F47E-421C-AEEA-BBEB57E4DCB5}"/>
              </a:ext>
            </a:extLst>
          </p:cNvPr>
          <p:cNvSpPr>
            <a:spLocks noGrp="1"/>
          </p:cNvSpPr>
          <p:nvPr/>
        </p:nvSpPr>
        <p:spPr>
          <a:xfrm>
            <a:off x="4305300" y="4362450"/>
            <a:ext cx="64389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388319F-FA08-40F4-9E31-0635BD1B95DF}"/>
              </a:ext>
            </a:extLst>
          </p:cNvPr>
          <p:cNvSpPr>
            <a:spLocks noGrp="1"/>
          </p:cNvSpPr>
          <p:nvPr/>
        </p:nvSpPr>
        <p:spPr>
          <a:xfrm>
            <a:off x="4419600" y="444817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장면에서 다양한 감정으로 변형하기 쉬움</a:t>
            </a:r>
          </a:p>
        </p:txBody>
      </p:sp>
    </p:spTree>
    <p:extLst>
      <p:ext uri="{BB962C8B-B14F-4D97-AF65-F5344CB8AC3E}">
        <p14:creationId xmlns:p14="http://schemas.microsoft.com/office/powerpoint/2010/main" val="1992266918"/>
      </p:ext>
    </p:extLst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8A39D1-8359-4151-9F94-1949A381AC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3B4DEB-4196-40B6-AF65-3F2E8B34F03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C17C686-D60C-4165-8C9E-6FE048199727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9DE467-C095-483E-B32D-55A6CAB98C3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2C5D293-7DFD-4FEE-9DD5-944319D7872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실전 절차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9B651D1-8298-4ED4-9B43-6BA327AC270A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기준 이미지 만들기 — 후보 그리드로 좁혀 갑니다 (3단계)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09141E4-C0A8-4538-BFA6-47D9AA23641B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C86FF58-9AE4-47CB-ADEB-4DAAFB27615B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1단계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후보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6개를 한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첨부한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이름] 캐릭터 기준 이미지를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 확연히 다른 후보 6개로, 2x3 그리드로 보여줘.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다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보이게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정면을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선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포즈로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표정으로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각 칸 위쪽 모서리에 1~6 번호를 작게 붙여줘. 번호는 몸에 겹치지 않게.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2단계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하나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뒤 더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좁히기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후보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중 3번이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마음에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들어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3번을 기준으로, 같은 캐릭터를 유지하면서 세부만 조금씩 다른 후보 3개를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얼굴·체형·의상은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그대로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디테일만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변형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3단계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단일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고화질로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칸을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잘라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첨부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 캐릭터를 번호·라벨 없이 단일 고화질 이미지로 다시 그려줘.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포즈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표정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0534056"/>
      </p:ext>
    </p:extLst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A4CD85E0-87D0-4B12-B66D-77FE066010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915A8C-03A1-410E-879A-4F5A362FE463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E51E6A-507F-4DA0-841D-5668F432017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9E83AF9-379F-466D-A581-670B349B156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2A9226-C348-48A9-8C15-195EB27C2B8C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69ECE0-2A96-40E5-B545-AE0EDCD93B1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다중 이미지 참조 — 라벨을 붙여야 섞이지 않습니다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50415BD-C5B6-439C-8422-88CCAA6FFE78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2DDD127-776D-4A26-8DED-860D77C32EDF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패턴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A ·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역할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라벨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가장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안전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첫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두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장소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기준]의 인물이 [장소 기준]의 건물 앞에 서 있는 새 이미지를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따라줘.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패턴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B ·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고유명사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라벨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여러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만들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때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최적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민호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장소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 5 :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햇살이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교실에서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민호가</a:t>
            </a:r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함께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문제를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바라본다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지우와 민호는 각자의 기준 이미지와 똑같이 유지해줘.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가슴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위가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보이는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크기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눈높이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각도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4:5.</a:t>
            </a:r>
          </a:p>
        </p:txBody>
      </p:sp>
    </p:spTree>
    <p:extLst>
      <p:ext uri="{BB962C8B-B14F-4D97-AF65-F5344CB8AC3E}">
        <p14:creationId xmlns:p14="http://schemas.microsoft.com/office/powerpoint/2010/main" val="1274200471"/>
      </p:ext>
    </p:extLst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E6E97C2A-5FE4-440B-A6BD-FB5F8F16B5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08D88C-C514-4466-A3B9-5D27913785D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7184189-A3D9-44B4-8716-14EEDDDBD6A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00D25B-F9E5-4868-AA65-6BA173BF2F1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1BD233C-0754-4590-B05C-25B7302A57E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1201400" cy="590550"/>
          </a:xfrm>
          <a:prstGeom prst="roundRect">
            <a:avLst>
              <a:gd name="adj" fmla="val 19355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65511B-82F2-44FB-BEB0-C630B2AFCF01}"/>
              </a:ext>
            </a:extLst>
          </p:cNvPr>
          <p:cNvSpPr>
            <a:spLocks noGrp="1"/>
          </p:cNvSpPr>
          <p:nvPr/>
        </p:nvSpPr>
        <p:spPr>
          <a:xfrm>
            <a:off x="723900" y="6286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8-A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E649FA2-DE68-4E49-86DA-9272A23D0621}"/>
              </a:ext>
            </a:extLst>
          </p:cNvPr>
          <p:cNvSpPr>
            <a:spLocks noGrp="1"/>
          </p:cNvSpPr>
          <p:nvPr/>
        </p:nvSpPr>
        <p:spPr>
          <a:xfrm>
            <a:off x="10096500" y="6477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BDA05D-25DD-48F3-B694-8E76DC12BEF2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사업 홍보 카드뉴스 3장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F1F32C-A38C-4ABA-BBA8-E5E5B367765C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1201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화풍이 일관된 카드뉴스 3장 만들기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31843B1-BCAA-47C6-834C-BDE325CFFB58}"/>
              </a:ext>
            </a:extLst>
          </p:cNvPr>
          <p:cNvSpPr>
            <a:spLocks noGrp="1"/>
          </p:cNvSpPr>
          <p:nvPr/>
        </p:nvSpPr>
        <p:spPr>
          <a:xfrm>
            <a:off x="495300" y="2286000"/>
            <a:ext cx="7239000" cy="3143250"/>
          </a:xfrm>
          <a:prstGeom prst="roundRect">
            <a:avLst>
              <a:gd name="adj" fmla="val 3636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8DD714-E429-4737-9A4B-74E1C78E04C1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CF2242-C8D0-4096-B2DD-CB59233A0DAB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담당 사업 하나를 고릅니다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C08C3C7-9345-49FA-A015-AC9E60082187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스타일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블록을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먼저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정해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메모장에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저장합니다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←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이걸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건너뛰면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3장이 다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달라집니다</a:t>
            </a:r>
            <a:endParaRPr sz="1275" b="0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B2405E-D649-4192-B450-4B0AF65AD477}"/>
              </a:ext>
            </a:extLst>
          </p:cNvPr>
          <p:cNvSpPr>
            <a:spLocks noGrp="1"/>
          </p:cNvSpPr>
          <p:nvPr/>
        </p:nvSpPr>
        <p:spPr>
          <a:xfrm>
            <a:off x="742950" y="36576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1장을 만들고 결과를 확인합니다 (이게 스타일 기준 이미지가 됩니다)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CFC191-5D32-4E03-9EC5-A9FFBB9E8EC4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같은 스타일 블록을 붙여 2·3장을 만듭니다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7120A10-4464-473A-9D05-84D479D1A403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글자가 깨지면 Redo with Pro 또는 글자 분리 제작으로 해결합니다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B7AB779-8243-44E4-A837-303226F55C94}"/>
              </a:ext>
            </a:extLst>
          </p:cNvPr>
          <p:cNvSpPr>
            <a:spLocks noGrp="1"/>
          </p:cNvSpPr>
          <p:nvPr/>
        </p:nvSpPr>
        <p:spPr>
          <a:xfrm>
            <a:off x="742950" y="49149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세 장을 나란히 놓고 화풍이 같은지 확인합니다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45471D9-3D7E-412D-BE5C-EAEEA4DE115E}"/>
              </a:ext>
            </a:extLst>
          </p:cNvPr>
          <p:cNvSpPr>
            <a:spLocks noGrp="1"/>
          </p:cNvSpPr>
          <p:nvPr/>
        </p:nvSpPr>
        <p:spPr>
          <a:xfrm>
            <a:off x="8001000" y="2286000"/>
            <a:ext cx="3695700" cy="3143250"/>
          </a:xfrm>
          <a:prstGeom prst="roundRect">
            <a:avLst>
              <a:gd name="adj" fmla="val 3636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E00AFA3-5995-4CB7-B88A-CB15A7AD990E}"/>
              </a:ext>
            </a:extLst>
          </p:cNvPr>
          <p:cNvSpPr>
            <a:spLocks noGrp="1"/>
          </p:cNvSpPr>
          <p:nvPr/>
        </p:nvSpPr>
        <p:spPr>
          <a:xfrm>
            <a:off x="8248650" y="2476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088CD9-0146-4D41-87B4-05086C131C3A}"/>
              </a:ext>
            </a:extLst>
          </p:cNvPr>
          <p:cNvSpPr>
            <a:spLocks noGrp="1"/>
          </p:cNvSpPr>
          <p:nvPr/>
        </p:nvSpPr>
        <p:spPr>
          <a:xfrm>
            <a:off x="8248650" y="2819400"/>
            <a:ext cx="32004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카드뉴스 3장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3312A80-AF42-4FE3-AA24-B73C03C0743B}"/>
              </a:ext>
            </a:extLst>
          </p:cNvPr>
          <p:cNvSpPr>
            <a:spLocks noGrp="1"/>
          </p:cNvSpPr>
          <p:nvPr/>
        </p:nvSpPr>
        <p:spPr>
          <a:xfrm>
            <a:off x="8248650" y="4476750"/>
            <a:ext cx="3200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완성한 카드뉴스 3장을 실습 가이드 게시판에 '실습 8-A'로 올립니다.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EADD0D8-AAB1-4D69-8CF2-03C1E50FE90B}"/>
              </a:ext>
            </a:extLst>
          </p:cNvPr>
          <p:cNvSpPr>
            <a:spLocks noGrp="1"/>
          </p:cNvSpPr>
          <p:nvPr/>
        </p:nvSpPr>
        <p:spPr>
          <a:xfrm>
            <a:off x="495300" y="56769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645198881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26058EB-F166-468B-94A6-D7AB42F3CD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5D64CC-760F-4B57-83B9-695B31EA6500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23B7E5F-EC07-4FB7-91C5-94F0B0369D51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7FFB92-04DD-43C7-A2F9-57926F039C0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1869CE-6341-40F4-AA08-69563AEA5349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IMAGE → VIDEO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64501BC-C595-4DBD-B35A-829AFB6198F9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이미지를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영상으로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A9AA33-3266-44CC-BAA3-B5A27BE7E189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완성한 그림이 첫 프레임이 됩니다. 프롬프트에는 「움직임」만 씁니다.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92E5542-A1B8-4946-B04D-17864EC300DC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6927498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1F16157A-3D51-4D04-82D3-405CA34FF4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551CFA-85E1-4979-A3DE-EDDE7AC7578C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4BE0CF-9BE5-4214-A990-DC19411C975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DF9540-5CB0-4602-AE25-B6FC29DCD5B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0841C3-148A-4846-971B-5382C2460FF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스토리 설계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DE1D75-DD42-4171-A6FD-A1535B4D58E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3컷이면 이야기가 됩니다 — 홍보 스토리 골격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A378E78-A552-40A5-B7EC-4D1FA1AE84E0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333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28F8C1-5385-4719-A556-D90BF8CFC8D0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104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컷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D80386-C743-4FF7-B585-1294F0D2A248}"/>
              </a:ext>
            </a:extLst>
          </p:cNvPr>
          <p:cNvSpPr>
            <a:spLocks noGrp="1"/>
          </p:cNvSpPr>
          <p:nvPr/>
        </p:nvSpPr>
        <p:spPr>
          <a:xfrm>
            <a:off x="1828800" y="1847850"/>
            <a:ext cx="3143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20742-8801-4FA3-AA99-B19358FF4094}"/>
              </a:ext>
            </a:extLst>
          </p:cNvPr>
          <p:cNvSpPr>
            <a:spLocks noGrp="1"/>
          </p:cNvSpPr>
          <p:nvPr/>
        </p:nvSpPr>
        <p:spPr>
          <a:xfrm>
            <a:off x="1943100" y="1943100"/>
            <a:ext cx="2914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보여 주나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CB75BF-A0BA-4817-9C46-EB411C2FF5DD}"/>
              </a:ext>
            </a:extLst>
          </p:cNvPr>
          <p:cNvSpPr>
            <a:spLocks noGrp="1"/>
          </p:cNvSpPr>
          <p:nvPr/>
        </p:nvSpPr>
        <p:spPr>
          <a:xfrm>
            <a:off x="4972050" y="1847850"/>
            <a:ext cx="41910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8CBC12-0686-4CE6-94F0-98AAC91902D0}"/>
              </a:ext>
            </a:extLst>
          </p:cNvPr>
          <p:cNvSpPr>
            <a:spLocks noGrp="1"/>
          </p:cNvSpPr>
          <p:nvPr/>
        </p:nvSpPr>
        <p:spPr>
          <a:xfrm>
            <a:off x="5086350" y="1943100"/>
            <a:ext cx="3962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자막 (이 한 줄이 대본입니다)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371473-7882-4EB9-9973-7A9B8AD2B567}"/>
              </a:ext>
            </a:extLst>
          </p:cNvPr>
          <p:cNvSpPr>
            <a:spLocks noGrp="1"/>
          </p:cNvSpPr>
          <p:nvPr/>
        </p:nvSpPr>
        <p:spPr>
          <a:xfrm>
            <a:off x="9163050" y="1847850"/>
            <a:ext cx="15811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216D42-4F2A-44F5-80C9-31BF9FB3040D}"/>
              </a:ext>
            </a:extLst>
          </p:cNvPr>
          <p:cNvSpPr>
            <a:spLocks noGrp="1"/>
          </p:cNvSpPr>
          <p:nvPr/>
        </p:nvSpPr>
        <p:spPr>
          <a:xfrm>
            <a:off x="9277350" y="1943100"/>
            <a:ext cx="1352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성공률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6DA85EE-C329-4E4D-829C-2896158BA000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F4BB03-4D98-473B-828D-85FF4FA737A3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425419-6057-43B3-9C32-219468AC7419}"/>
              </a:ext>
            </a:extLst>
          </p:cNvPr>
          <p:cNvSpPr>
            <a:spLocks noGrp="1"/>
          </p:cNvSpPr>
          <p:nvPr/>
        </p:nvSpPr>
        <p:spPr>
          <a:xfrm>
            <a:off x="1828800" y="24384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84C3C7-ADE6-42B6-8D3A-ECE4086E2727}"/>
              </a:ext>
            </a:extLst>
          </p:cNvPr>
          <p:cNvSpPr>
            <a:spLocks noGrp="1"/>
          </p:cNvSpPr>
          <p:nvPr/>
        </p:nvSpPr>
        <p:spPr>
          <a:xfrm>
            <a:off x="1943100" y="25241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사람 없이 — 문제 상황을 사물 하나로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C003F7-37AF-4961-B9D7-F624381DB7C0}"/>
              </a:ext>
            </a:extLst>
          </p:cNvPr>
          <p:cNvSpPr>
            <a:spLocks noGrp="1"/>
          </p:cNvSpPr>
          <p:nvPr/>
        </p:nvSpPr>
        <p:spPr>
          <a:xfrm>
            <a:off x="4972050" y="24384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69E1B0-77BA-4562-9970-45B2FA5CDD51}"/>
              </a:ext>
            </a:extLst>
          </p:cNvPr>
          <p:cNvSpPr>
            <a:spLocks noGrp="1"/>
          </p:cNvSpPr>
          <p:nvPr/>
        </p:nvSpPr>
        <p:spPr>
          <a:xfrm>
            <a:off x="5086350" y="25241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"◯◯◯이 없었습니다."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27319D6-FE62-45B0-A636-3F03A23D299D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159C14-3B3B-4B07-9827-66E6244800F7}"/>
              </a:ext>
            </a:extLst>
          </p:cNvPr>
          <p:cNvSpPr>
            <a:spLocks noGrp="1"/>
          </p:cNvSpPr>
          <p:nvPr/>
        </p:nvSpPr>
        <p:spPr>
          <a:xfrm>
            <a:off x="9277350" y="25241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51268-A1DE-49D4-AF0F-2741B83E5D8F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333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BE1FF5-B3CD-4C89-9839-D371F0E0657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전환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BE9594-C262-43BB-BF8D-C97B2039D7C5}"/>
              </a:ext>
            </a:extLst>
          </p:cNvPr>
          <p:cNvSpPr>
            <a:spLocks noGrp="1"/>
          </p:cNvSpPr>
          <p:nvPr/>
        </p:nvSpPr>
        <p:spPr>
          <a:xfrm>
            <a:off x="1828800" y="3028950"/>
            <a:ext cx="3143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1AF2AD-6226-490F-AD3C-D479A83D35EF}"/>
              </a:ext>
            </a:extLst>
          </p:cNvPr>
          <p:cNvSpPr>
            <a:spLocks noGrp="1"/>
          </p:cNvSpPr>
          <p:nvPr/>
        </p:nvSpPr>
        <p:spPr>
          <a:xfrm>
            <a:off x="1943100" y="311467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한 명만 — 결심하는 얼굴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94C5EA-B542-4B1D-9974-B5BACB9C5456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41910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10B4DE-B429-4846-A911-61B5BCC09160}"/>
              </a:ext>
            </a:extLst>
          </p:cNvPr>
          <p:cNvSpPr>
            <a:spLocks noGrp="1"/>
          </p:cNvSpPr>
          <p:nvPr/>
        </p:nvSpPr>
        <p:spPr>
          <a:xfrm>
            <a:off x="5086350" y="311467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"그래서 ◯◯이 나섰습니다."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F7C1B67-1AB7-443C-9F74-20F731ACAB26}"/>
              </a:ext>
            </a:extLst>
          </p:cNvPr>
          <p:cNvSpPr>
            <a:spLocks noGrp="1"/>
          </p:cNvSpPr>
          <p:nvPr/>
        </p:nvSpPr>
        <p:spPr>
          <a:xfrm>
            <a:off x="9163050" y="3028950"/>
            <a:ext cx="15811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2A303E-7342-4A09-9D9A-023806BFDE76}"/>
              </a:ext>
            </a:extLst>
          </p:cNvPr>
          <p:cNvSpPr>
            <a:spLocks noGrp="1"/>
          </p:cNvSpPr>
          <p:nvPr/>
        </p:nvSpPr>
        <p:spPr>
          <a:xfrm>
            <a:off x="9277350" y="311467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AA2A402-7035-4CC8-ACC2-0ED5E2B4419D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FFDE13A-7E23-4CBA-942D-AAB2C51CE110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③ 여운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CB1EE4E-962E-4B6F-B11B-F80DCC455A23}"/>
              </a:ext>
            </a:extLst>
          </p:cNvPr>
          <p:cNvSpPr>
            <a:spLocks noGrp="1"/>
          </p:cNvSpPr>
          <p:nvPr/>
        </p:nvSpPr>
        <p:spPr>
          <a:xfrm>
            <a:off x="1828800" y="36195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6C5D811-C796-4F96-BBE2-7EC6C8702EBC}"/>
              </a:ext>
            </a:extLst>
          </p:cNvPr>
          <p:cNvSpPr>
            <a:spLocks noGrp="1"/>
          </p:cNvSpPr>
          <p:nvPr/>
        </p:nvSpPr>
        <p:spPr>
          <a:xfrm>
            <a:off x="1943100" y="37052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사람 없이 — 달라진 풍경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BF6EE42-2342-403E-ADD4-35FB636D361A}"/>
              </a:ext>
            </a:extLst>
          </p:cNvPr>
          <p:cNvSpPr>
            <a:spLocks noGrp="1"/>
          </p:cNvSpPr>
          <p:nvPr/>
        </p:nvSpPr>
        <p:spPr>
          <a:xfrm>
            <a:off x="4972050" y="36195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6B8B485-5AB2-4184-9655-98B579A985F5}"/>
              </a:ext>
            </a:extLst>
          </p:cNvPr>
          <p:cNvSpPr>
            <a:spLocks noGrp="1"/>
          </p:cNvSpPr>
          <p:nvPr/>
        </p:nvSpPr>
        <p:spPr>
          <a:xfrm>
            <a:off x="5086350" y="37052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"이제 ◯◯이 달라집니다."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2EF193-A368-4636-9C24-C9243638462F}"/>
              </a:ext>
            </a:extLst>
          </p:cNvPr>
          <p:cNvSpPr>
            <a:spLocks noGrp="1"/>
          </p:cNvSpPr>
          <p:nvPr/>
        </p:nvSpPr>
        <p:spPr>
          <a:xfrm>
            <a:off x="9163050" y="36195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B35D7E-8376-405B-83E9-6B2DFE21D7FE}"/>
              </a:ext>
            </a:extLst>
          </p:cNvPr>
          <p:cNvSpPr>
            <a:spLocks noGrp="1"/>
          </p:cNvSpPr>
          <p:nvPr/>
        </p:nvSpPr>
        <p:spPr>
          <a:xfrm>
            <a:off x="9277350" y="37052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</p:spTree>
    <p:extLst>
      <p:ext uri="{BB962C8B-B14F-4D97-AF65-F5344CB8AC3E}">
        <p14:creationId xmlns:p14="http://schemas.microsoft.com/office/powerpoint/2010/main" val="1736427543"/>
      </p:ext>
    </p:extLst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E99FD955-94EC-43EC-A1D9-7790751E17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A6E4DC3-C79F-4922-82EF-A4EF3368664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88B9E82-9D7C-4EFC-AC79-F607E72DD950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60C08A-B62A-4269-8536-21651B40E4C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8FB423-A77C-4683-9CE4-489A91B12952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도구 정리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EA6A6C-647B-40C9-BB1F-AA8A6B9DEB88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도구 지형도 — 무엇을 어디서 만드나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135F517-360F-4D66-ADB7-61EF91A4949A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24765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AEAA1C-EB8A-4D16-B408-5FE5FB301D58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2247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도구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84B9673-BD32-4976-9BB7-F342D2802299}"/>
              </a:ext>
            </a:extLst>
          </p:cNvPr>
          <p:cNvSpPr>
            <a:spLocks noGrp="1"/>
          </p:cNvSpPr>
          <p:nvPr/>
        </p:nvSpPr>
        <p:spPr>
          <a:xfrm>
            <a:off x="2971800" y="1847850"/>
            <a:ext cx="41910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0A1AF60-583E-4326-8F4F-A85003A22DF0}"/>
              </a:ext>
            </a:extLst>
          </p:cNvPr>
          <p:cNvSpPr>
            <a:spLocks noGrp="1"/>
          </p:cNvSpPr>
          <p:nvPr/>
        </p:nvSpPr>
        <p:spPr>
          <a:xfrm>
            <a:off x="3086100" y="1943100"/>
            <a:ext cx="3962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하나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D35DE7-5894-48DA-9F48-A7B623A84339}"/>
              </a:ext>
            </a:extLst>
          </p:cNvPr>
          <p:cNvSpPr>
            <a:spLocks noGrp="1"/>
          </p:cNvSpPr>
          <p:nvPr/>
        </p:nvSpPr>
        <p:spPr>
          <a:xfrm>
            <a:off x="7162800" y="1847850"/>
            <a:ext cx="35814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57CAE2-2989-4F18-88D3-302B99C1D458}"/>
              </a:ext>
            </a:extLst>
          </p:cNvPr>
          <p:cNvSpPr>
            <a:spLocks noGrp="1"/>
          </p:cNvSpPr>
          <p:nvPr/>
        </p:nvSpPr>
        <p:spPr>
          <a:xfrm>
            <a:off x="7277100" y="1943100"/>
            <a:ext cx="3352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오늘의 용도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BA45CF-E409-495F-9583-72A6D1E9381C}"/>
              </a:ext>
            </a:extLst>
          </p:cNvPr>
          <p:cNvSpPr>
            <a:spLocks noGrp="1"/>
          </p:cNvSpPr>
          <p:nvPr/>
        </p:nvSpPr>
        <p:spPr>
          <a:xfrm>
            <a:off x="495300" y="24003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92A66B-CFD9-4DCE-A426-3CC6E29E72AC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Gemini 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2298D5-DA89-46DF-A700-107B6625CFF6}"/>
              </a:ext>
            </a:extLst>
          </p:cNvPr>
          <p:cNvSpPr>
            <a:spLocks noGrp="1"/>
          </p:cNvSpPr>
          <p:nvPr/>
        </p:nvSpPr>
        <p:spPr>
          <a:xfrm>
            <a:off x="2971800" y="24003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FD1C26-D820-4D78-893A-8F243CE57B29}"/>
              </a:ext>
            </a:extLst>
          </p:cNvPr>
          <p:cNvSpPr>
            <a:spLocks noGrp="1"/>
          </p:cNvSpPr>
          <p:nvPr/>
        </p:nvSpPr>
        <p:spPr>
          <a:xfrm>
            <a:off x="3086100" y="24860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이미지 생성 · 짧은 영상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2D9A4-2DED-44CC-9184-B90C58993B9A}"/>
              </a:ext>
            </a:extLst>
          </p:cNvPr>
          <p:cNvSpPr>
            <a:spLocks noGrp="1"/>
          </p:cNvSpPr>
          <p:nvPr/>
        </p:nvSpPr>
        <p:spPr>
          <a:xfrm>
            <a:off x="7162800" y="24003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554F06D-48B8-4D3F-B09E-D1F06A44C6F7}"/>
              </a:ext>
            </a:extLst>
          </p:cNvPr>
          <p:cNvSpPr>
            <a:spLocks noGrp="1"/>
          </p:cNvSpPr>
          <p:nvPr/>
        </p:nvSpPr>
        <p:spPr>
          <a:xfrm>
            <a:off x="7277100" y="24860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카드뉴스 · 간단한 움직임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C3064F3-BDDE-46F9-9CC9-93ACC55D4125}"/>
              </a:ext>
            </a:extLst>
          </p:cNvPr>
          <p:cNvSpPr>
            <a:spLocks noGrp="1"/>
          </p:cNvSpPr>
          <p:nvPr/>
        </p:nvSpPr>
        <p:spPr>
          <a:xfrm>
            <a:off x="495300" y="2952750"/>
            <a:ext cx="24765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9DAC6B-7666-4E84-8D35-CDED3CE6ACDA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89B1FC-61E0-4EDE-B55F-C125F5CD6F50}"/>
              </a:ext>
            </a:extLst>
          </p:cNvPr>
          <p:cNvSpPr>
            <a:spLocks noGrp="1"/>
          </p:cNvSpPr>
          <p:nvPr/>
        </p:nvSpPr>
        <p:spPr>
          <a:xfrm>
            <a:off x="2971800" y="2952750"/>
            <a:ext cx="41910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4463960-34AA-448E-A848-B2C7D99FDA26}"/>
              </a:ext>
            </a:extLst>
          </p:cNvPr>
          <p:cNvSpPr>
            <a:spLocks noGrp="1"/>
          </p:cNvSpPr>
          <p:nvPr/>
        </p:nvSpPr>
        <p:spPr>
          <a:xfrm>
            <a:off x="3086100" y="303847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본격 영상 생성 (Veo 3.1)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804DE77-A327-4128-80A3-F446F92B3E9F}"/>
              </a:ext>
            </a:extLst>
          </p:cNvPr>
          <p:cNvSpPr>
            <a:spLocks noGrp="1"/>
          </p:cNvSpPr>
          <p:nvPr/>
        </p:nvSpPr>
        <p:spPr>
          <a:xfrm>
            <a:off x="7162800" y="2952750"/>
            <a:ext cx="35814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124AFA6-490C-4182-82F1-37406BC7F392}"/>
              </a:ext>
            </a:extLst>
          </p:cNvPr>
          <p:cNvSpPr>
            <a:spLocks noGrp="1"/>
          </p:cNvSpPr>
          <p:nvPr/>
        </p:nvSpPr>
        <p:spPr>
          <a:xfrm>
            <a:off x="7277100" y="303847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키프레임 → 클립. 만 18세 이상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F1A59C-0C10-4113-9A06-4980E7742CE4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56D271-9DDE-42A3-90F4-36DE362011DC}"/>
              </a:ext>
            </a:extLst>
          </p:cNvPr>
          <p:cNvSpPr>
            <a:spLocks noGrp="1"/>
          </p:cNvSpPr>
          <p:nvPr/>
        </p:nvSpPr>
        <p:spPr>
          <a:xfrm>
            <a:off x="609600" y="35909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Frames to Video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0E8FD2-40FF-4A1B-B8DF-2447770FD2C0}"/>
              </a:ext>
            </a:extLst>
          </p:cNvPr>
          <p:cNvSpPr>
            <a:spLocks noGrp="1"/>
          </p:cNvSpPr>
          <p:nvPr/>
        </p:nvSpPr>
        <p:spPr>
          <a:xfrm>
            <a:off x="2971800" y="35052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C9449A-F9C1-4030-B558-6D84F31357C9}"/>
              </a:ext>
            </a:extLst>
          </p:cNvPr>
          <p:cNvSpPr>
            <a:spLocks noGrp="1"/>
          </p:cNvSpPr>
          <p:nvPr/>
        </p:nvSpPr>
        <p:spPr>
          <a:xfrm>
            <a:off x="3086100" y="35909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시작 프레임을 지정해 영상 생성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0ABD069-0B38-48B6-A41E-BADC833A9E35}"/>
              </a:ext>
            </a:extLst>
          </p:cNvPr>
          <p:cNvSpPr>
            <a:spLocks noGrp="1"/>
          </p:cNvSpPr>
          <p:nvPr/>
        </p:nvSpPr>
        <p:spPr>
          <a:xfrm>
            <a:off x="7162800" y="35052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85A5149-7639-4CC1-B4A8-C4E395DB9EC5}"/>
              </a:ext>
            </a:extLst>
          </p:cNvPr>
          <p:cNvSpPr>
            <a:spLocks noGrp="1"/>
          </p:cNvSpPr>
          <p:nvPr/>
        </p:nvSpPr>
        <p:spPr>
          <a:xfrm>
            <a:off x="7277100" y="35909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⭐ 오늘의 주력 기능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B686B51-1C7E-4F2A-8B8A-77CB23978429}"/>
              </a:ext>
            </a:extLst>
          </p:cNvPr>
          <p:cNvSpPr>
            <a:spLocks noGrp="1"/>
          </p:cNvSpPr>
          <p:nvPr/>
        </p:nvSpPr>
        <p:spPr>
          <a:xfrm>
            <a:off x="495300" y="4057650"/>
            <a:ext cx="24765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B8648-0ECB-4730-960D-F964E1781BB3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에이전트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2E761B9-FF03-43ED-8F1F-BB7CF2CB6EB4}"/>
              </a:ext>
            </a:extLst>
          </p:cNvPr>
          <p:cNvSpPr>
            <a:spLocks noGrp="1"/>
          </p:cNvSpPr>
          <p:nvPr/>
        </p:nvSpPr>
        <p:spPr>
          <a:xfrm>
            <a:off x="2971800" y="4057650"/>
            <a:ext cx="41910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375A64A-2912-4967-A925-FECA50B133D4}"/>
              </a:ext>
            </a:extLst>
          </p:cNvPr>
          <p:cNvSpPr>
            <a:spLocks noGrp="1"/>
          </p:cNvSpPr>
          <p:nvPr/>
        </p:nvSpPr>
        <p:spPr>
          <a:xfrm>
            <a:off x="3086100" y="414337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말로 시키면 모델 선택까지 대신 실행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BB1286D-C457-41D0-AAAA-755982DBCBBA}"/>
              </a:ext>
            </a:extLst>
          </p:cNvPr>
          <p:cNvSpPr>
            <a:spLocks noGrp="1"/>
          </p:cNvSpPr>
          <p:nvPr/>
        </p:nvSpPr>
        <p:spPr>
          <a:xfrm>
            <a:off x="7162800" y="4057650"/>
            <a:ext cx="35814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60ED9B4-4E11-4EB2-91F8-275653FF694C}"/>
              </a:ext>
            </a:extLst>
          </p:cNvPr>
          <p:cNvSpPr>
            <a:spLocks noGrp="1"/>
          </p:cNvSpPr>
          <p:nvPr/>
        </p:nvSpPr>
        <p:spPr>
          <a:xfrm>
            <a:off x="7277100" y="414337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앵커(기준 이미지)를 프로젝트에 등록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EFA66CF-B820-4266-8501-E802906C3E95}"/>
              </a:ext>
            </a:extLst>
          </p:cNvPr>
          <p:cNvSpPr>
            <a:spLocks noGrp="1"/>
          </p:cNvSpPr>
          <p:nvPr/>
        </p:nvSpPr>
        <p:spPr>
          <a:xfrm>
            <a:off x="495300" y="46101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119BE53-DF0F-4CF8-AB67-FF3F7BB9F19E}"/>
              </a:ext>
            </a:extLst>
          </p:cNvPr>
          <p:cNvSpPr>
            <a:spLocks noGrp="1"/>
          </p:cNvSpPr>
          <p:nvPr/>
        </p:nvSpPr>
        <p:spPr>
          <a:xfrm>
            <a:off x="609600" y="46958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CapCut 등 편집기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C5AC372-8D17-4D29-A7B4-4508A0C792EE}"/>
              </a:ext>
            </a:extLst>
          </p:cNvPr>
          <p:cNvSpPr>
            <a:spLocks noGrp="1"/>
          </p:cNvSpPr>
          <p:nvPr/>
        </p:nvSpPr>
        <p:spPr>
          <a:xfrm>
            <a:off x="2971800" y="46101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8E192D7-C789-49BC-A916-BD4D09799A67}"/>
              </a:ext>
            </a:extLst>
          </p:cNvPr>
          <p:cNvSpPr>
            <a:spLocks noGrp="1"/>
          </p:cNvSpPr>
          <p:nvPr/>
        </p:nvSpPr>
        <p:spPr>
          <a:xfrm>
            <a:off x="3086100" y="46958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클립 조립 · 자막 · 소리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B078374-D90E-496A-A23B-529D4BD2221F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DB88D44-005B-473E-B5A5-9698C577DB37}"/>
              </a:ext>
            </a:extLst>
          </p:cNvPr>
          <p:cNvSpPr>
            <a:spLocks noGrp="1"/>
          </p:cNvSpPr>
          <p:nvPr/>
        </p:nvSpPr>
        <p:spPr>
          <a:xfrm>
            <a:off x="7277100" y="46958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최종 편집은 여기서</a:t>
            </a:r>
          </a:p>
        </p:txBody>
      </p:sp>
    </p:spTree>
    <p:extLst>
      <p:ext uri="{BB962C8B-B14F-4D97-AF65-F5344CB8AC3E}">
        <p14:creationId xmlns:p14="http://schemas.microsoft.com/office/powerpoint/2010/main" val="1429144747"/>
      </p:ext>
    </p:extLst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427DB9-2462-4226-A26F-508DB0EFBA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539B240-D334-464E-88F7-261A939535A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C81CDF-4EAE-4812-9421-9E7B97F93449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629208-AAEB-46CE-9C00-888C4C92256B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1955D7-75F2-4B01-B705-C12F45F0D2A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985615C-65DF-4239-B859-C2397F8575D5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이미지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→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영상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4대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원칙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(Google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공식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00A4ADE-9866-4860-927F-63E710732D33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164B347-3039-4F91-A78B-7D1779A44EFC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좋은 소스 이미지 — 선명하고, 구도가 안정적이고, 인물이 너무 작지 않고, 배경이 복잡하지 않은 것.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0E3DA8D-A4C7-4A04-A1E2-A050E8164700}"/>
              </a:ext>
            </a:extLst>
          </p:cNvPr>
          <p:cNvSpPr>
            <a:spLocks noGrp="1"/>
          </p:cNvSpPr>
          <p:nvPr/>
        </p:nvSpPr>
        <p:spPr>
          <a:xfrm>
            <a:off x="742950" y="25908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D439CF-1B87-43FF-ADE3-74A25D5F899B}"/>
              </a:ext>
            </a:extLst>
          </p:cNvPr>
          <p:cNvSpPr>
            <a:spLocks noGrp="1"/>
          </p:cNvSpPr>
          <p:nvPr/>
        </p:nvSpPr>
        <p:spPr>
          <a:xfrm>
            <a:off x="1085850" y="25717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★ 움직임만 쓴다 — 이미지에 이미 있는 인물·배경·조명을 다시 설명하지 않습니다.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8AC9FA-5A3A-4508-93D7-910CD27D8EA9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8EB3D93-05AA-4CC2-AD6D-CFBCB2148BF1}"/>
              </a:ext>
            </a:extLst>
          </p:cNvPr>
          <p:cNvSpPr>
            <a:spLocks noGrp="1"/>
          </p:cNvSpPr>
          <p:nvPr/>
        </p:nvSpPr>
        <p:spPr>
          <a:xfrm>
            <a:off x="1085850" y="32385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움직임을 3종류로 나눠 지시 — 카메라 / 인물 / 환경. 다만 한 번에 두 개까지만.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B8DA929-F964-47DB-81DF-D228BA19BE64}"/>
              </a:ext>
            </a:extLst>
          </p:cNvPr>
          <p:cNvSpPr>
            <a:spLocks noGrp="1"/>
          </p:cNvSpPr>
          <p:nvPr/>
        </p:nvSpPr>
        <p:spPr>
          <a:xfrm>
            <a:off x="742950" y="39243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3E5234D-7420-422F-BA8F-57AF7F61A2A0}"/>
              </a:ext>
            </a:extLst>
          </p:cNvPr>
          <p:cNvSpPr>
            <a:spLocks noGrp="1"/>
          </p:cNvSpPr>
          <p:nvPr/>
        </p:nvSpPr>
        <p:spPr>
          <a:xfrm>
            <a:off x="1085850" y="39052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오디오는 별도 문장으로 — "배경음:" 처럼 줄을 나눠 씁니다.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F451896-01F0-49D1-B16D-12DD676FD190}"/>
              </a:ext>
            </a:extLst>
          </p:cNvPr>
          <p:cNvSpPr>
            <a:spLocks noGrp="1"/>
          </p:cNvSpPr>
          <p:nvPr/>
        </p:nvSpPr>
        <p:spPr>
          <a:xfrm>
            <a:off x="742950" y="4591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8BBD4B2-0349-439D-991D-5866537DACD1}"/>
              </a:ext>
            </a:extLst>
          </p:cNvPr>
          <p:cNvSpPr>
            <a:spLocks noGrp="1"/>
          </p:cNvSpPr>
          <p:nvPr/>
        </p:nvSpPr>
        <p:spPr>
          <a:xfrm>
            <a:off x="1085850" y="4572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손이 애매하게 화면에 걸친 이미지는 왜곡됩니다. 크게 나오거나 아예 안 보이게 구도를 잡으십시오.</a:t>
            </a:r>
          </a:p>
        </p:txBody>
      </p:sp>
    </p:spTree>
    <p:extLst>
      <p:ext uri="{BB962C8B-B14F-4D97-AF65-F5344CB8AC3E}">
        <p14:creationId xmlns:p14="http://schemas.microsoft.com/office/powerpoint/2010/main" val="968433180"/>
      </p:ext>
    </p:extLst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1F16157A-3D51-4D04-82D3-405CA34FF4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551CFA-85E1-4979-A3DE-EDDE7AC7578C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4BE0CF-9BE5-4214-A990-DC19411C975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DF9540-5CB0-4602-AE25-B6FC29DCD5B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0841C3-148A-4846-971B-5382C2460FF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지도 원칙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DE1D75-DD42-4171-A6FD-A1535B4D58E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움직임 3종류 — 카메라 1개 + 피사체 1개까지만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A378E78-A552-40A5-B7EC-4D1FA1AE84E0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333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28F8C1-5385-4719-A556-D90BF8CFC8D0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104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종류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D80386-C743-4FF7-B585-1294F0D2A248}"/>
              </a:ext>
            </a:extLst>
          </p:cNvPr>
          <p:cNvSpPr>
            <a:spLocks noGrp="1"/>
          </p:cNvSpPr>
          <p:nvPr/>
        </p:nvSpPr>
        <p:spPr>
          <a:xfrm>
            <a:off x="1828800" y="1847850"/>
            <a:ext cx="3143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20742-8801-4FA3-AA99-B19358FF4094}"/>
              </a:ext>
            </a:extLst>
          </p:cNvPr>
          <p:cNvSpPr>
            <a:spLocks noGrp="1"/>
          </p:cNvSpPr>
          <p:nvPr/>
        </p:nvSpPr>
        <p:spPr>
          <a:xfrm>
            <a:off x="1943100" y="1943100"/>
            <a:ext cx="2914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무엇이 움직이나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CB75BF-A0BA-4817-9C46-EB411C2FF5DD}"/>
              </a:ext>
            </a:extLst>
          </p:cNvPr>
          <p:cNvSpPr>
            <a:spLocks noGrp="1"/>
          </p:cNvSpPr>
          <p:nvPr/>
        </p:nvSpPr>
        <p:spPr>
          <a:xfrm>
            <a:off x="4972050" y="1847850"/>
            <a:ext cx="41910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8CBC12-0686-4CE6-94F0-98AAC91902D0}"/>
              </a:ext>
            </a:extLst>
          </p:cNvPr>
          <p:cNvSpPr>
            <a:spLocks noGrp="1"/>
          </p:cNvSpPr>
          <p:nvPr/>
        </p:nvSpPr>
        <p:spPr>
          <a:xfrm>
            <a:off x="5086350" y="1943100"/>
            <a:ext cx="3962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371473-7882-4EB9-9973-7A9B8AD2B567}"/>
              </a:ext>
            </a:extLst>
          </p:cNvPr>
          <p:cNvSpPr>
            <a:spLocks noGrp="1"/>
          </p:cNvSpPr>
          <p:nvPr/>
        </p:nvSpPr>
        <p:spPr>
          <a:xfrm>
            <a:off x="9163050" y="1847850"/>
            <a:ext cx="15811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216D42-4F2A-44F5-80C9-31BF9FB3040D}"/>
              </a:ext>
            </a:extLst>
          </p:cNvPr>
          <p:cNvSpPr>
            <a:spLocks noGrp="1"/>
          </p:cNvSpPr>
          <p:nvPr/>
        </p:nvSpPr>
        <p:spPr>
          <a:xfrm>
            <a:off x="9277350" y="1943100"/>
            <a:ext cx="1352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안정성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6DA85EE-C329-4E4D-829C-2896158BA000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F4BB03-4D98-473B-828D-85FF4FA737A3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425419-6057-43B3-9C32-219468AC7419}"/>
              </a:ext>
            </a:extLst>
          </p:cNvPr>
          <p:cNvSpPr>
            <a:spLocks noGrp="1"/>
          </p:cNvSpPr>
          <p:nvPr/>
        </p:nvSpPr>
        <p:spPr>
          <a:xfrm>
            <a:off x="1828800" y="24384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84C3C7-ADE6-42B6-8D3A-ECE4086E2727}"/>
              </a:ext>
            </a:extLst>
          </p:cNvPr>
          <p:cNvSpPr>
            <a:spLocks noGrp="1"/>
          </p:cNvSpPr>
          <p:nvPr/>
        </p:nvSpPr>
        <p:spPr>
          <a:xfrm>
            <a:off x="1943100" y="25241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장면은 정지, 카메라만 이동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C003F7-37AF-4961-B9D7-F624381DB7C0}"/>
              </a:ext>
            </a:extLst>
          </p:cNvPr>
          <p:cNvSpPr>
            <a:spLocks noGrp="1"/>
          </p:cNvSpPr>
          <p:nvPr/>
        </p:nvSpPr>
        <p:spPr>
          <a:xfrm>
            <a:off x="4972050" y="24384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69E1B0-77BA-4562-9970-45B2FA5CDD51}"/>
              </a:ext>
            </a:extLst>
          </p:cNvPr>
          <p:cNvSpPr>
            <a:spLocks noGrp="1"/>
          </p:cNvSpPr>
          <p:nvPr/>
        </p:nvSpPr>
        <p:spPr>
          <a:xfrm>
            <a:off x="5086350" y="25241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카메라가 인물에게 천천히 다가간다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27319D6-FE62-45B0-A636-3F03A23D299D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159C14-3B3B-4B07-9827-66E6244800F7}"/>
              </a:ext>
            </a:extLst>
          </p:cNvPr>
          <p:cNvSpPr>
            <a:spLocks noGrp="1"/>
          </p:cNvSpPr>
          <p:nvPr/>
        </p:nvSpPr>
        <p:spPr>
          <a:xfrm>
            <a:off x="9277350" y="25241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51268-A1DE-49D4-AF0F-2741B83E5D8F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333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BE1FF5-B3CD-4C89-9839-D371F0E0657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인물·사물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BE9594-C262-43BB-BF8D-C97B2039D7C5}"/>
              </a:ext>
            </a:extLst>
          </p:cNvPr>
          <p:cNvSpPr>
            <a:spLocks noGrp="1"/>
          </p:cNvSpPr>
          <p:nvPr/>
        </p:nvSpPr>
        <p:spPr>
          <a:xfrm>
            <a:off x="1828800" y="3028950"/>
            <a:ext cx="3143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1AF2AD-6226-490F-AD3C-D479A83D35EF}"/>
              </a:ext>
            </a:extLst>
          </p:cNvPr>
          <p:cNvSpPr>
            <a:spLocks noGrp="1"/>
          </p:cNvSpPr>
          <p:nvPr/>
        </p:nvSpPr>
        <p:spPr>
          <a:xfrm>
            <a:off x="1943100" y="311467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피사체가 움직임 (미묘한 동작에 최적)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94C5EA-B542-4B1D-9974-B5BACB9C5456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41910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10B4DE-B429-4846-A911-61B5BCC09160}"/>
              </a:ext>
            </a:extLst>
          </p:cNvPr>
          <p:cNvSpPr>
            <a:spLocks noGrp="1"/>
          </p:cNvSpPr>
          <p:nvPr/>
        </p:nvSpPr>
        <p:spPr>
          <a:xfrm>
            <a:off x="5086350" y="311467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머리카락과 옷이 바람에 부드럽게 흔들린다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F7C1B67-1AB7-443C-9F74-20F731ACAB26}"/>
              </a:ext>
            </a:extLst>
          </p:cNvPr>
          <p:cNvSpPr>
            <a:spLocks noGrp="1"/>
          </p:cNvSpPr>
          <p:nvPr/>
        </p:nvSpPr>
        <p:spPr>
          <a:xfrm>
            <a:off x="9163050" y="3028950"/>
            <a:ext cx="15811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2A303E-7342-4A09-9D9A-023806BFDE76}"/>
              </a:ext>
            </a:extLst>
          </p:cNvPr>
          <p:cNvSpPr>
            <a:spLocks noGrp="1"/>
          </p:cNvSpPr>
          <p:nvPr/>
        </p:nvSpPr>
        <p:spPr>
          <a:xfrm>
            <a:off x="9277350" y="311467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AA2A402-7035-4CC8-ACC2-0ED5E2B4419D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FFDE13A-7E23-4CBA-942D-AAB2C51CE110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환경·대기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CB1EE4E-962E-4B6F-B11B-F80DCC455A23}"/>
              </a:ext>
            </a:extLst>
          </p:cNvPr>
          <p:cNvSpPr>
            <a:spLocks noGrp="1"/>
          </p:cNvSpPr>
          <p:nvPr/>
        </p:nvSpPr>
        <p:spPr>
          <a:xfrm>
            <a:off x="1828800" y="36195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6C5D811-C796-4F96-BBE2-7EC6C8702EBC}"/>
              </a:ext>
            </a:extLst>
          </p:cNvPr>
          <p:cNvSpPr>
            <a:spLocks noGrp="1"/>
          </p:cNvSpPr>
          <p:nvPr/>
        </p:nvSpPr>
        <p:spPr>
          <a:xfrm>
            <a:off x="1943100" y="37052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배경이 살아남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BF6EE42-2342-403E-ADD4-35FB636D361A}"/>
              </a:ext>
            </a:extLst>
          </p:cNvPr>
          <p:cNvSpPr>
            <a:spLocks noGrp="1"/>
          </p:cNvSpPr>
          <p:nvPr/>
        </p:nvSpPr>
        <p:spPr>
          <a:xfrm>
            <a:off x="4972050" y="36195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6B8B485-5AB2-4184-9655-98B579A985F5}"/>
              </a:ext>
            </a:extLst>
          </p:cNvPr>
          <p:cNvSpPr>
            <a:spLocks noGrp="1"/>
          </p:cNvSpPr>
          <p:nvPr/>
        </p:nvSpPr>
        <p:spPr>
          <a:xfrm>
            <a:off x="5086350" y="37052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안개가 풍경을 가로질러 천천히 밀려온다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2EF193-A368-4636-9C24-C9243638462F}"/>
              </a:ext>
            </a:extLst>
          </p:cNvPr>
          <p:cNvSpPr>
            <a:spLocks noGrp="1"/>
          </p:cNvSpPr>
          <p:nvPr/>
        </p:nvSpPr>
        <p:spPr>
          <a:xfrm>
            <a:off x="9163050" y="36195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B35D7E-8376-405B-83E9-6B2DFE21D7FE}"/>
              </a:ext>
            </a:extLst>
          </p:cNvPr>
          <p:cNvSpPr>
            <a:spLocks noGrp="1"/>
          </p:cNvSpPr>
          <p:nvPr/>
        </p:nvSpPr>
        <p:spPr>
          <a:xfrm>
            <a:off x="9277350" y="37052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</p:spTree>
    <p:extLst>
      <p:ext uri="{BB962C8B-B14F-4D97-AF65-F5344CB8AC3E}">
        <p14:creationId xmlns:p14="http://schemas.microsoft.com/office/powerpoint/2010/main" val="1736427543"/>
      </p:ext>
    </p:extLst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334C7AE9-5259-461B-BF80-127141907C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3125B9-C42A-40D8-95EC-5DCFFA2C08C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997ACA-92B9-48C1-854F-254458B722F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FEDF79-EFA9-49F3-A6BD-4B9BBB6698E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5174F7-BEE9-483C-AEA6-766570350AD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562935-E4DA-40E4-B8C2-0403076157D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 프롬프트 — 상황별로 그대로 복사하십시오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E77103F-B237-4E94-9C2E-CFE826FAE73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C534C0-FFB9-432C-BC4E-BA965831DA7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79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기본 틀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[카메라 움직임]. 인물이 [동작]한다. [환경 변화].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[배경 소리].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인물 컷 (가장 안전)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카메라가 인물에게 천천히 다가간다.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인물이 느리게 눈을 깜빡이고 입가에 옅은 미소가 번진다.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잔머리가 공기 중에 살짝 흔들린다.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조용한 실내음.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풍경 컷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드론이 천천히 떠오르며 풍경 전체를 훑는다.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구름이 하늘을 가로질러 흐르고 풀밭이 바람에 물결친다.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부드러운 바람 소리.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⭐ 일러스트를 살릴 때 (카드뉴스 → 영상)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카메라는 고정. 앞쪽 배경과 뒤쪽 배경이 서로 다른 속도로 밀리게 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인물의 머리카락과 옷자락이 부드럽게 흔들린다.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작은 빛 입자가 화면 위로 천천히 떠오른다.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낮게 깔리는 공기음.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화면의 한글 문구는 바꾸거나 새로 생성하지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5324734"/>
      </p:ext>
    </p:extLst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334C7AE9-5259-461B-BF80-127141907C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3125B9-C42A-40D8-95EC-5DCFFA2C08C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997ACA-92B9-48C1-854F-254458B722F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FEDF79-EFA9-49F3-A6BD-4B9BBB6698E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5174F7-BEE9-483C-AEA6-766570350AD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562935-E4DA-40E4-B8C2-0403076157D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실습 8-B 프롬프트 — 캐릭터 → 컷 → 영상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E77103F-B237-4E94-9C2E-CFE826FAE73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C534C0-FFB9-432C-BC4E-BA965831DA7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79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1단계 · 이야기 한 문장 (로그라인)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[어떤 상태의 우리 사업·현장]이 [문제] 때문에,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[하려는 것]을 하려 하지만 [장애물]이 가로막는다.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2단계 · 캐릭터 기준 이미지 — 앞 장의 후보 6그리드 방식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확정한 1장을 '캐릭터기준_◯◯.png' 로 저장하고, 컷마다 다시 첨부합니다.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3단계 · 컷 키프레임 — 컷마다 이 틀만 갈아끼운다 ━━━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 1 / [화면 크기], [카메라 각도].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[장소·시간·날씨]. [인물이 하는 단순한 동작 하나].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인물은 캐릭터 기준 이미지와 똑같이 유지해줘.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[1번 이미지]를 그대로 따라줘. 16:9.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4단계 · 영상화 — 움직임만 쓴다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[카메라 움직임]. 인물이 [동작]한다. [환경 변화]. 배경음: [소리].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8초 동안 이어지는 하나의 연속 장면이다.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원본 이미지를 첫 프레임으로 정확하게 유지한다.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장면 전환 없음. 새 인물·사물 추가 없음. 글자·자막·워터마크 없음.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324734"/>
      </p:ext>
    </p:extLst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220EEEA-AA5A-4E92-8744-6551709031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BD3628E-1A19-456F-AD7B-AA155D5B9A5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CEF318-6F3F-4768-AA1A-837DFAD1A9C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43C26EC-71E7-4B2F-B09C-002DD7E6CF1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804A47-AEC4-498F-9E49-3192D7EF00AA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SAFETY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03EE63-4449-475A-88ED-0C9556826C23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대외 배포 전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반드시 확인할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A363357-0882-4759-8DA3-808CF9A78474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워터마크 · 저작권 · 표기. 이걸 모르고 배포하면 되돌리기 어렵습니다.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6ABC31-66A1-4102-8277-9554EBF9978F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27796385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직사각형 60">
            <a:extLst>
              <a:ext uri="{FF2B5EF4-FFF2-40B4-BE49-F238E27FC236}">
                <a16:creationId xmlns:a16="http://schemas.microsoft.com/office/drawing/2014/main" id="{162429A2-BC1C-454E-BB8B-B5BCEECB64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BE9B01-C725-4EB1-A17B-9BB3D7E970DE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BC53570-6ADC-424E-8330-C705EF556CD8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6B95D0-DA75-4F67-A2F8-6E15A16EE4F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52147C-ED1A-4C07-9308-9C88C35C72B7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필수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5750BF-1CE6-40B5-8A89-29794978076E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교육 현장에서 반드시 알아야 할 8가지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1C1D064-D2B3-4D61-A5A4-EA6E9945CE52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47625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6E73F1-E92D-4F17-80CA-1D557BE73571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#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88A714-C97B-49BF-A3AC-1C1B5BFD513F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539115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E7B397-C8D9-4A89-92F1-7FC0A54FF7A4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5162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사실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65B7CFA-93D6-4E3B-8DBD-88DE6CE3CDB2}"/>
              </a:ext>
            </a:extLst>
          </p:cNvPr>
          <p:cNvSpPr>
            <a:spLocks noGrp="1"/>
          </p:cNvSpPr>
          <p:nvPr/>
        </p:nvSpPr>
        <p:spPr>
          <a:xfrm>
            <a:off x="6362700" y="1847850"/>
            <a:ext cx="438150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CC28B8-9E2B-4926-A53C-D2F0822F0A3F}"/>
              </a:ext>
            </a:extLst>
          </p:cNvPr>
          <p:cNvSpPr>
            <a:spLocks noGrp="1"/>
          </p:cNvSpPr>
          <p:nvPr/>
        </p:nvSpPr>
        <p:spPr>
          <a:xfrm>
            <a:off x="6477000" y="1943100"/>
            <a:ext cx="415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실무 영향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20AEFF-2DD6-43A6-8A63-68AFA08786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44DB425-74AC-4B4B-8B75-D4F725087D25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85B5C68-0ECF-479F-A2D1-8DDDC4E9C7D9}"/>
              </a:ext>
            </a:extLst>
          </p:cNvPr>
          <p:cNvSpPr>
            <a:spLocks noGrp="1"/>
          </p:cNvSpPr>
          <p:nvPr/>
        </p:nvSpPr>
        <p:spPr>
          <a:xfrm>
            <a:off x="971550" y="23431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E34B6A8-3110-4D88-B613-319AA992D156}"/>
              </a:ext>
            </a:extLst>
          </p:cNvPr>
          <p:cNvSpPr>
            <a:spLocks noGrp="1"/>
          </p:cNvSpPr>
          <p:nvPr/>
        </p:nvSpPr>
        <p:spPr>
          <a:xfrm>
            <a:off x="1085850" y="24288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100% 생성한 산출물은 저작물로 인정·등록되지 않는다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9CB8AA8-FE48-4653-AF94-43ABFB4071DC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14B1A64-EBCB-426C-9D91-2D561FCEA2D2}"/>
              </a:ext>
            </a:extLst>
          </p:cNvPr>
          <p:cNvSpPr>
            <a:spLocks noGrp="1"/>
          </p:cNvSpPr>
          <p:nvPr/>
        </p:nvSpPr>
        <p:spPr>
          <a:xfrm>
            <a:off x="6477000" y="2428875"/>
            <a:ext cx="438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출품은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가능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. 단 '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본인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창작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'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입증에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프롬프트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기록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필수</a:t>
            </a:r>
            <a:endParaRPr sz="1400" b="0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0E44262-899F-406B-9CB8-751E22F141D5}"/>
              </a:ext>
            </a:extLst>
          </p:cNvPr>
          <p:cNvSpPr>
            <a:spLocks noGrp="1"/>
          </p:cNvSpPr>
          <p:nvPr/>
        </p:nvSpPr>
        <p:spPr>
          <a:xfrm>
            <a:off x="495300" y="28384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A8C46D7-99EB-46A1-B4F3-6B881515A6EE}"/>
              </a:ext>
            </a:extLst>
          </p:cNvPr>
          <p:cNvSpPr>
            <a:spLocks noGrp="1"/>
          </p:cNvSpPr>
          <p:nvPr/>
        </p:nvSpPr>
        <p:spPr>
          <a:xfrm>
            <a:off x="609600" y="29241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9A1689C-971F-42B8-BA5E-65DBE4CEF817}"/>
              </a:ext>
            </a:extLst>
          </p:cNvPr>
          <p:cNvSpPr>
            <a:spLocks noGrp="1"/>
          </p:cNvSpPr>
          <p:nvPr/>
        </p:nvSpPr>
        <p:spPr>
          <a:xfrm>
            <a:off x="971550" y="28384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61D317-32C6-4F6E-9ADC-44A7A3B6C64C}"/>
              </a:ext>
            </a:extLst>
          </p:cNvPr>
          <p:cNvSpPr>
            <a:spLocks noGrp="1"/>
          </p:cNvSpPr>
          <p:nvPr/>
        </p:nvSpPr>
        <p:spPr>
          <a:xfrm>
            <a:off x="1085850" y="29241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Flow는 만 18세 이상만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81DBCBA-E491-4E80-B20A-A7E5BECA82C6}"/>
              </a:ext>
            </a:extLst>
          </p:cNvPr>
          <p:cNvSpPr>
            <a:spLocks noGrp="1"/>
          </p:cNvSpPr>
          <p:nvPr/>
        </p:nvSpPr>
        <p:spPr>
          <a:xfrm>
            <a:off x="6362700" y="28384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63C2C55-E6EC-476C-BCEA-9CD2C5E4F089}"/>
              </a:ext>
            </a:extLst>
          </p:cNvPr>
          <p:cNvSpPr>
            <a:spLocks noGrp="1"/>
          </p:cNvSpPr>
          <p:nvPr/>
        </p:nvSpPr>
        <p:spPr>
          <a:xfrm>
            <a:off x="6477000" y="29241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초·중·고 학생은 직접 사용 불가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21FD17D-8519-4F6A-BB1D-05E871A17C47}"/>
              </a:ext>
            </a:extLst>
          </p:cNvPr>
          <p:cNvSpPr>
            <a:spLocks noGrp="1"/>
          </p:cNvSpPr>
          <p:nvPr/>
        </p:nvSpPr>
        <p:spPr>
          <a:xfrm>
            <a:off x="495300" y="33337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719F9E7-5658-470E-BF63-6D5239B4D9E3}"/>
              </a:ext>
            </a:extLst>
          </p:cNvPr>
          <p:cNvSpPr>
            <a:spLocks noGrp="1"/>
          </p:cNvSpPr>
          <p:nvPr/>
        </p:nvSpPr>
        <p:spPr>
          <a:xfrm>
            <a:off x="609600" y="34194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A87D0FE-C6D6-407B-BBDB-636E7288D8B0}"/>
              </a:ext>
            </a:extLst>
          </p:cNvPr>
          <p:cNvSpPr>
            <a:spLocks noGrp="1"/>
          </p:cNvSpPr>
          <p:nvPr/>
        </p:nvSpPr>
        <p:spPr>
          <a:xfrm>
            <a:off x="971550" y="33337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2A92190-1CE2-4905-9464-1153A6D6BA85}"/>
              </a:ext>
            </a:extLst>
          </p:cNvPr>
          <p:cNvSpPr>
            <a:spLocks noGrp="1"/>
          </p:cNvSpPr>
          <p:nvPr/>
        </p:nvSpPr>
        <p:spPr>
          <a:xfrm>
            <a:off x="1085850" y="34194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한국 Google 계정 최소 연령은 만 14세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D0E09E7-9E1E-4419-A94B-8943C762C3E3}"/>
              </a:ext>
            </a:extLst>
          </p:cNvPr>
          <p:cNvSpPr>
            <a:spLocks noGrp="1"/>
          </p:cNvSpPr>
          <p:nvPr/>
        </p:nvSpPr>
        <p:spPr>
          <a:xfrm>
            <a:off x="6362700" y="33337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6B61932-A8A5-4053-B278-7A0FE61C57E6}"/>
              </a:ext>
            </a:extLst>
          </p:cNvPr>
          <p:cNvSpPr>
            <a:spLocks noGrp="1"/>
          </p:cNvSpPr>
          <p:nvPr/>
        </p:nvSpPr>
        <p:spPr>
          <a:xfrm>
            <a:off x="6477000" y="34194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초5~중1은 학교 Workspace 계정이 사실상 유일한 경로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77971B5-E693-4358-AEF6-0E591CF8AD78}"/>
              </a:ext>
            </a:extLst>
          </p:cNvPr>
          <p:cNvSpPr>
            <a:spLocks noGrp="1"/>
          </p:cNvSpPr>
          <p:nvPr/>
        </p:nvSpPr>
        <p:spPr>
          <a:xfrm>
            <a:off x="495300" y="38290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C11384A-CBE9-48B4-B097-C971EE4E82F0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F6E19D3-8E47-4F50-A305-4B916AE30976}"/>
              </a:ext>
            </a:extLst>
          </p:cNvPr>
          <p:cNvSpPr>
            <a:spLocks noGrp="1"/>
          </p:cNvSpPr>
          <p:nvPr/>
        </p:nvSpPr>
        <p:spPr>
          <a:xfrm>
            <a:off x="971550" y="38290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30F6502-5A8F-4F09-A27D-CA1E26D8FF26}"/>
              </a:ext>
            </a:extLst>
          </p:cNvPr>
          <p:cNvSpPr>
            <a:spLocks noGrp="1"/>
          </p:cNvSpPr>
          <p:nvPr/>
        </p:nvSpPr>
        <p:spPr>
          <a:xfrm>
            <a:off x="1085850" y="39147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영상 편집기 내장 음원은 개인·비상업 한정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D720237-F194-48D0-A78B-9C628B728C66}"/>
              </a:ext>
            </a:extLst>
          </p:cNvPr>
          <p:cNvSpPr>
            <a:spLocks noGrp="1"/>
          </p:cNvSpPr>
          <p:nvPr/>
        </p:nvSpPr>
        <p:spPr>
          <a:xfrm>
            <a:off x="6362700" y="38290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59DF1FE-4FE1-4E7F-B674-7B0C1C32ED5C}"/>
              </a:ext>
            </a:extLst>
          </p:cNvPr>
          <p:cNvSpPr>
            <a:spLocks noGrp="1"/>
          </p:cNvSpPr>
          <p:nvPr/>
        </p:nvSpPr>
        <p:spPr>
          <a:xfrm>
            <a:off x="6477000" y="39147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 출품작·유튜브에 쓰면 약관 위반 소지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70B6C8-54B3-48BF-8849-40AED4A99E3D}"/>
              </a:ext>
            </a:extLst>
          </p:cNvPr>
          <p:cNvSpPr>
            <a:spLocks noGrp="1"/>
          </p:cNvSpPr>
          <p:nvPr/>
        </p:nvSpPr>
        <p:spPr>
          <a:xfrm>
            <a:off x="495300" y="43243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660A176-368A-4ADC-8F81-27EC05FEDB52}"/>
              </a:ext>
            </a:extLst>
          </p:cNvPr>
          <p:cNvSpPr>
            <a:spLocks noGrp="1"/>
          </p:cNvSpPr>
          <p:nvPr/>
        </p:nvSpPr>
        <p:spPr>
          <a:xfrm>
            <a:off x="609600" y="44100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F3B49E4-EB4A-45D2-B388-2E2B50EA5184}"/>
              </a:ext>
            </a:extLst>
          </p:cNvPr>
          <p:cNvSpPr>
            <a:spLocks noGrp="1"/>
          </p:cNvSpPr>
          <p:nvPr/>
        </p:nvSpPr>
        <p:spPr>
          <a:xfrm>
            <a:off x="971550" y="43243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BE9086-3A89-4485-A2EC-782E6604CF7E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음악 생성 무료 플랜은 비상업 + 출처표시 의무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6D5587E-01AE-4953-BBFA-F614AEE6FE54}"/>
              </a:ext>
            </a:extLst>
          </p:cNvPr>
          <p:cNvSpPr>
            <a:spLocks noGrp="1"/>
          </p:cNvSpPr>
          <p:nvPr/>
        </p:nvSpPr>
        <p:spPr>
          <a:xfrm>
            <a:off x="6362700" y="43243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20AED6A-AB20-467F-857E-F9BCBD53DD04}"/>
              </a:ext>
            </a:extLst>
          </p:cNvPr>
          <p:cNvSpPr>
            <a:spLocks noGrp="1"/>
          </p:cNvSpPr>
          <p:nvPr/>
        </p:nvSpPr>
        <p:spPr>
          <a:xfrm>
            <a:off x="6477000" y="44100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크레딧에 출처를 표기하거나 유료로 생성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0ED3D8-5459-4588-9C03-D4EA8201EF70}"/>
              </a:ext>
            </a:extLst>
          </p:cNvPr>
          <p:cNvSpPr>
            <a:spLocks noGrp="1"/>
          </p:cNvSpPr>
          <p:nvPr/>
        </p:nvSpPr>
        <p:spPr>
          <a:xfrm>
            <a:off x="495300" y="48196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B730848-56E6-4B2F-A84C-07D42C23DC5C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ACF3066-D4D1-446C-89EC-52830B41F800}"/>
              </a:ext>
            </a:extLst>
          </p:cNvPr>
          <p:cNvSpPr>
            <a:spLocks noGrp="1"/>
          </p:cNvSpPr>
          <p:nvPr/>
        </p:nvSpPr>
        <p:spPr>
          <a:xfrm>
            <a:off x="971550" y="48196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B3E7B1-6F7A-4CDA-9E7F-AD06D5CB2958}"/>
              </a:ext>
            </a:extLst>
          </p:cNvPr>
          <p:cNvSpPr>
            <a:spLocks noGrp="1"/>
          </p:cNvSpPr>
          <p:nvPr/>
        </p:nvSpPr>
        <p:spPr>
          <a:xfrm>
            <a:off x="1085850" y="49053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무료·중간 요금제 영상엔 가시 워터마크가 박힌다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C151057-E7BF-414F-BD90-269981B061A0}"/>
              </a:ext>
            </a:extLst>
          </p:cNvPr>
          <p:cNvSpPr>
            <a:spLocks noGrp="1"/>
          </p:cNvSpPr>
          <p:nvPr/>
        </p:nvSpPr>
        <p:spPr>
          <a:xfrm>
            <a:off x="6362700" y="48196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B6E19EBA-DFB3-4491-9A09-7273E933C26B}"/>
              </a:ext>
            </a:extLst>
          </p:cNvPr>
          <p:cNvSpPr>
            <a:spLocks noGrp="1"/>
          </p:cNvSpPr>
          <p:nvPr/>
        </p:nvSpPr>
        <p:spPr>
          <a:xfrm>
            <a:off x="6477000" y="49053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심사위원 사전 고지 필요. 잘라내기 지도는 금물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A7D8E5C-5B05-45D9-9A43-809437E7D112}"/>
              </a:ext>
            </a:extLst>
          </p:cNvPr>
          <p:cNvSpPr>
            <a:spLocks noGrp="1"/>
          </p:cNvSpPr>
          <p:nvPr/>
        </p:nvSpPr>
        <p:spPr>
          <a:xfrm>
            <a:off x="495300" y="53149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760BBF-612E-4241-BCE8-585484FBBE7D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CE192D0-B184-4B1B-8817-AB57013106B7}"/>
              </a:ext>
            </a:extLst>
          </p:cNvPr>
          <p:cNvSpPr>
            <a:spLocks noGrp="1"/>
          </p:cNvSpPr>
          <p:nvPr/>
        </p:nvSpPr>
        <p:spPr>
          <a:xfrm>
            <a:off x="971550" y="53149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D78DDE7-10F6-4957-8DAB-A7E1DF6224F8}"/>
              </a:ext>
            </a:extLst>
          </p:cNvPr>
          <p:cNvSpPr>
            <a:spLocks noGrp="1"/>
          </p:cNvSpPr>
          <p:nvPr/>
        </p:nvSpPr>
        <p:spPr>
          <a:xfrm>
            <a:off x="1085850" y="54006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모든 Google 생성물에 SynthID 비가시 워터마크가 들어간다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31C1BEE-A9CB-4CA2-9803-00C31E2A04E0}"/>
              </a:ext>
            </a:extLst>
          </p:cNvPr>
          <p:cNvSpPr>
            <a:spLocks noGrp="1"/>
          </p:cNvSpPr>
          <p:nvPr/>
        </p:nvSpPr>
        <p:spPr>
          <a:xfrm>
            <a:off x="6362700" y="53149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AF0805C0-93C9-4E74-B334-275F1E02CC92}"/>
              </a:ext>
            </a:extLst>
          </p:cNvPr>
          <p:cNvSpPr>
            <a:spLocks noGrp="1"/>
          </p:cNvSpPr>
          <p:nvPr/>
        </p:nvSpPr>
        <p:spPr>
          <a:xfrm>
            <a:off x="6477000" y="54006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 생성 여부 확인 가능. 사람이 만든 척은 약관 위반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18866F-5C96-4978-BA3F-E13C7BA3CB21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1CB92C3-FFBC-4E8B-8CE9-D490E40F26F8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EF434B0-8E26-45CF-88F7-4AB088B8E97D}"/>
              </a:ext>
            </a:extLst>
          </p:cNvPr>
          <p:cNvSpPr>
            <a:spLocks noGrp="1"/>
          </p:cNvSpPr>
          <p:nvPr/>
        </p:nvSpPr>
        <p:spPr>
          <a:xfrm>
            <a:off x="971550" y="58102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8D88B03-BAEC-4FFA-B360-DF7E0C4DC9E5}"/>
              </a:ext>
            </a:extLst>
          </p:cNvPr>
          <p:cNvSpPr>
            <a:spLocks noGrp="1"/>
          </p:cNvSpPr>
          <p:nvPr/>
        </p:nvSpPr>
        <p:spPr>
          <a:xfrm>
            <a:off x="1085850" y="58959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교육부가 2026학년도부터 「AI 활용 과정 표기」를 공식화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DD33426-172B-45A7-BFDF-431720B59A18}"/>
              </a:ext>
            </a:extLst>
          </p:cNvPr>
          <p:cNvSpPr>
            <a:spLocks noGrp="1"/>
          </p:cNvSpPr>
          <p:nvPr/>
        </p:nvSpPr>
        <p:spPr>
          <a:xfrm>
            <a:off x="6362700" y="58102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63D40F7-4DCE-40BC-9E93-6C8F7673075A}"/>
              </a:ext>
            </a:extLst>
          </p:cNvPr>
          <p:cNvSpPr>
            <a:spLocks noGrp="1"/>
          </p:cNvSpPr>
          <p:nvPr/>
        </p:nvSpPr>
        <p:spPr>
          <a:xfrm>
            <a:off x="6477000" y="58959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 표기와 프롬프트 기록은 선택이 아니라 지도 사항</a:t>
            </a:r>
          </a:p>
        </p:txBody>
      </p:sp>
    </p:spTree>
    <p:extLst>
      <p:ext uri="{BB962C8B-B14F-4D97-AF65-F5344CB8AC3E}">
        <p14:creationId xmlns:p14="http://schemas.microsoft.com/office/powerpoint/2010/main" val="1616899440"/>
      </p:ext>
    </p:extLst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82C01775-62D9-487A-8305-D2FB293F47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8E54A5-C020-44AA-9CEE-489DB644B50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CCF21F-D434-45CE-9F82-C41EE0EF2B82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686564D-A7FD-4CBB-B568-4FE0A2A80D8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61677B-4963-4362-9CB5-D8780E74CC1A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표기의 진실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6F875C-2EAE-4465-818B-2EFCE72730B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SynthID가 실제로 하는 일 — 오해하기 쉬운 부분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93CFEAA-751C-425A-A4A4-6D3A2189DC83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D3DA3D-3D23-4EA6-BCB9-F610D5EA9F86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F3DED4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DFC9C4-FCC1-4685-9860-D93A48B2F0AD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SynthID가 하는 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B20D239-B4DF-4813-B030-AC8A39442056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구글이 만든 모든 생성물에 들어가는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3BBE62-CFFA-46E6-BBAC-EB7E9A9EE829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보이지 않는 워터마크입니다.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00E2825-626C-4AB0-B338-E8523473F986}"/>
              </a:ext>
            </a:extLst>
          </p:cNvPr>
          <p:cNvSpPr>
            <a:spLocks noGrp="1"/>
          </p:cNvSpPr>
          <p:nvPr/>
        </p:nvSpPr>
        <p:spPr>
          <a:xfrm>
            <a:off x="723900" y="3543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F0AD573-9061-4567-A2A8-A8BC724241A0}"/>
              </a:ext>
            </a:extLst>
          </p:cNvPr>
          <p:cNvSpPr>
            <a:spLocks noGrp="1"/>
          </p:cNvSpPr>
          <p:nvPr/>
        </p:nvSpPr>
        <p:spPr>
          <a:xfrm>
            <a:off x="723900" y="3707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제미나이에 올리면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132E6-74EB-41D0-B391-BE2493ED0169}"/>
              </a:ext>
            </a:extLst>
          </p:cNvPr>
          <p:cNvSpPr>
            <a:spLocks noGrp="1"/>
          </p:cNvSpPr>
          <p:nvPr/>
        </p:nvSpPr>
        <p:spPr>
          <a:xfrm>
            <a:off x="723900" y="4088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"AI가 만든 것인가"를 확인해 줍니다.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D793DA-28F8-4F39-9F20-4EAF6695332F}"/>
              </a:ext>
            </a:extLst>
          </p:cNvPr>
          <p:cNvSpPr>
            <a:spLocks noGrp="1"/>
          </p:cNvSpPr>
          <p:nvPr/>
        </p:nvSpPr>
        <p:spPr>
          <a:xfrm>
            <a:off x="723900" y="4469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C2E513-994C-4C54-A6C9-ADA9F4687847}"/>
              </a:ext>
            </a:extLst>
          </p:cNvPr>
          <p:cNvSpPr>
            <a:spLocks noGrp="1"/>
          </p:cNvSpPr>
          <p:nvPr/>
        </p:nvSpPr>
        <p:spPr>
          <a:xfrm>
            <a:off x="723900" y="4850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 앱은 우측 하단에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633D49-ECE7-4CB6-806C-0276AD001B3E}"/>
              </a:ext>
            </a:extLst>
          </p:cNvPr>
          <p:cNvSpPr>
            <a:spLocks noGrp="1"/>
          </p:cNvSpPr>
          <p:nvPr/>
        </p:nvSpPr>
        <p:spPr>
          <a:xfrm>
            <a:off x="723900" y="5231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보이는 워터마크까지 붙입니다.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441EA11-D62C-40D2-9BB9-BC9AFF1993B3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C0B4392-2A5E-48CE-BA16-D4AF58440DA4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3A3A60-17C9-411C-A64D-A465435726B7}"/>
              </a:ext>
            </a:extLst>
          </p:cNvPr>
          <p:cNvSpPr>
            <a:spLocks noGrp="1"/>
          </p:cNvSpPr>
          <p:nvPr/>
        </p:nvSpPr>
        <p:spPr>
          <a:xfrm>
            <a:off x="64008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SynthID가 하지 않는 일 ⚠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C9B1876-E154-4A7D-ABCF-43A6B717EA33}"/>
              </a:ext>
            </a:extLst>
          </p:cNvPr>
          <p:cNvSpPr>
            <a:spLocks noGrp="1"/>
          </p:cNvSpPr>
          <p:nvPr/>
        </p:nvSpPr>
        <p:spPr>
          <a:xfrm>
            <a:off x="6400800" y="2781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★ "누가, 언제, 어느 계정으로 만들었는지"는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3984B17-E324-4D0E-8DC5-837AC9D83E92}"/>
              </a:ext>
            </a:extLst>
          </p:cNvPr>
          <p:cNvSpPr>
            <a:spLocks noGrp="1"/>
          </p:cNvSpPr>
          <p:nvPr/>
        </p:nvSpPr>
        <p:spPr>
          <a:xfrm>
            <a:off x="6400800" y="3162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담겨 있지 않습니다.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5EA9337-4963-4E44-8DCB-C4DEF4F96E70}"/>
              </a:ext>
            </a:extLst>
          </p:cNvPr>
          <p:cNvSpPr>
            <a:spLocks noGrp="1"/>
          </p:cNvSpPr>
          <p:nvPr/>
        </p:nvSpPr>
        <p:spPr>
          <a:xfrm>
            <a:off x="6400800" y="3543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51F565-D303-4044-9917-5ED0AEF8DB51}"/>
              </a:ext>
            </a:extLst>
          </p:cNvPr>
          <p:cNvSpPr>
            <a:spLocks noGrp="1"/>
          </p:cNvSpPr>
          <p:nvPr/>
        </p:nvSpPr>
        <p:spPr>
          <a:xfrm>
            <a:off x="6400800" y="3707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소유권 증명 수단이 아닙니다.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C4EACDD-DCFD-4D4E-B8BC-7C1ED78CF9BD}"/>
              </a:ext>
            </a:extLst>
          </p:cNvPr>
          <p:cNvSpPr>
            <a:spLocks noGrp="1"/>
          </p:cNvSpPr>
          <p:nvPr/>
        </p:nvSpPr>
        <p:spPr>
          <a:xfrm>
            <a:off x="6400800" y="4088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"내가 만들었다"를 증명해 주지 않습니다.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BE4BAC-A22F-4166-A064-5C31C0B7C4AA}"/>
              </a:ext>
            </a:extLst>
          </p:cNvPr>
          <p:cNvSpPr>
            <a:spLocks noGrp="1"/>
          </p:cNvSpPr>
          <p:nvPr/>
        </p:nvSpPr>
        <p:spPr>
          <a:xfrm>
            <a:off x="6400800" y="4469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76FE38-58D5-4C17-8D73-63FCE8423E20}"/>
              </a:ext>
            </a:extLst>
          </p:cNvPr>
          <p:cNvSpPr>
            <a:spLocks noGrp="1"/>
          </p:cNvSpPr>
          <p:nvPr/>
        </p:nvSpPr>
        <p:spPr>
          <a:xfrm>
            <a:off x="6400800" y="4850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그래서 프롬프트 기록이 필요합니다.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AED4CF9-1316-488C-9181-374210F6571B}"/>
              </a:ext>
            </a:extLst>
          </p:cNvPr>
          <p:cNvSpPr>
            <a:spLocks noGrp="1"/>
          </p:cNvSpPr>
          <p:nvPr/>
        </p:nvSpPr>
        <p:spPr>
          <a:xfrm>
            <a:off x="6400800" y="5231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"내가 한 일"을 입증하는 건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7CE197-575D-40CE-8BBA-004767817047}"/>
              </a:ext>
            </a:extLst>
          </p:cNvPr>
          <p:cNvSpPr>
            <a:spLocks noGrp="1"/>
          </p:cNvSpPr>
          <p:nvPr/>
        </p:nvSpPr>
        <p:spPr>
          <a:xfrm>
            <a:off x="6400800" y="5829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워터마크가 아니라 과정 기록입니다.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E9D85B1-2FBF-4B45-AD25-B384188ADA22}"/>
              </a:ext>
            </a:extLst>
          </p:cNvPr>
          <p:cNvSpPr>
            <a:spLocks noGrp="1"/>
          </p:cNvSpPr>
          <p:nvPr/>
        </p:nvSpPr>
        <p:spPr>
          <a:xfrm>
            <a:off x="495300" y="5867400"/>
            <a:ext cx="11201400" cy="438150"/>
          </a:xfrm>
          <a:prstGeom prst="roundRect">
            <a:avLst>
              <a:gd name="adj" fmla="val 21739"/>
            </a:avLst>
          </a:prstGeom>
          <a:solidFill>
            <a:srgbClr val="E8E0D2"/>
          </a:solidFill>
          <a:ln w="0">
            <a:noFill/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21B6FA-7F45-4817-B2EF-E775DFB7262C}"/>
              </a:ext>
            </a:extLst>
          </p:cNvPr>
          <p:cNvSpPr>
            <a:spLocks noGrp="1"/>
          </p:cNvSpPr>
          <p:nvPr/>
        </p:nvSpPr>
        <p:spPr>
          <a:xfrm>
            <a:off x="723900" y="5991225"/>
            <a:ext cx="1076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SynthID는 'AI가 만들었는가'만 답합니다. '내가 만들었다'는 프롬프트 기록으로 증명합니다.</a:t>
            </a:r>
          </a:p>
        </p:txBody>
      </p:sp>
    </p:spTree>
    <p:extLst>
      <p:ext uri="{BB962C8B-B14F-4D97-AF65-F5344CB8AC3E}">
        <p14:creationId xmlns:p14="http://schemas.microsoft.com/office/powerpoint/2010/main" val="1611214945"/>
      </p:ext>
    </p:extLst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DE44A40-107E-4B14-9C24-59B77A79F3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9BBAB6C-E162-4EFF-A602-E7F3A6373633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438070-D06A-4047-9BE6-266CF33B14E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64C6FB-B95C-4E75-BDE2-53243EE30B50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BF53AD-2AB8-435D-9037-0D4678208D0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배포용 양식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695F89-1834-43C3-938B-8B5652D016F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 기록 양식 — 만든 것마다 남깁니다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6EC9156-419A-4998-BB86-13841C546601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1E2347-4A2B-4195-BDB6-E7760F719E6F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236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AI 활용 기록 ━━━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작품명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제작자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제작일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[1] 사용한 도구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이미지 :                     (예: Gemini 나노바나나 2)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영상   :                     (예: Google Flow · Veo 3.1 Lite)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음악  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편집  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[2] 내가 정한 것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기획·구성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스타일 방향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수정 요청 내용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[3] 사용한 프롬프트 (주요 컷)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1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2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[4] AI 결과물을 어떻게 고쳤나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(자른 부분 / 다시 만든 부분 / 얹은 자막·소리)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[5] 확인한 것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☐ 화면 속 글자 오탈자   ☐ 사실 관계   ☐ 워터마크·라이선스</a:t>
            </a:r>
          </a:p>
        </p:txBody>
      </p:sp>
    </p:spTree>
    <p:extLst>
      <p:ext uri="{BB962C8B-B14F-4D97-AF65-F5344CB8AC3E}">
        <p14:creationId xmlns:p14="http://schemas.microsoft.com/office/powerpoint/2010/main" val="110416653"/>
      </p:ext>
    </p:extLst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B4DFE9-9111-41E5-BB48-BD29570438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80D7BA0-D178-47E1-9FD1-96623307EB82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3E58C-31E5-4577-8F7C-DE8C2C6E497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0EE744-C856-4603-AB3C-C82E9AD3204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76734E5-1050-4945-AAFD-585070A409E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1201400" cy="590550"/>
          </a:xfrm>
          <a:prstGeom prst="roundRect">
            <a:avLst>
              <a:gd name="adj" fmla="val 19355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52C970-33D7-4FFC-8A5D-4F0AA085CE8A}"/>
              </a:ext>
            </a:extLst>
          </p:cNvPr>
          <p:cNvSpPr>
            <a:spLocks noGrp="1"/>
          </p:cNvSpPr>
          <p:nvPr/>
        </p:nvSpPr>
        <p:spPr>
          <a:xfrm>
            <a:off x="723900" y="6286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8-B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6ACB849-5313-4F9E-B6D9-35235DBED4A4}"/>
              </a:ext>
            </a:extLst>
          </p:cNvPr>
          <p:cNvSpPr>
            <a:spLocks noGrp="1"/>
          </p:cNvSpPr>
          <p:nvPr/>
        </p:nvSpPr>
        <p:spPr>
          <a:xfrm>
            <a:off x="10096500" y="6477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25043BE-3D91-4024-949F-C5082970DD02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가상 캐릭터로 만드는 짧은 홍보 스토리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C38186-F124-49C7-AD2C-2A6A6C573B96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1201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내가 만든 캐릭터가 컷이 바뀌어도 같은 얼굴로 나오는 것까지 확인하기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5D40E60-65B6-46A7-90E0-F6524190B66F}"/>
              </a:ext>
            </a:extLst>
          </p:cNvPr>
          <p:cNvSpPr>
            <a:spLocks noGrp="1"/>
          </p:cNvSpPr>
          <p:nvPr/>
        </p:nvSpPr>
        <p:spPr>
          <a:xfrm>
            <a:off x="495300" y="2286000"/>
            <a:ext cx="7239000" cy="3143250"/>
          </a:xfrm>
          <a:prstGeom prst="roundRect">
            <a:avLst>
              <a:gd name="adj" fmla="val 3636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04B178-F6FB-47EC-AF50-C89E375FD02B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5BAAFC-7B02-4C6A-A756-4BF46A84DD38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로그라인 한 문장을 쓰고, 컷 3개의 자막을 한 줄씩 정합니다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F510C9A-CA6A-4786-8240-13DC0D216555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스타일 블록을 붙여 캐릭터 기준 이미지를 만듭니다 (후보 6개 → 1개 확정)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0BC506A-E5DB-4F42-8AAD-75306C14B8C5}"/>
              </a:ext>
            </a:extLst>
          </p:cNvPr>
          <p:cNvSpPr>
            <a:spLocks noGrp="1"/>
          </p:cNvSpPr>
          <p:nvPr/>
        </p:nvSpPr>
        <p:spPr>
          <a:xfrm>
            <a:off x="742950" y="36576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확정한 캐릭터를 첨부해 컷 ①의 키프레임 이미지를 만듭니다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9FDA77E-8726-4F5F-B1DC-6B26FAAA24D3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Flow · Frames to Video 에 컷 ①을 넣고 8초로 생성합니다 (움직임만!)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6C2377-1AAB-4685-9A55-E0707809B03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앞 0.3초 · 뒤 0.5초를 잘라 내고 자막 한 줄을 얹습니다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9C0718-A049-419E-A4FF-5B167A579A7F}"/>
              </a:ext>
            </a:extLst>
          </p:cNvPr>
          <p:cNvSpPr>
            <a:spLocks noGrp="1"/>
          </p:cNvSpPr>
          <p:nvPr/>
        </p:nvSpPr>
        <p:spPr>
          <a:xfrm>
            <a:off x="742950" y="49149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시간이 남으면 컷 ②·③을 같은 방법으로 반복합니다 (원리는 똑같습니다)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85C600-D214-4C91-AD72-D1876FBD50AE}"/>
              </a:ext>
            </a:extLst>
          </p:cNvPr>
          <p:cNvSpPr>
            <a:spLocks noGrp="1"/>
          </p:cNvSpPr>
          <p:nvPr/>
        </p:nvSpPr>
        <p:spPr>
          <a:xfrm>
            <a:off x="8001000" y="2286000"/>
            <a:ext cx="3695700" cy="3143250"/>
          </a:xfrm>
          <a:prstGeom prst="roundRect">
            <a:avLst>
              <a:gd name="adj" fmla="val 3636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23977E8-4360-4C54-87A6-D3FD45BC66F9}"/>
              </a:ext>
            </a:extLst>
          </p:cNvPr>
          <p:cNvSpPr>
            <a:spLocks noGrp="1"/>
          </p:cNvSpPr>
          <p:nvPr/>
        </p:nvSpPr>
        <p:spPr>
          <a:xfrm>
            <a:off x="8248650" y="2476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0E7898D-40F3-4781-94E9-81FF6BE38308}"/>
              </a:ext>
            </a:extLst>
          </p:cNvPr>
          <p:cNvSpPr>
            <a:spLocks noGrp="1"/>
          </p:cNvSpPr>
          <p:nvPr/>
        </p:nvSpPr>
        <p:spPr>
          <a:xfrm>
            <a:off x="8248650" y="2819400"/>
            <a:ext cx="32004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가상 캐릭터 1명 + 스토리 영상 컷 1개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725CEA7-D1C9-408B-9393-A4E8D2803574}"/>
              </a:ext>
            </a:extLst>
          </p:cNvPr>
          <p:cNvSpPr>
            <a:spLocks noGrp="1"/>
          </p:cNvSpPr>
          <p:nvPr/>
        </p:nvSpPr>
        <p:spPr>
          <a:xfrm>
            <a:off x="8248650" y="4476750"/>
            <a:ext cx="3200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캐릭터 기준 이미지와 컷 ① 영상을 게시판에 '실습 8-B'로 올립니다. 10MB가 넘으면 패들렛에 올립니다.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CD5A864-8C82-47C8-9A9D-96924F865279}"/>
              </a:ext>
            </a:extLst>
          </p:cNvPr>
          <p:cNvSpPr>
            <a:spLocks noGrp="1"/>
          </p:cNvSpPr>
          <p:nvPr/>
        </p:nvSpPr>
        <p:spPr>
          <a:xfrm>
            <a:off x="495300" y="56769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591513711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D752724-3AE8-4428-9F49-CF9F6FD998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C08158-1CE5-4D1A-9C59-08ECBFAFC31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CLOSING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000B1D-6101-4669-8CFA-21AE7804C53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15E905-7119-40AE-ADA9-A584C80D654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824DD0-3F2E-4549-A75B-86F91EF30FF8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9906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defRPr>
            </a:pPr>
            <a:r>
              <a: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rPr>
              <a:t>한 장은 누구나 만듭니다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10064D-E5D8-4646-BE74-BFAD889DE828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10382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여덟 장을 같은 화풍으로 만드는 것이</a:t>
            </a:r>
          </a:p>
          <a:p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실력입니다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CAFC8B-8E7C-447B-958C-B7D0C8A2CA9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1028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그리고 그 실력은 재능이 아니라 규칙에서 나옵니다 — 고정 블록, 기준 이미지, 3회 룰.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50447A4-F204-4565-B700-410E7547F993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9715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완벽한 결과물을 만들려 하지 마십시오. 쓸 수 있는 결과물을 완주하는 것이 먼저입니다.</a:t>
            </a:r>
          </a:p>
          <a:p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연속성 오류보다 지루한 이야기가 훨씬 큰 문제입니다.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42D512-AEA1-436E-8C90-A0B0A1715848}"/>
              </a:ext>
            </a:extLst>
          </p:cNvPr>
          <p:cNvSpPr>
            <a:spLocks noGrp="1"/>
          </p:cNvSpPr>
          <p:nvPr/>
        </p:nvSpPr>
        <p:spPr>
          <a:xfrm>
            <a:off x="704850" y="5753100"/>
            <a:ext cx="1047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rPr>
              <a:t>실습 자료 · 결과물  ·  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90802607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5864</Words>
  <Application>Microsoft Office PowerPoint</Application>
  <DocSecurity>0</DocSecurity>
  <PresentationFormat>와이드스크린</PresentationFormat>
  <Paragraphs>626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Noto Sans KR</vt:lpstr>
      <vt:lpstr>Noto Serif KR</vt:lpstr>
      <vt:lpstr>Calibri</vt:lpstr>
      <vt:lpstr>Consolas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김상백</cp:lastModifiedBy>
  <cp:revision>1</cp:revision>
  <dcterms:created xsi:type="dcterms:W3CDTF">2026-08-10T08:25:30Z</dcterms:created>
  <dcterms:modified xsi:type="dcterms:W3CDTF">2026-08-10T14:40:03Z</dcterms:modified>
</cp:coreProperties>
</file>